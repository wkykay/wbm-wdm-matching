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</p:sldIdLst>
  <p:sldSz cx="12192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Shape 1000"/>
          <p:cNvSpPr/>
          <p:nvPr/>
        </p:nvSpPr>
        <p:spPr>
          <a:xfrm>
            <a:off x="0" y="-27305"/>
            <a:ext cx="12192000" cy="6858000"/>
          </a:xfrm>
          <a:prstGeom prst="rect">
            <a:avLst/>
          </a:prstGeom>
          <a:solidFill>
            <a:srgbClr val="F8FAFC"/>
          </a:solidFill>
          <a:ln w="14000">
            <a:solidFill>
              <a:srgbClr val="F8FAFC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01" name="Text 1001"/>
          <p:cNvSpPr txBox="1"/>
          <p:nvPr/>
        </p:nvSpPr>
        <p:spPr>
          <a:xfrm>
            <a:off x="620000" y="300000"/>
            <a:ext cx="87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000" b="1">
                <a:solidFill>
                  <a:schemeClr val="tx1"/>
                </a:solidFill>
                <a:sym typeface="+mn-ea"/>
              </a:rPr>
              <a:t>WBM-WDM 组合匹配方案</a:t>
            </a:r>
            <a:endParaRPr lang="zh-CN" sz="3000" b="1">
              <a:solidFill>
                <a:schemeClr val="tx1"/>
              </a:solidFill>
            </a:endParaRPr>
          </a:p>
          <a:p>
            <a:pPr algn="l"/>
            <a:endParaRPr lang="zh-CN" sz="3000" b="1">
              <a:solidFill>
                <a:schemeClr val="tx1"/>
              </a:solidFill>
            </a:endParaRPr>
          </a:p>
        </p:txBody>
      </p:sp>
      <p:sp>
        <p:nvSpPr>
          <p:cNvPr id="1002" name="Text 1002"/>
          <p:cNvSpPr txBox="1"/>
          <p:nvPr/>
        </p:nvSpPr>
        <p:spPr>
          <a:xfrm>
            <a:off x="640000" y="981290"/>
            <a:ext cx="93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450">
                <a:solidFill>
                  <a:srgbClr val="64748B"/>
                </a:solidFill>
              </a:rPr>
              <a:t>单张 WDM 可能仅反映局部缺陷来源，多张 WDM 的组合更符合复杂失效分布的形成机制。</a:t>
            </a:r>
            <a:endParaRPr lang="zh-CN" sz="1450">
              <a:solidFill>
                <a:srgbClr val="64748B"/>
              </a:solidFill>
            </a:endParaRPr>
          </a:p>
        </p:txBody>
      </p:sp>
      <p:sp>
        <p:nvSpPr>
          <p:cNvPr id="10" name="Shape 10"/>
          <p:cNvSpPr/>
          <p:nvPr/>
        </p:nvSpPr>
        <p:spPr>
          <a:xfrm>
            <a:off x="850000" y="1800000"/>
            <a:ext cx="1350000" cy="1350000"/>
          </a:xfrm>
          <a:prstGeom prst="ellipse">
            <a:avLst/>
          </a:prstGeom>
          <a:solidFill>
            <a:srgbClr val="F8FAFC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" name="Shape 11"/>
          <p:cNvSpPr/>
          <p:nvPr/>
        </p:nvSpPr>
        <p:spPr>
          <a:xfrm>
            <a:off x="1322500" y="200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" name="Shape 12"/>
          <p:cNvSpPr/>
          <p:nvPr/>
        </p:nvSpPr>
        <p:spPr>
          <a:xfrm>
            <a:off x="1457500" y="200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3" name="Shape 13"/>
          <p:cNvSpPr/>
          <p:nvPr/>
        </p:nvSpPr>
        <p:spPr>
          <a:xfrm>
            <a:off x="1592500" y="200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" name="Shape 14"/>
          <p:cNvSpPr/>
          <p:nvPr/>
        </p:nvSpPr>
        <p:spPr>
          <a:xfrm>
            <a:off x="1187500" y="213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" name="Shape 15"/>
          <p:cNvSpPr/>
          <p:nvPr/>
        </p:nvSpPr>
        <p:spPr>
          <a:xfrm>
            <a:off x="1322500" y="2137500"/>
            <a:ext cx="126000" cy="126000"/>
          </a:xfrm>
          <a:prstGeom prst="rect">
            <a:avLst/>
          </a:prstGeom>
          <a:solidFill>
            <a:srgbClr val="22C55E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6" name="Shape 16"/>
          <p:cNvSpPr/>
          <p:nvPr/>
        </p:nvSpPr>
        <p:spPr>
          <a:xfrm>
            <a:off x="1457500" y="213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7" name="Shape 17"/>
          <p:cNvSpPr/>
          <p:nvPr/>
        </p:nvSpPr>
        <p:spPr>
          <a:xfrm>
            <a:off x="1592500" y="213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8" name="Shape 18"/>
          <p:cNvSpPr/>
          <p:nvPr/>
        </p:nvSpPr>
        <p:spPr>
          <a:xfrm>
            <a:off x="1727500" y="213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9" name="Shape 19"/>
          <p:cNvSpPr/>
          <p:nvPr/>
        </p:nvSpPr>
        <p:spPr>
          <a:xfrm>
            <a:off x="1052500" y="227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0" name="Shape 20"/>
          <p:cNvSpPr/>
          <p:nvPr/>
        </p:nvSpPr>
        <p:spPr>
          <a:xfrm>
            <a:off x="1187500" y="227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1" name="Shape 21"/>
          <p:cNvSpPr/>
          <p:nvPr/>
        </p:nvSpPr>
        <p:spPr>
          <a:xfrm>
            <a:off x="1322500" y="2272500"/>
            <a:ext cx="126000" cy="126000"/>
          </a:xfrm>
          <a:prstGeom prst="rect">
            <a:avLst/>
          </a:prstGeom>
          <a:solidFill>
            <a:srgbClr val="22C55E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2" name="Shape 22"/>
          <p:cNvSpPr/>
          <p:nvPr/>
        </p:nvSpPr>
        <p:spPr>
          <a:xfrm>
            <a:off x="1457500" y="227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3" name="Shape 23"/>
          <p:cNvSpPr/>
          <p:nvPr/>
        </p:nvSpPr>
        <p:spPr>
          <a:xfrm>
            <a:off x="1592500" y="227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4" name="Shape 24"/>
          <p:cNvSpPr/>
          <p:nvPr/>
        </p:nvSpPr>
        <p:spPr>
          <a:xfrm>
            <a:off x="1727500" y="227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5" name="Shape 25"/>
          <p:cNvSpPr/>
          <p:nvPr/>
        </p:nvSpPr>
        <p:spPr>
          <a:xfrm>
            <a:off x="1862500" y="227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6" name="Shape 26"/>
          <p:cNvSpPr/>
          <p:nvPr/>
        </p:nvSpPr>
        <p:spPr>
          <a:xfrm>
            <a:off x="1052500" y="240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7" name="Shape 27"/>
          <p:cNvSpPr/>
          <p:nvPr/>
        </p:nvSpPr>
        <p:spPr>
          <a:xfrm>
            <a:off x="1187500" y="240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8" name="Shape 28"/>
          <p:cNvSpPr/>
          <p:nvPr/>
        </p:nvSpPr>
        <p:spPr>
          <a:xfrm>
            <a:off x="1322500" y="240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9" name="Shape 29"/>
          <p:cNvSpPr/>
          <p:nvPr/>
        </p:nvSpPr>
        <p:spPr>
          <a:xfrm>
            <a:off x="1457500" y="240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0" name="Shape 30"/>
          <p:cNvSpPr/>
          <p:nvPr/>
        </p:nvSpPr>
        <p:spPr>
          <a:xfrm>
            <a:off x="1592500" y="240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1" name="Shape 31"/>
          <p:cNvSpPr/>
          <p:nvPr/>
        </p:nvSpPr>
        <p:spPr>
          <a:xfrm>
            <a:off x="1727500" y="240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2" name="Shape 32"/>
          <p:cNvSpPr/>
          <p:nvPr/>
        </p:nvSpPr>
        <p:spPr>
          <a:xfrm>
            <a:off x="1862500" y="240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3" name="Shape 33"/>
          <p:cNvSpPr/>
          <p:nvPr/>
        </p:nvSpPr>
        <p:spPr>
          <a:xfrm>
            <a:off x="1052500" y="254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4" name="Shape 34"/>
          <p:cNvSpPr/>
          <p:nvPr/>
        </p:nvSpPr>
        <p:spPr>
          <a:xfrm>
            <a:off x="1187500" y="254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5" name="Shape 35"/>
          <p:cNvSpPr/>
          <p:nvPr/>
        </p:nvSpPr>
        <p:spPr>
          <a:xfrm>
            <a:off x="1322500" y="254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6" name="Shape 36"/>
          <p:cNvSpPr/>
          <p:nvPr/>
        </p:nvSpPr>
        <p:spPr>
          <a:xfrm>
            <a:off x="1457500" y="254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7" name="Shape 37"/>
          <p:cNvSpPr/>
          <p:nvPr/>
        </p:nvSpPr>
        <p:spPr>
          <a:xfrm>
            <a:off x="1592500" y="254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8" name="Shape 38"/>
          <p:cNvSpPr/>
          <p:nvPr/>
        </p:nvSpPr>
        <p:spPr>
          <a:xfrm>
            <a:off x="1727500" y="254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9" name="Shape 39"/>
          <p:cNvSpPr/>
          <p:nvPr/>
        </p:nvSpPr>
        <p:spPr>
          <a:xfrm>
            <a:off x="1862500" y="254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0" name="Shape 40"/>
          <p:cNvSpPr/>
          <p:nvPr/>
        </p:nvSpPr>
        <p:spPr>
          <a:xfrm>
            <a:off x="1187500" y="267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1" name="Shape 41"/>
          <p:cNvSpPr/>
          <p:nvPr/>
        </p:nvSpPr>
        <p:spPr>
          <a:xfrm>
            <a:off x="1322500" y="267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2" name="Shape 42"/>
          <p:cNvSpPr/>
          <p:nvPr/>
        </p:nvSpPr>
        <p:spPr>
          <a:xfrm>
            <a:off x="1457500" y="267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3" name="Shape 43"/>
          <p:cNvSpPr/>
          <p:nvPr/>
        </p:nvSpPr>
        <p:spPr>
          <a:xfrm>
            <a:off x="1592500" y="267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4" name="Shape 44"/>
          <p:cNvSpPr/>
          <p:nvPr/>
        </p:nvSpPr>
        <p:spPr>
          <a:xfrm>
            <a:off x="1727500" y="267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5" name="Shape 45"/>
          <p:cNvSpPr/>
          <p:nvPr/>
        </p:nvSpPr>
        <p:spPr>
          <a:xfrm>
            <a:off x="1322500" y="281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6" name="Shape 46"/>
          <p:cNvSpPr/>
          <p:nvPr/>
        </p:nvSpPr>
        <p:spPr>
          <a:xfrm>
            <a:off x="1457500" y="281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7" name="Shape 47"/>
          <p:cNvSpPr/>
          <p:nvPr/>
        </p:nvSpPr>
        <p:spPr>
          <a:xfrm>
            <a:off x="1592500" y="281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8" name="Text 48"/>
          <p:cNvSpPr txBox="1"/>
          <p:nvPr/>
        </p:nvSpPr>
        <p:spPr>
          <a:xfrm>
            <a:off x="850000" y="3230000"/>
            <a:ext cx="135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350" b="1">
                <a:solidFill>
                  <a:srgbClr val="64748B"/>
                </a:solidFill>
              </a:rPr>
              <a:t>WDM A 散点</a:t>
            </a:r>
            <a:endParaRPr lang="zh-CN" sz="1350" b="1">
              <a:solidFill>
                <a:srgbClr val="64748B"/>
              </a:solidFill>
            </a:endParaRPr>
          </a:p>
        </p:txBody>
      </p:sp>
      <p:sp>
        <p:nvSpPr>
          <p:cNvPr id="49" name="Shape 49"/>
          <p:cNvSpPr/>
          <p:nvPr/>
        </p:nvSpPr>
        <p:spPr>
          <a:xfrm>
            <a:off x="2850000" y="1800000"/>
            <a:ext cx="1350000" cy="1350000"/>
          </a:xfrm>
          <a:prstGeom prst="ellipse">
            <a:avLst/>
          </a:prstGeom>
          <a:solidFill>
            <a:srgbClr val="F8FAFC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0" name="Shape 50"/>
          <p:cNvSpPr/>
          <p:nvPr/>
        </p:nvSpPr>
        <p:spPr>
          <a:xfrm>
            <a:off x="3322500" y="200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1" name="Shape 51"/>
          <p:cNvSpPr/>
          <p:nvPr/>
        </p:nvSpPr>
        <p:spPr>
          <a:xfrm>
            <a:off x="3457500" y="200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2" name="Shape 52"/>
          <p:cNvSpPr/>
          <p:nvPr/>
        </p:nvSpPr>
        <p:spPr>
          <a:xfrm>
            <a:off x="3592500" y="200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3" name="Shape 53"/>
          <p:cNvSpPr/>
          <p:nvPr/>
        </p:nvSpPr>
        <p:spPr>
          <a:xfrm>
            <a:off x="3187500" y="213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4" name="Shape 54"/>
          <p:cNvSpPr/>
          <p:nvPr/>
        </p:nvSpPr>
        <p:spPr>
          <a:xfrm>
            <a:off x="3322500" y="213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5" name="Shape 55"/>
          <p:cNvSpPr/>
          <p:nvPr/>
        </p:nvSpPr>
        <p:spPr>
          <a:xfrm>
            <a:off x="3457500" y="213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6" name="Shape 56"/>
          <p:cNvSpPr/>
          <p:nvPr/>
        </p:nvSpPr>
        <p:spPr>
          <a:xfrm>
            <a:off x="3592500" y="213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7" name="Shape 57"/>
          <p:cNvSpPr/>
          <p:nvPr/>
        </p:nvSpPr>
        <p:spPr>
          <a:xfrm>
            <a:off x="3727500" y="213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8" name="Shape 58"/>
          <p:cNvSpPr/>
          <p:nvPr/>
        </p:nvSpPr>
        <p:spPr>
          <a:xfrm>
            <a:off x="3052500" y="227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9" name="Shape 59"/>
          <p:cNvSpPr/>
          <p:nvPr/>
        </p:nvSpPr>
        <p:spPr>
          <a:xfrm>
            <a:off x="3187500" y="227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0" name="Shape 60"/>
          <p:cNvSpPr/>
          <p:nvPr/>
        </p:nvSpPr>
        <p:spPr>
          <a:xfrm>
            <a:off x="3322500" y="227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1" name="Shape 61"/>
          <p:cNvSpPr/>
          <p:nvPr/>
        </p:nvSpPr>
        <p:spPr>
          <a:xfrm>
            <a:off x="3457500" y="2272500"/>
            <a:ext cx="126000" cy="126000"/>
          </a:xfrm>
          <a:prstGeom prst="rect">
            <a:avLst/>
          </a:prstGeom>
          <a:solidFill>
            <a:srgbClr val="3B82F6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2" name="Shape 62"/>
          <p:cNvSpPr/>
          <p:nvPr/>
        </p:nvSpPr>
        <p:spPr>
          <a:xfrm>
            <a:off x="3592500" y="227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3" name="Shape 63"/>
          <p:cNvSpPr/>
          <p:nvPr/>
        </p:nvSpPr>
        <p:spPr>
          <a:xfrm>
            <a:off x="3727500" y="227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4" name="Shape 64"/>
          <p:cNvSpPr/>
          <p:nvPr/>
        </p:nvSpPr>
        <p:spPr>
          <a:xfrm>
            <a:off x="3862500" y="227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5" name="Shape 65"/>
          <p:cNvSpPr/>
          <p:nvPr/>
        </p:nvSpPr>
        <p:spPr>
          <a:xfrm>
            <a:off x="3052500" y="240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6" name="Shape 66"/>
          <p:cNvSpPr/>
          <p:nvPr/>
        </p:nvSpPr>
        <p:spPr>
          <a:xfrm>
            <a:off x="3187500" y="240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7" name="Shape 67"/>
          <p:cNvSpPr/>
          <p:nvPr/>
        </p:nvSpPr>
        <p:spPr>
          <a:xfrm>
            <a:off x="3322500" y="240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8" name="Shape 68"/>
          <p:cNvSpPr/>
          <p:nvPr/>
        </p:nvSpPr>
        <p:spPr>
          <a:xfrm>
            <a:off x="3457500" y="240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9" name="Shape 69"/>
          <p:cNvSpPr/>
          <p:nvPr/>
        </p:nvSpPr>
        <p:spPr>
          <a:xfrm>
            <a:off x="3592500" y="2407500"/>
            <a:ext cx="126000" cy="126000"/>
          </a:xfrm>
          <a:prstGeom prst="rect">
            <a:avLst/>
          </a:prstGeom>
          <a:solidFill>
            <a:srgbClr val="3B82F6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0" name="Shape 70"/>
          <p:cNvSpPr/>
          <p:nvPr/>
        </p:nvSpPr>
        <p:spPr>
          <a:xfrm>
            <a:off x="3727500" y="240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1" name="Shape 71"/>
          <p:cNvSpPr/>
          <p:nvPr/>
        </p:nvSpPr>
        <p:spPr>
          <a:xfrm>
            <a:off x="3862500" y="240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2" name="Shape 72"/>
          <p:cNvSpPr/>
          <p:nvPr/>
        </p:nvSpPr>
        <p:spPr>
          <a:xfrm>
            <a:off x="3052500" y="254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3" name="Shape 73"/>
          <p:cNvSpPr/>
          <p:nvPr/>
        </p:nvSpPr>
        <p:spPr>
          <a:xfrm>
            <a:off x="3187500" y="254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4" name="Shape 74"/>
          <p:cNvSpPr/>
          <p:nvPr/>
        </p:nvSpPr>
        <p:spPr>
          <a:xfrm>
            <a:off x="3322500" y="254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5" name="Shape 75"/>
          <p:cNvSpPr/>
          <p:nvPr/>
        </p:nvSpPr>
        <p:spPr>
          <a:xfrm>
            <a:off x="3457500" y="254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6" name="Shape 76"/>
          <p:cNvSpPr/>
          <p:nvPr/>
        </p:nvSpPr>
        <p:spPr>
          <a:xfrm>
            <a:off x="3592500" y="254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7" name="Shape 77"/>
          <p:cNvSpPr/>
          <p:nvPr/>
        </p:nvSpPr>
        <p:spPr>
          <a:xfrm>
            <a:off x="3727500" y="254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8" name="Shape 78"/>
          <p:cNvSpPr/>
          <p:nvPr/>
        </p:nvSpPr>
        <p:spPr>
          <a:xfrm>
            <a:off x="3862500" y="254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9" name="Shape 79"/>
          <p:cNvSpPr/>
          <p:nvPr/>
        </p:nvSpPr>
        <p:spPr>
          <a:xfrm>
            <a:off x="3187500" y="267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0" name="Shape 80"/>
          <p:cNvSpPr/>
          <p:nvPr/>
        </p:nvSpPr>
        <p:spPr>
          <a:xfrm>
            <a:off x="3322500" y="267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1" name="Shape 81"/>
          <p:cNvSpPr/>
          <p:nvPr/>
        </p:nvSpPr>
        <p:spPr>
          <a:xfrm>
            <a:off x="3457500" y="267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2" name="Shape 82"/>
          <p:cNvSpPr/>
          <p:nvPr/>
        </p:nvSpPr>
        <p:spPr>
          <a:xfrm>
            <a:off x="3592500" y="267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3" name="Shape 83"/>
          <p:cNvSpPr/>
          <p:nvPr/>
        </p:nvSpPr>
        <p:spPr>
          <a:xfrm>
            <a:off x="3727500" y="267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4" name="Shape 84"/>
          <p:cNvSpPr/>
          <p:nvPr/>
        </p:nvSpPr>
        <p:spPr>
          <a:xfrm>
            <a:off x="3322500" y="281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5" name="Shape 85"/>
          <p:cNvSpPr/>
          <p:nvPr/>
        </p:nvSpPr>
        <p:spPr>
          <a:xfrm>
            <a:off x="3457500" y="281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6" name="Shape 86"/>
          <p:cNvSpPr/>
          <p:nvPr/>
        </p:nvSpPr>
        <p:spPr>
          <a:xfrm>
            <a:off x="3592500" y="281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7" name="Text 87"/>
          <p:cNvSpPr txBox="1"/>
          <p:nvPr/>
        </p:nvSpPr>
        <p:spPr>
          <a:xfrm>
            <a:off x="2850000" y="3230000"/>
            <a:ext cx="135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350" b="1">
                <a:solidFill>
                  <a:srgbClr val="64748B"/>
                </a:solidFill>
              </a:rPr>
              <a:t>WDM B 散点</a:t>
            </a:r>
            <a:endParaRPr lang="zh-CN" sz="1350" b="1">
              <a:solidFill>
                <a:srgbClr val="64748B"/>
              </a:solidFill>
            </a:endParaRPr>
          </a:p>
        </p:txBody>
      </p:sp>
      <p:sp>
        <p:nvSpPr>
          <p:cNvPr id="88" name="Shape 88"/>
          <p:cNvSpPr/>
          <p:nvPr/>
        </p:nvSpPr>
        <p:spPr>
          <a:xfrm>
            <a:off x="4850000" y="1800000"/>
            <a:ext cx="1350000" cy="1350000"/>
          </a:xfrm>
          <a:prstGeom prst="ellipse">
            <a:avLst/>
          </a:prstGeom>
          <a:solidFill>
            <a:srgbClr val="F8FAFC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9" name="Shape 89"/>
          <p:cNvSpPr/>
          <p:nvPr/>
        </p:nvSpPr>
        <p:spPr>
          <a:xfrm>
            <a:off x="5322500" y="200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90" name="Shape 90"/>
          <p:cNvSpPr/>
          <p:nvPr/>
        </p:nvSpPr>
        <p:spPr>
          <a:xfrm>
            <a:off x="5457500" y="200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91" name="Shape 91"/>
          <p:cNvSpPr/>
          <p:nvPr/>
        </p:nvSpPr>
        <p:spPr>
          <a:xfrm>
            <a:off x="5592500" y="200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92" name="Shape 92"/>
          <p:cNvSpPr/>
          <p:nvPr/>
        </p:nvSpPr>
        <p:spPr>
          <a:xfrm>
            <a:off x="5187500" y="213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93" name="Shape 93"/>
          <p:cNvSpPr/>
          <p:nvPr/>
        </p:nvSpPr>
        <p:spPr>
          <a:xfrm>
            <a:off x="5322500" y="213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94" name="Shape 94"/>
          <p:cNvSpPr/>
          <p:nvPr/>
        </p:nvSpPr>
        <p:spPr>
          <a:xfrm>
            <a:off x="5457500" y="213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95" name="Shape 95"/>
          <p:cNvSpPr/>
          <p:nvPr/>
        </p:nvSpPr>
        <p:spPr>
          <a:xfrm>
            <a:off x="5592500" y="213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96" name="Shape 96"/>
          <p:cNvSpPr/>
          <p:nvPr/>
        </p:nvSpPr>
        <p:spPr>
          <a:xfrm>
            <a:off x="5727500" y="213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97" name="Shape 97"/>
          <p:cNvSpPr/>
          <p:nvPr/>
        </p:nvSpPr>
        <p:spPr>
          <a:xfrm>
            <a:off x="5052500" y="227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98" name="Shape 98"/>
          <p:cNvSpPr/>
          <p:nvPr/>
        </p:nvSpPr>
        <p:spPr>
          <a:xfrm>
            <a:off x="5187500" y="227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99" name="Shape 99"/>
          <p:cNvSpPr/>
          <p:nvPr/>
        </p:nvSpPr>
        <p:spPr>
          <a:xfrm>
            <a:off x="5322500" y="227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0" name="Shape 100"/>
          <p:cNvSpPr/>
          <p:nvPr/>
        </p:nvSpPr>
        <p:spPr>
          <a:xfrm>
            <a:off x="5457500" y="227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1" name="Shape 101"/>
          <p:cNvSpPr/>
          <p:nvPr/>
        </p:nvSpPr>
        <p:spPr>
          <a:xfrm>
            <a:off x="5592500" y="227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2" name="Shape 102"/>
          <p:cNvSpPr/>
          <p:nvPr/>
        </p:nvSpPr>
        <p:spPr>
          <a:xfrm>
            <a:off x="5727500" y="227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3" name="Shape 103"/>
          <p:cNvSpPr/>
          <p:nvPr/>
        </p:nvSpPr>
        <p:spPr>
          <a:xfrm>
            <a:off x="5862500" y="227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4" name="Shape 104"/>
          <p:cNvSpPr/>
          <p:nvPr/>
        </p:nvSpPr>
        <p:spPr>
          <a:xfrm>
            <a:off x="5052500" y="240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5" name="Shape 105"/>
          <p:cNvSpPr/>
          <p:nvPr/>
        </p:nvSpPr>
        <p:spPr>
          <a:xfrm>
            <a:off x="5187500" y="240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6" name="Shape 106"/>
          <p:cNvSpPr/>
          <p:nvPr/>
        </p:nvSpPr>
        <p:spPr>
          <a:xfrm>
            <a:off x="5322500" y="240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7" name="Shape 107"/>
          <p:cNvSpPr/>
          <p:nvPr/>
        </p:nvSpPr>
        <p:spPr>
          <a:xfrm>
            <a:off x="5457500" y="240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8" name="Shape 108"/>
          <p:cNvSpPr/>
          <p:nvPr/>
        </p:nvSpPr>
        <p:spPr>
          <a:xfrm>
            <a:off x="5592500" y="240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9" name="Shape 109"/>
          <p:cNvSpPr/>
          <p:nvPr/>
        </p:nvSpPr>
        <p:spPr>
          <a:xfrm>
            <a:off x="5727500" y="240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0" name="Shape 110"/>
          <p:cNvSpPr/>
          <p:nvPr/>
        </p:nvSpPr>
        <p:spPr>
          <a:xfrm>
            <a:off x="5862500" y="240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1" name="Shape 111"/>
          <p:cNvSpPr/>
          <p:nvPr/>
        </p:nvSpPr>
        <p:spPr>
          <a:xfrm>
            <a:off x="5052500" y="254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2" name="Shape 112"/>
          <p:cNvSpPr/>
          <p:nvPr/>
        </p:nvSpPr>
        <p:spPr>
          <a:xfrm>
            <a:off x="5187500" y="254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3" name="Shape 113"/>
          <p:cNvSpPr/>
          <p:nvPr/>
        </p:nvSpPr>
        <p:spPr>
          <a:xfrm>
            <a:off x="5322500" y="254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4" name="Shape 114"/>
          <p:cNvSpPr/>
          <p:nvPr/>
        </p:nvSpPr>
        <p:spPr>
          <a:xfrm>
            <a:off x="5457500" y="254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5" name="Shape 115"/>
          <p:cNvSpPr/>
          <p:nvPr/>
        </p:nvSpPr>
        <p:spPr>
          <a:xfrm>
            <a:off x="5592500" y="2542500"/>
            <a:ext cx="126000" cy="126000"/>
          </a:xfrm>
          <a:prstGeom prst="rect">
            <a:avLst/>
          </a:prstGeom>
          <a:solidFill>
            <a:srgbClr val="A855F7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6" name="Shape 116"/>
          <p:cNvSpPr/>
          <p:nvPr/>
        </p:nvSpPr>
        <p:spPr>
          <a:xfrm>
            <a:off x="5727500" y="254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7" name="Shape 117"/>
          <p:cNvSpPr/>
          <p:nvPr/>
        </p:nvSpPr>
        <p:spPr>
          <a:xfrm>
            <a:off x="5862500" y="254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8" name="Shape 118"/>
          <p:cNvSpPr/>
          <p:nvPr/>
        </p:nvSpPr>
        <p:spPr>
          <a:xfrm>
            <a:off x="5187500" y="267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9" name="Shape 119"/>
          <p:cNvSpPr/>
          <p:nvPr/>
        </p:nvSpPr>
        <p:spPr>
          <a:xfrm>
            <a:off x="5322500" y="267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0" name="Shape 120"/>
          <p:cNvSpPr/>
          <p:nvPr/>
        </p:nvSpPr>
        <p:spPr>
          <a:xfrm>
            <a:off x="5457500" y="267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1" name="Shape 121"/>
          <p:cNvSpPr/>
          <p:nvPr/>
        </p:nvSpPr>
        <p:spPr>
          <a:xfrm>
            <a:off x="5592500" y="267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2" name="Shape 122"/>
          <p:cNvSpPr/>
          <p:nvPr/>
        </p:nvSpPr>
        <p:spPr>
          <a:xfrm>
            <a:off x="5727500" y="2677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3" name="Shape 123"/>
          <p:cNvSpPr/>
          <p:nvPr/>
        </p:nvSpPr>
        <p:spPr>
          <a:xfrm>
            <a:off x="5322500" y="281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4" name="Shape 124"/>
          <p:cNvSpPr/>
          <p:nvPr/>
        </p:nvSpPr>
        <p:spPr>
          <a:xfrm>
            <a:off x="5457500" y="281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5" name="Shape 125"/>
          <p:cNvSpPr/>
          <p:nvPr/>
        </p:nvSpPr>
        <p:spPr>
          <a:xfrm>
            <a:off x="5592500" y="2812500"/>
            <a:ext cx="126000" cy="12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6" name="Text 126"/>
          <p:cNvSpPr txBox="1"/>
          <p:nvPr/>
        </p:nvSpPr>
        <p:spPr>
          <a:xfrm>
            <a:off x="4850000" y="3230000"/>
            <a:ext cx="135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350" b="1">
                <a:solidFill>
                  <a:srgbClr val="64748B"/>
                </a:solidFill>
              </a:rPr>
              <a:t>WDM C 散点</a:t>
            </a:r>
            <a:endParaRPr lang="zh-CN" sz="1350" b="1">
              <a:solidFill>
                <a:srgbClr val="64748B"/>
              </a:solidFill>
            </a:endParaRPr>
          </a:p>
        </p:txBody>
      </p:sp>
      <p:cxnSp>
        <p:nvCxnSpPr>
          <p:cNvPr id="166" name="Connector 166"/>
          <p:cNvCxnSpPr/>
          <p:nvPr/>
        </p:nvCxnSpPr>
        <p:spPr>
          <a:xfrm>
            <a:off x="6200000" y="2500000"/>
            <a:ext cx="1550000" cy="1"/>
          </a:xfrm>
          <a:prstGeom prst="line">
            <a:avLst/>
          </a:prstGeom>
          <a:ln w="26000">
            <a:solidFill>
              <a:srgbClr val="EA580C"/>
            </a:solidFill>
            <a:tailEnd type="triangle"/>
          </a:ln>
        </p:spPr>
      </p:cxnSp>
      <p:sp>
        <p:nvSpPr>
          <p:cNvPr id="127" name="Shape 127"/>
          <p:cNvSpPr/>
          <p:nvPr/>
        </p:nvSpPr>
        <p:spPr>
          <a:xfrm>
            <a:off x="7850000" y="1700000"/>
            <a:ext cx="1600000" cy="1600000"/>
          </a:xfrm>
          <a:prstGeom prst="ellipse">
            <a:avLst/>
          </a:prstGeom>
          <a:solidFill>
            <a:srgbClr val="F8FAFC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8" name="Shape 128"/>
          <p:cNvSpPr/>
          <p:nvPr/>
        </p:nvSpPr>
        <p:spPr>
          <a:xfrm>
            <a:off x="8410000" y="194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9" name="Shape 129"/>
          <p:cNvSpPr/>
          <p:nvPr/>
        </p:nvSpPr>
        <p:spPr>
          <a:xfrm>
            <a:off x="8570000" y="194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30" name="Shape 130"/>
          <p:cNvSpPr/>
          <p:nvPr/>
        </p:nvSpPr>
        <p:spPr>
          <a:xfrm>
            <a:off x="8730000" y="194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31" name="Shape 131"/>
          <p:cNvSpPr/>
          <p:nvPr/>
        </p:nvSpPr>
        <p:spPr>
          <a:xfrm>
            <a:off x="8250000" y="210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32" name="Shape 132"/>
          <p:cNvSpPr/>
          <p:nvPr/>
        </p:nvSpPr>
        <p:spPr>
          <a:xfrm>
            <a:off x="8410000" y="2100000"/>
            <a:ext cx="151000" cy="151000"/>
          </a:xfrm>
          <a:prstGeom prst="rect">
            <a:avLst/>
          </a:prstGeom>
          <a:solidFill>
            <a:srgbClr val="F97316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33" name="Shape 133"/>
          <p:cNvSpPr/>
          <p:nvPr/>
        </p:nvSpPr>
        <p:spPr>
          <a:xfrm>
            <a:off x="8570000" y="210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34" name="Shape 134"/>
          <p:cNvSpPr/>
          <p:nvPr/>
        </p:nvSpPr>
        <p:spPr>
          <a:xfrm>
            <a:off x="8730000" y="210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35" name="Shape 135"/>
          <p:cNvSpPr/>
          <p:nvPr/>
        </p:nvSpPr>
        <p:spPr>
          <a:xfrm>
            <a:off x="8890000" y="210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36" name="Shape 136"/>
          <p:cNvSpPr/>
          <p:nvPr/>
        </p:nvSpPr>
        <p:spPr>
          <a:xfrm>
            <a:off x="8090000" y="226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37" name="Shape 137"/>
          <p:cNvSpPr/>
          <p:nvPr/>
        </p:nvSpPr>
        <p:spPr>
          <a:xfrm>
            <a:off x="8250000" y="226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38" name="Shape 138"/>
          <p:cNvSpPr/>
          <p:nvPr/>
        </p:nvSpPr>
        <p:spPr>
          <a:xfrm>
            <a:off x="8410000" y="2260000"/>
            <a:ext cx="151000" cy="151000"/>
          </a:xfrm>
          <a:prstGeom prst="rect">
            <a:avLst/>
          </a:prstGeom>
          <a:solidFill>
            <a:srgbClr val="F97316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39" name="Shape 139"/>
          <p:cNvSpPr/>
          <p:nvPr/>
        </p:nvSpPr>
        <p:spPr>
          <a:xfrm>
            <a:off x="8570000" y="2260000"/>
            <a:ext cx="151000" cy="151000"/>
          </a:xfrm>
          <a:prstGeom prst="rect">
            <a:avLst/>
          </a:prstGeom>
          <a:solidFill>
            <a:srgbClr val="F97316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0" name="Shape 140"/>
          <p:cNvSpPr/>
          <p:nvPr/>
        </p:nvSpPr>
        <p:spPr>
          <a:xfrm>
            <a:off x="8730000" y="226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1" name="Shape 141"/>
          <p:cNvSpPr/>
          <p:nvPr/>
        </p:nvSpPr>
        <p:spPr>
          <a:xfrm>
            <a:off x="8890000" y="226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2" name="Shape 142"/>
          <p:cNvSpPr/>
          <p:nvPr/>
        </p:nvSpPr>
        <p:spPr>
          <a:xfrm>
            <a:off x="9050000" y="226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3" name="Shape 143"/>
          <p:cNvSpPr/>
          <p:nvPr/>
        </p:nvSpPr>
        <p:spPr>
          <a:xfrm>
            <a:off x="8090000" y="242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4" name="Shape 144"/>
          <p:cNvSpPr/>
          <p:nvPr/>
        </p:nvSpPr>
        <p:spPr>
          <a:xfrm>
            <a:off x="8250000" y="242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5" name="Shape 145"/>
          <p:cNvSpPr/>
          <p:nvPr/>
        </p:nvSpPr>
        <p:spPr>
          <a:xfrm>
            <a:off x="8410000" y="242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6" name="Shape 146"/>
          <p:cNvSpPr/>
          <p:nvPr/>
        </p:nvSpPr>
        <p:spPr>
          <a:xfrm>
            <a:off x="8570000" y="242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7" name="Shape 147"/>
          <p:cNvSpPr/>
          <p:nvPr/>
        </p:nvSpPr>
        <p:spPr>
          <a:xfrm>
            <a:off x="8730000" y="2420000"/>
            <a:ext cx="151000" cy="151000"/>
          </a:xfrm>
          <a:prstGeom prst="rect">
            <a:avLst/>
          </a:prstGeom>
          <a:solidFill>
            <a:srgbClr val="F97316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8" name="Shape 148"/>
          <p:cNvSpPr/>
          <p:nvPr/>
        </p:nvSpPr>
        <p:spPr>
          <a:xfrm>
            <a:off x="8890000" y="242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9" name="Shape 149"/>
          <p:cNvSpPr/>
          <p:nvPr/>
        </p:nvSpPr>
        <p:spPr>
          <a:xfrm>
            <a:off x="9050000" y="242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0" name="Shape 150"/>
          <p:cNvSpPr/>
          <p:nvPr/>
        </p:nvSpPr>
        <p:spPr>
          <a:xfrm>
            <a:off x="8090000" y="258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1" name="Shape 151"/>
          <p:cNvSpPr/>
          <p:nvPr/>
        </p:nvSpPr>
        <p:spPr>
          <a:xfrm>
            <a:off x="8250000" y="258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2" name="Shape 152"/>
          <p:cNvSpPr/>
          <p:nvPr/>
        </p:nvSpPr>
        <p:spPr>
          <a:xfrm>
            <a:off x="8410000" y="258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3" name="Shape 153"/>
          <p:cNvSpPr/>
          <p:nvPr/>
        </p:nvSpPr>
        <p:spPr>
          <a:xfrm>
            <a:off x="8570000" y="258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4" name="Shape 154"/>
          <p:cNvSpPr/>
          <p:nvPr/>
        </p:nvSpPr>
        <p:spPr>
          <a:xfrm>
            <a:off x="8730000" y="2580000"/>
            <a:ext cx="151000" cy="151000"/>
          </a:xfrm>
          <a:prstGeom prst="rect">
            <a:avLst/>
          </a:prstGeom>
          <a:solidFill>
            <a:srgbClr val="F97316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5" name="Shape 155"/>
          <p:cNvSpPr/>
          <p:nvPr/>
        </p:nvSpPr>
        <p:spPr>
          <a:xfrm>
            <a:off x="8890000" y="258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6" name="Shape 156"/>
          <p:cNvSpPr/>
          <p:nvPr/>
        </p:nvSpPr>
        <p:spPr>
          <a:xfrm>
            <a:off x="9050000" y="258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7" name="Shape 157"/>
          <p:cNvSpPr/>
          <p:nvPr/>
        </p:nvSpPr>
        <p:spPr>
          <a:xfrm>
            <a:off x="8250000" y="274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8" name="Shape 158"/>
          <p:cNvSpPr/>
          <p:nvPr/>
        </p:nvSpPr>
        <p:spPr>
          <a:xfrm>
            <a:off x="8410000" y="274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9" name="Shape 159"/>
          <p:cNvSpPr/>
          <p:nvPr/>
        </p:nvSpPr>
        <p:spPr>
          <a:xfrm>
            <a:off x="8570000" y="274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60" name="Shape 160"/>
          <p:cNvSpPr/>
          <p:nvPr/>
        </p:nvSpPr>
        <p:spPr>
          <a:xfrm>
            <a:off x="8730000" y="274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61" name="Shape 161"/>
          <p:cNvSpPr/>
          <p:nvPr/>
        </p:nvSpPr>
        <p:spPr>
          <a:xfrm>
            <a:off x="8890000" y="274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62" name="Shape 162"/>
          <p:cNvSpPr/>
          <p:nvPr/>
        </p:nvSpPr>
        <p:spPr>
          <a:xfrm>
            <a:off x="8410000" y="290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63" name="Shape 163"/>
          <p:cNvSpPr/>
          <p:nvPr/>
        </p:nvSpPr>
        <p:spPr>
          <a:xfrm>
            <a:off x="8570000" y="290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64" name="Shape 164"/>
          <p:cNvSpPr/>
          <p:nvPr/>
        </p:nvSpPr>
        <p:spPr>
          <a:xfrm>
            <a:off x="8730000" y="2900000"/>
            <a:ext cx="151000" cy="15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65" name="Text 165"/>
          <p:cNvSpPr txBox="1"/>
          <p:nvPr/>
        </p:nvSpPr>
        <p:spPr>
          <a:xfrm>
            <a:off x="7850000" y="3380000"/>
            <a:ext cx="16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350" b="1">
                <a:solidFill>
                  <a:srgbClr val="64748B"/>
                </a:solidFill>
              </a:rPr>
              <a:t>叠加图</a:t>
            </a:r>
            <a:endParaRPr lang="zh-CN" sz="1350" b="1">
              <a:solidFill>
                <a:srgbClr val="64748B"/>
              </a:solidFill>
            </a:endParaRPr>
          </a:p>
        </p:txBody>
      </p:sp>
      <p:sp>
        <p:nvSpPr>
          <p:cNvPr id="168" name="Shape 168"/>
          <p:cNvSpPr/>
          <p:nvPr/>
        </p:nvSpPr>
        <p:spPr>
          <a:xfrm>
            <a:off x="1200000" y="4550000"/>
            <a:ext cx="8800000" cy="760000"/>
          </a:xfrm>
          <a:prstGeom prst="roundRect">
            <a:avLst/>
          </a:prstGeom>
          <a:solidFill>
            <a:srgbClr val="FFEDD5"/>
          </a:solidFill>
          <a:ln w="14000">
            <a:solidFill>
              <a:srgbClr val="EA580C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650" b="1">
                <a:solidFill>
                  <a:srgbClr val="111827"/>
                </a:solidFill>
              </a:rPr>
              <a:t>方案强调选择少量关键 WDM，避免无关缺陷被过度叠加，从而提升结果的解释质量。</a:t>
            </a:r>
            <a:endParaRPr lang="zh-CN" sz="1650" b="1">
              <a:solidFill>
                <a:srgbClr val="111827"/>
              </a:solidFill>
            </a:endParaRPr>
          </a:p>
        </p:txBody>
      </p:sp>
      <p:sp>
        <p:nvSpPr>
          <p:cNvPr id="1003" name="Uniform WDM Dot 1003"/>
          <p:cNvSpPr/>
          <p:nvPr/>
        </p:nvSpPr>
        <p:spPr>
          <a:xfrm>
            <a:off x="1355000" y="2170000"/>
            <a:ext cx="70000" cy="70000"/>
          </a:xfrm>
          <a:prstGeom prst="ellipse">
            <a:avLst/>
          </a:prstGeom>
          <a:solidFill>
            <a:srgbClr val="16A34A"/>
          </a:solidFill>
          <a:ln w="9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04" name="Uniform WDM Dot 1004"/>
          <p:cNvSpPr/>
          <p:nvPr/>
        </p:nvSpPr>
        <p:spPr>
          <a:xfrm>
            <a:off x="1355000" y="2305000"/>
            <a:ext cx="70000" cy="70000"/>
          </a:xfrm>
          <a:prstGeom prst="ellipse">
            <a:avLst/>
          </a:prstGeom>
          <a:solidFill>
            <a:srgbClr val="16A34A"/>
          </a:solidFill>
          <a:ln w="9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05" name="Uniform WDM Dot 1005"/>
          <p:cNvSpPr/>
          <p:nvPr/>
        </p:nvSpPr>
        <p:spPr>
          <a:xfrm>
            <a:off x="1490000" y="2305000"/>
            <a:ext cx="70000" cy="70000"/>
          </a:xfrm>
          <a:prstGeom prst="ellipse">
            <a:avLst/>
          </a:prstGeom>
          <a:solidFill>
            <a:srgbClr val="16A34A"/>
          </a:solidFill>
          <a:ln w="9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06" name="Uniform WDM Dot 1006"/>
          <p:cNvSpPr/>
          <p:nvPr/>
        </p:nvSpPr>
        <p:spPr>
          <a:xfrm>
            <a:off x="1355000" y="2440000"/>
            <a:ext cx="70000" cy="70000"/>
          </a:xfrm>
          <a:prstGeom prst="ellipse">
            <a:avLst/>
          </a:prstGeom>
          <a:solidFill>
            <a:srgbClr val="16A34A"/>
          </a:solidFill>
          <a:ln w="9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07" name="Uniform WDM Dot 1007"/>
          <p:cNvSpPr/>
          <p:nvPr/>
        </p:nvSpPr>
        <p:spPr>
          <a:xfrm>
            <a:off x="1490000" y="2440000"/>
            <a:ext cx="70000" cy="70000"/>
          </a:xfrm>
          <a:prstGeom prst="ellipse">
            <a:avLst/>
          </a:prstGeom>
          <a:solidFill>
            <a:srgbClr val="16A34A"/>
          </a:solidFill>
          <a:ln w="9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08" name="Uniform WDM Dot 1008"/>
          <p:cNvSpPr/>
          <p:nvPr/>
        </p:nvSpPr>
        <p:spPr>
          <a:xfrm>
            <a:off x="3490000" y="2305000"/>
            <a:ext cx="70000" cy="70000"/>
          </a:xfrm>
          <a:prstGeom prst="ellipse">
            <a:avLst/>
          </a:prstGeom>
          <a:solidFill>
            <a:srgbClr val="2563EB"/>
          </a:solidFill>
          <a:ln w="9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09" name="Uniform WDM Dot 1009"/>
          <p:cNvSpPr/>
          <p:nvPr/>
        </p:nvSpPr>
        <p:spPr>
          <a:xfrm>
            <a:off x="3625000" y="2440000"/>
            <a:ext cx="70000" cy="70000"/>
          </a:xfrm>
          <a:prstGeom prst="ellipse">
            <a:avLst/>
          </a:prstGeom>
          <a:solidFill>
            <a:srgbClr val="2563EB"/>
          </a:solidFill>
          <a:ln w="9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10" name="Uniform WDM Dot 1010"/>
          <p:cNvSpPr/>
          <p:nvPr/>
        </p:nvSpPr>
        <p:spPr>
          <a:xfrm>
            <a:off x="3625000" y="2575000"/>
            <a:ext cx="70000" cy="70000"/>
          </a:xfrm>
          <a:prstGeom prst="ellipse">
            <a:avLst/>
          </a:prstGeom>
          <a:solidFill>
            <a:srgbClr val="2563EB"/>
          </a:solidFill>
          <a:ln w="9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11" name="Uniform WDM Dot 1011"/>
          <p:cNvSpPr/>
          <p:nvPr/>
        </p:nvSpPr>
        <p:spPr>
          <a:xfrm>
            <a:off x="3490000" y="2440000"/>
            <a:ext cx="70000" cy="70000"/>
          </a:xfrm>
          <a:prstGeom prst="ellipse">
            <a:avLst/>
          </a:prstGeom>
          <a:solidFill>
            <a:srgbClr val="2563EB"/>
          </a:solidFill>
          <a:ln w="9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12" name="Uniform WDM Dot 1012"/>
          <p:cNvSpPr/>
          <p:nvPr/>
        </p:nvSpPr>
        <p:spPr>
          <a:xfrm>
            <a:off x="3490000" y="2575000"/>
            <a:ext cx="70000" cy="70000"/>
          </a:xfrm>
          <a:prstGeom prst="ellipse">
            <a:avLst/>
          </a:prstGeom>
          <a:solidFill>
            <a:srgbClr val="2563EB"/>
          </a:solidFill>
          <a:ln w="9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13" name="Uniform WDM Dot 1013"/>
          <p:cNvSpPr/>
          <p:nvPr/>
        </p:nvSpPr>
        <p:spPr>
          <a:xfrm>
            <a:off x="5625000" y="2440000"/>
            <a:ext cx="70000" cy="70000"/>
          </a:xfrm>
          <a:prstGeom prst="ellipse">
            <a:avLst/>
          </a:prstGeom>
          <a:solidFill>
            <a:srgbClr val="7C3AED"/>
          </a:solidFill>
          <a:ln w="9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14" name="Uniform WDM Dot 1014"/>
          <p:cNvSpPr/>
          <p:nvPr/>
        </p:nvSpPr>
        <p:spPr>
          <a:xfrm>
            <a:off x="5625000" y="2575000"/>
            <a:ext cx="70000" cy="70000"/>
          </a:xfrm>
          <a:prstGeom prst="ellipse">
            <a:avLst/>
          </a:prstGeom>
          <a:solidFill>
            <a:srgbClr val="7C3AED"/>
          </a:solidFill>
          <a:ln w="9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15" name="Uniform WDM Dot 1015"/>
          <p:cNvSpPr/>
          <p:nvPr/>
        </p:nvSpPr>
        <p:spPr>
          <a:xfrm>
            <a:off x="5760000" y="2575000"/>
            <a:ext cx="70000" cy="70000"/>
          </a:xfrm>
          <a:prstGeom prst="ellipse">
            <a:avLst/>
          </a:prstGeom>
          <a:solidFill>
            <a:srgbClr val="7C3AED"/>
          </a:solidFill>
          <a:ln w="9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16" name="Uniform WDM Dot 1016"/>
          <p:cNvSpPr/>
          <p:nvPr/>
        </p:nvSpPr>
        <p:spPr>
          <a:xfrm>
            <a:off x="5625000" y="2710000"/>
            <a:ext cx="70000" cy="70000"/>
          </a:xfrm>
          <a:prstGeom prst="ellipse">
            <a:avLst/>
          </a:prstGeom>
          <a:solidFill>
            <a:srgbClr val="7C3AED"/>
          </a:solidFill>
          <a:ln w="9000">
            <a:solidFill>
              <a:srgbClr val="FFFFFF"/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Shape 10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4000">
            <a:solidFill>
              <a:srgbClr val="F8FAFC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01" name="Text 1001"/>
          <p:cNvSpPr txBox="1"/>
          <p:nvPr/>
        </p:nvSpPr>
        <p:spPr>
          <a:xfrm>
            <a:off x="620000" y="300000"/>
            <a:ext cx="87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000" b="1">
                <a:solidFill>
                  <a:srgbClr val="111827"/>
                </a:solidFill>
              </a:rPr>
              <a:t>1. 问题定义与业务目标</a:t>
            </a:r>
            <a:endParaRPr lang="zh-CN" sz="3000" b="1">
              <a:solidFill>
                <a:srgbClr val="111827"/>
              </a:solidFill>
            </a:endParaRPr>
          </a:p>
        </p:txBody>
      </p:sp>
      <p:sp>
        <p:nvSpPr>
          <p:cNvPr id="1002" name="Text 1002"/>
          <p:cNvSpPr txBox="1"/>
          <p:nvPr/>
        </p:nvSpPr>
        <p:spPr>
          <a:xfrm>
            <a:off x="640000" y="820000"/>
            <a:ext cx="93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450">
                <a:solidFill>
                  <a:srgbClr val="64748B"/>
                </a:solidFill>
              </a:rPr>
              <a:t>针对一张 WBM 失效分布图，在候选 WDM 散点序列中识别能够共同解释该失效分布的缺陷图组合。</a:t>
            </a:r>
            <a:endParaRPr lang="zh-CN" sz="1450">
              <a:solidFill>
                <a:srgbClr val="64748B"/>
              </a:solidFill>
            </a:endParaRPr>
          </a:p>
        </p:txBody>
      </p:sp>
      <p:sp>
        <p:nvSpPr>
          <p:cNvPr id="10" name="Shape 10"/>
          <p:cNvSpPr/>
          <p:nvPr/>
        </p:nvSpPr>
        <p:spPr>
          <a:xfrm>
            <a:off x="760000" y="1800000"/>
            <a:ext cx="1450000" cy="1450000"/>
          </a:xfrm>
          <a:prstGeom prst="ellipse">
            <a:avLst/>
          </a:prstGeom>
          <a:solidFill>
            <a:srgbClr val="F8FAFC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" name="Shape 11"/>
          <p:cNvSpPr/>
          <p:nvPr/>
        </p:nvSpPr>
        <p:spPr>
          <a:xfrm>
            <a:off x="1267500" y="201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" name="Shape 12"/>
          <p:cNvSpPr/>
          <p:nvPr/>
        </p:nvSpPr>
        <p:spPr>
          <a:xfrm>
            <a:off x="1412500" y="201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3" name="Shape 13"/>
          <p:cNvSpPr/>
          <p:nvPr/>
        </p:nvSpPr>
        <p:spPr>
          <a:xfrm>
            <a:off x="1557500" y="201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" name="Shape 14"/>
          <p:cNvSpPr/>
          <p:nvPr/>
        </p:nvSpPr>
        <p:spPr>
          <a:xfrm>
            <a:off x="1122500" y="216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" name="Shape 15"/>
          <p:cNvSpPr/>
          <p:nvPr/>
        </p:nvSpPr>
        <p:spPr>
          <a:xfrm>
            <a:off x="1267500" y="2162500"/>
            <a:ext cx="136000" cy="136000"/>
          </a:xfrm>
          <a:prstGeom prst="rect">
            <a:avLst/>
          </a:prstGeom>
          <a:solidFill>
            <a:srgbClr val="F97316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6" name="Shape 16"/>
          <p:cNvSpPr/>
          <p:nvPr/>
        </p:nvSpPr>
        <p:spPr>
          <a:xfrm>
            <a:off x="1412500" y="216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7" name="Shape 17"/>
          <p:cNvSpPr/>
          <p:nvPr/>
        </p:nvSpPr>
        <p:spPr>
          <a:xfrm>
            <a:off x="1557500" y="216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8" name="Shape 18"/>
          <p:cNvSpPr/>
          <p:nvPr/>
        </p:nvSpPr>
        <p:spPr>
          <a:xfrm>
            <a:off x="1702500" y="216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9" name="Shape 19"/>
          <p:cNvSpPr/>
          <p:nvPr/>
        </p:nvSpPr>
        <p:spPr>
          <a:xfrm>
            <a:off x="977500" y="230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0" name="Shape 20"/>
          <p:cNvSpPr/>
          <p:nvPr/>
        </p:nvSpPr>
        <p:spPr>
          <a:xfrm>
            <a:off x="1122500" y="230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1" name="Shape 21"/>
          <p:cNvSpPr/>
          <p:nvPr/>
        </p:nvSpPr>
        <p:spPr>
          <a:xfrm>
            <a:off x="1267500" y="2307500"/>
            <a:ext cx="136000" cy="136000"/>
          </a:xfrm>
          <a:prstGeom prst="rect">
            <a:avLst/>
          </a:prstGeom>
          <a:solidFill>
            <a:srgbClr val="F97316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2" name="Shape 22"/>
          <p:cNvSpPr/>
          <p:nvPr/>
        </p:nvSpPr>
        <p:spPr>
          <a:xfrm>
            <a:off x="1412500" y="2307500"/>
            <a:ext cx="136000" cy="136000"/>
          </a:xfrm>
          <a:prstGeom prst="rect">
            <a:avLst/>
          </a:prstGeom>
          <a:solidFill>
            <a:srgbClr val="F97316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3" name="Shape 23"/>
          <p:cNvSpPr/>
          <p:nvPr/>
        </p:nvSpPr>
        <p:spPr>
          <a:xfrm>
            <a:off x="1557500" y="230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4" name="Shape 24"/>
          <p:cNvSpPr/>
          <p:nvPr/>
        </p:nvSpPr>
        <p:spPr>
          <a:xfrm>
            <a:off x="1702500" y="230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5" name="Shape 25"/>
          <p:cNvSpPr/>
          <p:nvPr/>
        </p:nvSpPr>
        <p:spPr>
          <a:xfrm>
            <a:off x="1847500" y="230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6" name="Shape 26"/>
          <p:cNvSpPr/>
          <p:nvPr/>
        </p:nvSpPr>
        <p:spPr>
          <a:xfrm>
            <a:off x="977500" y="245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7" name="Shape 27"/>
          <p:cNvSpPr/>
          <p:nvPr/>
        </p:nvSpPr>
        <p:spPr>
          <a:xfrm>
            <a:off x="1122500" y="245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8" name="Shape 28"/>
          <p:cNvSpPr/>
          <p:nvPr/>
        </p:nvSpPr>
        <p:spPr>
          <a:xfrm>
            <a:off x="1267500" y="245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9" name="Shape 29"/>
          <p:cNvSpPr/>
          <p:nvPr/>
        </p:nvSpPr>
        <p:spPr>
          <a:xfrm>
            <a:off x="1412500" y="245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0" name="Shape 30"/>
          <p:cNvSpPr/>
          <p:nvPr/>
        </p:nvSpPr>
        <p:spPr>
          <a:xfrm>
            <a:off x="1557500" y="2452500"/>
            <a:ext cx="136000" cy="136000"/>
          </a:xfrm>
          <a:prstGeom prst="rect">
            <a:avLst/>
          </a:prstGeom>
          <a:solidFill>
            <a:srgbClr val="F97316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1" name="Shape 31"/>
          <p:cNvSpPr/>
          <p:nvPr/>
        </p:nvSpPr>
        <p:spPr>
          <a:xfrm>
            <a:off x="1702500" y="245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2" name="Shape 32"/>
          <p:cNvSpPr/>
          <p:nvPr/>
        </p:nvSpPr>
        <p:spPr>
          <a:xfrm>
            <a:off x="1847500" y="245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3" name="Shape 33"/>
          <p:cNvSpPr/>
          <p:nvPr/>
        </p:nvSpPr>
        <p:spPr>
          <a:xfrm>
            <a:off x="977500" y="259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4" name="Shape 34"/>
          <p:cNvSpPr/>
          <p:nvPr/>
        </p:nvSpPr>
        <p:spPr>
          <a:xfrm>
            <a:off x="1122500" y="259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5" name="Shape 35"/>
          <p:cNvSpPr/>
          <p:nvPr/>
        </p:nvSpPr>
        <p:spPr>
          <a:xfrm>
            <a:off x="1267500" y="259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6" name="Shape 36"/>
          <p:cNvSpPr/>
          <p:nvPr/>
        </p:nvSpPr>
        <p:spPr>
          <a:xfrm>
            <a:off x="1412500" y="259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7" name="Shape 37"/>
          <p:cNvSpPr/>
          <p:nvPr/>
        </p:nvSpPr>
        <p:spPr>
          <a:xfrm>
            <a:off x="1557500" y="2597500"/>
            <a:ext cx="136000" cy="136000"/>
          </a:xfrm>
          <a:prstGeom prst="rect">
            <a:avLst/>
          </a:prstGeom>
          <a:solidFill>
            <a:srgbClr val="F97316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8" name="Shape 38"/>
          <p:cNvSpPr/>
          <p:nvPr/>
        </p:nvSpPr>
        <p:spPr>
          <a:xfrm>
            <a:off x="1702500" y="259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9" name="Shape 39"/>
          <p:cNvSpPr/>
          <p:nvPr/>
        </p:nvSpPr>
        <p:spPr>
          <a:xfrm>
            <a:off x="1847500" y="259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0" name="Shape 40"/>
          <p:cNvSpPr/>
          <p:nvPr/>
        </p:nvSpPr>
        <p:spPr>
          <a:xfrm>
            <a:off x="1122500" y="274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1" name="Shape 41"/>
          <p:cNvSpPr/>
          <p:nvPr/>
        </p:nvSpPr>
        <p:spPr>
          <a:xfrm>
            <a:off x="1267500" y="274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2" name="Shape 42"/>
          <p:cNvSpPr/>
          <p:nvPr/>
        </p:nvSpPr>
        <p:spPr>
          <a:xfrm>
            <a:off x="1412500" y="274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3" name="Shape 43"/>
          <p:cNvSpPr/>
          <p:nvPr/>
        </p:nvSpPr>
        <p:spPr>
          <a:xfrm>
            <a:off x="1557500" y="274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4" name="Shape 44"/>
          <p:cNvSpPr/>
          <p:nvPr/>
        </p:nvSpPr>
        <p:spPr>
          <a:xfrm>
            <a:off x="1702500" y="274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5" name="Shape 45"/>
          <p:cNvSpPr/>
          <p:nvPr/>
        </p:nvSpPr>
        <p:spPr>
          <a:xfrm>
            <a:off x="1267500" y="288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6" name="Shape 46"/>
          <p:cNvSpPr/>
          <p:nvPr/>
        </p:nvSpPr>
        <p:spPr>
          <a:xfrm>
            <a:off x="1412500" y="288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7" name="Shape 47"/>
          <p:cNvSpPr/>
          <p:nvPr/>
        </p:nvSpPr>
        <p:spPr>
          <a:xfrm>
            <a:off x="1557500" y="288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8" name="Text 48"/>
          <p:cNvSpPr txBox="1"/>
          <p:nvPr/>
        </p:nvSpPr>
        <p:spPr>
          <a:xfrm>
            <a:off x="760000" y="3330000"/>
            <a:ext cx="145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350" b="1">
                <a:solidFill>
                  <a:srgbClr val="64748B"/>
                </a:solidFill>
              </a:rPr>
              <a:t>WBM：结果/现象</a:t>
            </a:r>
            <a:endParaRPr lang="zh-CN" sz="1350" b="1">
              <a:solidFill>
                <a:srgbClr val="64748B"/>
              </a:solidFill>
            </a:endParaRPr>
          </a:p>
        </p:txBody>
      </p:sp>
      <p:sp>
        <p:nvSpPr>
          <p:cNvPr id="49" name="Shape 49"/>
          <p:cNvSpPr/>
          <p:nvPr/>
        </p:nvSpPr>
        <p:spPr>
          <a:xfrm>
            <a:off x="3000000" y="1850000"/>
            <a:ext cx="1900000" cy="620000"/>
          </a:xfrm>
          <a:prstGeom prst="roundRect">
            <a:avLst/>
          </a:prstGeom>
          <a:solidFill>
            <a:srgbClr val="D1FAE5"/>
          </a:solidFill>
          <a:ln w="14000">
            <a:solidFill>
              <a:srgbClr val="059669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550" b="1">
                <a:solidFill>
                  <a:srgbClr val="111827"/>
                </a:solidFill>
              </a:rPr>
              <a:t>WDM 1</a:t>
            </a:r>
            <a:endParaRPr lang="zh-CN" sz="1550" b="1">
              <a:solidFill>
                <a:srgbClr val="111827"/>
              </a:solidFill>
            </a:endParaRPr>
          </a:p>
        </p:txBody>
      </p:sp>
      <p:sp>
        <p:nvSpPr>
          <p:cNvPr id="50" name="Shape 50"/>
          <p:cNvSpPr/>
          <p:nvPr/>
        </p:nvSpPr>
        <p:spPr>
          <a:xfrm>
            <a:off x="3000000" y="2780000"/>
            <a:ext cx="1900000" cy="620000"/>
          </a:xfrm>
          <a:prstGeom prst="roundRect">
            <a:avLst/>
          </a:prstGeom>
          <a:solidFill>
            <a:srgbClr val="DBEAFE"/>
          </a:solidFill>
          <a:ln w="14000">
            <a:solidFill>
              <a:srgbClr val="2563EB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550" b="1">
                <a:solidFill>
                  <a:srgbClr val="111827"/>
                </a:solidFill>
              </a:rPr>
              <a:t>WDM 2</a:t>
            </a:r>
            <a:endParaRPr lang="zh-CN" sz="1550" b="1">
              <a:solidFill>
                <a:srgbClr val="111827"/>
              </a:solidFill>
            </a:endParaRPr>
          </a:p>
        </p:txBody>
      </p:sp>
      <p:sp>
        <p:nvSpPr>
          <p:cNvPr id="51" name="Shape 51"/>
          <p:cNvSpPr/>
          <p:nvPr/>
        </p:nvSpPr>
        <p:spPr>
          <a:xfrm>
            <a:off x="3000000" y="3710000"/>
            <a:ext cx="1900000" cy="620000"/>
          </a:xfrm>
          <a:prstGeom prst="roundRect">
            <a:avLst/>
          </a:prstGeom>
          <a:solidFill>
            <a:srgbClr val="EDE9FE"/>
          </a:solidFill>
          <a:ln w="14000">
            <a:solidFill>
              <a:srgbClr val="7C3AED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550" b="1">
                <a:solidFill>
                  <a:srgbClr val="111827"/>
                </a:solidFill>
              </a:rPr>
              <a:t>WDM 3 ... N</a:t>
            </a:r>
            <a:endParaRPr lang="zh-CN" sz="1550" b="1">
              <a:solidFill>
                <a:srgbClr val="111827"/>
              </a:solidFill>
            </a:endParaRPr>
          </a:p>
        </p:txBody>
      </p:sp>
      <p:cxnSp>
        <p:nvCxnSpPr>
          <p:cNvPr id="52" name="Connector 52"/>
          <p:cNvCxnSpPr/>
          <p:nvPr/>
        </p:nvCxnSpPr>
        <p:spPr>
          <a:xfrm>
            <a:off x="2300000" y="3000000"/>
            <a:ext cx="620000" cy="1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53" name="Text 53"/>
          <p:cNvSpPr txBox="1"/>
          <p:nvPr/>
        </p:nvSpPr>
        <p:spPr>
          <a:xfrm>
            <a:off x="5600000" y="1700000"/>
            <a:ext cx="44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300" b="1">
                <a:solidFill>
                  <a:srgbClr val="111827"/>
                </a:solidFill>
              </a:rPr>
              <a:t>核心问题</a:t>
            </a:r>
            <a:endParaRPr lang="zh-CN" sz="2300" b="1">
              <a:solidFill>
                <a:srgbClr val="111827"/>
              </a:solidFill>
            </a:endParaRPr>
          </a:p>
        </p:txBody>
      </p:sp>
      <p:sp>
        <p:nvSpPr>
          <p:cNvPr id="54" name="Bullets 54"/>
          <p:cNvSpPr txBox="1"/>
          <p:nvPr/>
        </p:nvSpPr>
        <p:spPr>
          <a:xfrm>
            <a:off x="5600000" y="2250000"/>
            <a:ext cx="4750000" cy="2200000"/>
          </a:xfrm>
          <a:prstGeom prst="rect">
            <a:avLst/>
          </a:prstGeom>
          <a:noFill/>
        </p:spPr>
        <p:txBody>
          <a:bodyPr wrap="square"/>
          <a:lstStyle/>
          <a:p>
            <a:pPr marL="259715" indent="-179705">
              <a:buChar char="•"/>
              <a:defRPr sz="1750">
                <a:solidFill>
                  <a:srgbClr val="334155"/>
                </a:solidFill>
              </a:defRPr>
            </a:pPr>
            <a:r>
              <a:rPr lang="zh-CN" sz="1750">
                <a:solidFill>
                  <a:srgbClr val="334155"/>
                </a:solidFill>
              </a:rPr>
              <a:t>不依赖预先定义的固定 pattern 类别</a:t>
            </a:r>
            <a:endParaRPr lang="zh-CN" sz="17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750">
                <a:solidFill>
                  <a:srgbClr val="334155"/>
                </a:solidFill>
              </a:defRPr>
            </a:pPr>
            <a:r>
              <a:rPr lang="zh-CN" sz="1750">
                <a:solidFill>
                  <a:srgbClr val="334155"/>
                </a:solidFill>
              </a:rPr>
              <a:t>不将匹配目标简化为单张 WDM 检索</a:t>
            </a:r>
            <a:endParaRPr lang="zh-CN" sz="17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750">
                <a:solidFill>
                  <a:srgbClr val="334155"/>
                </a:solidFill>
              </a:defRPr>
            </a:pPr>
            <a:r>
              <a:rPr lang="zh-CN" sz="1750">
                <a:solidFill>
                  <a:srgbClr val="334155"/>
                </a:solidFill>
              </a:rPr>
              <a:t>从候选序列中选择若干关键 WDM</a:t>
            </a:r>
            <a:endParaRPr lang="zh-CN" sz="17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750">
                <a:solidFill>
                  <a:srgbClr val="334155"/>
                </a:solidFill>
              </a:defRPr>
            </a:pPr>
            <a:r>
              <a:rPr lang="zh-CN" sz="1750">
                <a:solidFill>
                  <a:srgbClr val="334155"/>
                </a:solidFill>
              </a:rPr>
              <a:t>通过组合叠加解释 WBM 的空间失效分布</a:t>
            </a:r>
            <a:endParaRPr lang="zh-CN" sz="1750">
              <a:solidFill>
                <a:srgbClr val="334155"/>
              </a:solidFill>
            </a:endParaRPr>
          </a:p>
        </p:txBody>
      </p:sp>
      <p:sp>
        <p:nvSpPr>
          <p:cNvPr id="55" name="Shape 55"/>
          <p:cNvSpPr/>
          <p:nvPr/>
        </p:nvSpPr>
        <p:spPr>
          <a:xfrm>
            <a:off x="5600065" y="4799965"/>
            <a:ext cx="4608195" cy="725805"/>
          </a:xfrm>
          <a:prstGeom prst="roundRect">
            <a:avLst/>
          </a:prstGeom>
          <a:solidFill>
            <a:srgbClr val="FFEDD5"/>
          </a:solidFill>
          <a:ln w="14000">
            <a:solidFill>
              <a:srgbClr val="EA580C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700" b="1">
                <a:solidFill>
                  <a:srgbClr val="111827"/>
                </a:solidFill>
              </a:rPr>
              <a:t>输出：WDM 选择向量与 Top 组合</a:t>
            </a:r>
            <a:endParaRPr lang="zh-CN" sz="1700" b="1">
              <a:solidFill>
                <a:srgbClr val="111827"/>
              </a:solidFill>
            </a:endParaRPr>
          </a:p>
          <a:p>
            <a:pPr algn="ctr"/>
            <a:r>
              <a:rPr lang="en-US" altLang="zh-CN" sz="1700" b="1">
                <a:solidFill>
                  <a:srgbClr val="111827"/>
                </a:solidFill>
              </a:rPr>
              <a:t>{0, 1, 1, 0, 0, 1....}</a:t>
            </a:r>
            <a:endParaRPr lang="en-US" altLang="zh-CN" sz="1700" b="1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Shape 10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4000">
            <a:solidFill>
              <a:srgbClr val="F8FAFC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01" name="Text 1001"/>
          <p:cNvSpPr txBox="1"/>
          <p:nvPr/>
        </p:nvSpPr>
        <p:spPr>
          <a:xfrm>
            <a:off x="620000" y="300000"/>
            <a:ext cx="87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000" b="1">
                <a:solidFill>
                  <a:srgbClr val="111827"/>
                </a:solidFill>
              </a:rPr>
              <a:t>2. 建模思路与工作流程</a:t>
            </a:r>
            <a:endParaRPr lang="zh-CN" sz="3000" b="1">
              <a:solidFill>
                <a:srgbClr val="111827"/>
              </a:solidFill>
            </a:endParaRPr>
          </a:p>
        </p:txBody>
      </p:sp>
      <p:sp>
        <p:nvSpPr>
          <p:cNvPr id="1002" name="Text 1002"/>
          <p:cNvSpPr txBox="1"/>
          <p:nvPr/>
        </p:nvSpPr>
        <p:spPr>
          <a:xfrm>
            <a:off x="640000" y="820000"/>
            <a:ext cx="93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450">
                <a:solidFill>
                  <a:srgbClr val="64748B"/>
                </a:solidFill>
              </a:rPr>
              <a:t>在原有 WBM/WDM 匹配流程基础上，将单张匹配进一步扩展为多 WDM 组合解释。</a:t>
            </a:r>
            <a:endParaRPr lang="zh-CN" sz="1450">
              <a:solidFill>
                <a:srgbClr val="64748B"/>
              </a:solidFill>
            </a:endParaRPr>
          </a:p>
        </p:txBody>
      </p:sp>
      <p:sp>
        <p:nvSpPr>
          <p:cNvPr id="10" name="Shape 10"/>
          <p:cNvSpPr/>
          <p:nvPr/>
        </p:nvSpPr>
        <p:spPr>
          <a:xfrm>
            <a:off x="800000" y="1700000"/>
            <a:ext cx="4500000" cy="365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E2E8F0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1100000" y="1980000"/>
            <a:ext cx="39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2100" b="1">
                <a:solidFill>
                  <a:srgbClr val="DC2626"/>
                </a:solidFill>
              </a:rPr>
              <a:t>原始方案流程</a:t>
            </a:r>
            <a:endParaRPr lang="zh-CN" sz="2100" b="1">
              <a:solidFill>
                <a:srgbClr val="DC2626"/>
              </a:solidFill>
            </a:endParaRPr>
          </a:p>
        </p:txBody>
      </p:sp>
      <p:sp>
        <p:nvSpPr>
          <p:cNvPr id="12" name="Bullets 12"/>
          <p:cNvSpPr txBox="1"/>
          <p:nvPr/>
        </p:nvSpPr>
        <p:spPr>
          <a:xfrm>
            <a:off x="1150000" y="2550000"/>
            <a:ext cx="3650000" cy="1700000"/>
          </a:xfrm>
          <a:prstGeom prst="rect">
            <a:avLst/>
          </a:prstGeom>
          <a:noFill/>
        </p:spPr>
        <p:txBody>
          <a:bodyPr wrap="square"/>
          <a:lstStyle/>
          <a:p>
            <a:pPr marL="259715" indent="-179705">
              <a:buChar char="•"/>
              <a:defRPr sz="1650">
                <a:solidFill>
                  <a:srgbClr val="334155"/>
                </a:solidFill>
              </a:defRPr>
            </a:pPr>
            <a:r>
              <a:rPr lang="zh-CN" sz="1650">
                <a:solidFill>
                  <a:srgbClr val="334155"/>
                </a:solidFill>
              </a:rPr>
              <a:t>先基于 WBM 数据建立 pattern 语义认知</a:t>
            </a:r>
            <a:endParaRPr lang="zh-CN" sz="16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650">
                <a:solidFill>
                  <a:srgbClr val="334155"/>
                </a:solidFill>
              </a:defRPr>
            </a:pPr>
            <a:r>
              <a:rPr lang="zh-CN" sz="1650">
                <a:solidFill>
                  <a:srgbClr val="334155"/>
                </a:solidFill>
              </a:rPr>
              <a:t>再将 WDM 散点整理为可与 WBM 对齐的表达</a:t>
            </a:r>
            <a:endParaRPr lang="zh-CN" sz="16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650">
                <a:solidFill>
                  <a:srgbClr val="334155"/>
                </a:solidFill>
              </a:defRPr>
            </a:pPr>
            <a:r>
              <a:rPr lang="zh-CN" sz="1650">
                <a:solidFill>
                  <a:srgbClr val="334155"/>
                </a:solidFill>
              </a:rPr>
              <a:t>随后缓解 WBM 与 WDM 的数据形态差异</a:t>
            </a:r>
            <a:endParaRPr lang="zh-CN" sz="1650">
              <a:solidFill>
                <a:srgbClr val="334155"/>
              </a:solidFill>
            </a:endParaRPr>
          </a:p>
        </p:txBody>
      </p:sp>
      <p:sp>
        <p:nvSpPr>
          <p:cNvPr id="13" name="Shape 13"/>
          <p:cNvSpPr/>
          <p:nvPr/>
        </p:nvSpPr>
        <p:spPr>
          <a:xfrm>
            <a:off x="6400000" y="1700000"/>
            <a:ext cx="4500000" cy="365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E2E8F0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6700000" y="1980000"/>
            <a:ext cx="39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2100" b="1">
                <a:solidFill>
                  <a:srgbClr val="059669"/>
                </a:solidFill>
              </a:rPr>
              <a:t>当前建模延展</a:t>
            </a:r>
            <a:endParaRPr lang="zh-CN" sz="2100" b="1">
              <a:solidFill>
                <a:srgbClr val="059669"/>
              </a:solidFill>
            </a:endParaRPr>
          </a:p>
        </p:txBody>
      </p:sp>
      <p:sp>
        <p:nvSpPr>
          <p:cNvPr id="15" name="Bullets 15"/>
          <p:cNvSpPr txBox="1"/>
          <p:nvPr/>
        </p:nvSpPr>
        <p:spPr>
          <a:xfrm>
            <a:off x="6750000" y="2550000"/>
            <a:ext cx="3650000" cy="1700000"/>
          </a:xfrm>
          <a:prstGeom prst="rect">
            <a:avLst/>
          </a:prstGeom>
          <a:noFill/>
        </p:spPr>
        <p:txBody>
          <a:bodyPr wrap="square"/>
          <a:lstStyle/>
          <a:p>
            <a:pPr marL="259715" indent="-179705">
              <a:buChar char="•"/>
              <a:defRPr sz="1650">
                <a:solidFill>
                  <a:srgbClr val="334155"/>
                </a:solidFill>
              </a:defRPr>
            </a:pPr>
            <a:r>
              <a:rPr lang="zh-CN" sz="1650">
                <a:solidFill>
                  <a:srgbClr val="334155"/>
                </a:solidFill>
              </a:rPr>
              <a:t>保留类别、形状、大小与位置等匹配线索</a:t>
            </a:r>
            <a:endParaRPr lang="zh-CN" sz="16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650">
                <a:solidFill>
                  <a:srgbClr val="334155"/>
                </a:solidFill>
              </a:defRPr>
            </a:pPr>
            <a:r>
              <a:rPr lang="zh-CN" sz="1650">
                <a:solidFill>
                  <a:srgbClr val="334155"/>
                </a:solidFill>
              </a:rPr>
              <a:t>从单张 WDM 匹配扩展到多 WDM 组合选择</a:t>
            </a:r>
            <a:endParaRPr lang="zh-CN" sz="16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650">
                <a:solidFill>
                  <a:srgbClr val="334155"/>
                </a:solidFill>
              </a:defRPr>
            </a:pPr>
            <a:r>
              <a:rPr lang="zh-CN" sz="1650">
                <a:solidFill>
                  <a:srgbClr val="334155"/>
                </a:solidFill>
              </a:rPr>
              <a:t>以组合叠图对 WBM 的整体解释度进行排序</a:t>
            </a:r>
            <a:endParaRPr lang="zh-CN" sz="1650">
              <a:solidFill>
                <a:srgbClr val="334155"/>
              </a:solidFill>
            </a:endParaRPr>
          </a:p>
        </p:txBody>
      </p:sp>
      <p:cxnSp>
        <p:nvCxnSpPr>
          <p:cNvPr id="16" name="Connector 16"/>
          <p:cNvCxnSpPr/>
          <p:nvPr/>
        </p:nvCxnSpPr>
        <p:spPr>
          <a:xfrm>
            <a:off x="5350000" y="3500000"/>
            <a:ext cx="950000" cy="1"/>
          </a:xfrm>
          <a:prstGeom prst="line">
            <a:avLst/>
          </a:prstGeom>
          <a:ln w="24000">
            <a:solidFill>
              <a:srgbClr val="2563EB"/>
            </a:solidFill>
            <a:tailEnd type="triangle"/>
          </a:ln>
        </p:spPr>
      </p:cxnSp>
      <p:sp>
        <p:nvSpPr>
          <p:cNvPr id="17" name="Shape 17"/>
          <p:cNvSpPr/>
          <p:nvPr/>
        </p:nvSpPr>
        <p:spPr>
          <a:xfrm>
            <a:off x="5030000" y="3220000"/>
            <a:ext cx="660000" cy="520000"/>
          </a:xfrm>
          <a:prstGeom prst="roundRect">
            <a:avLst/>
          </a:prstGeom>
          <a:solidFill>
            <a:srgbClr val="DBEAFE"/>
          </a:solidFill>
          <a:ln w="14000">
            <a:solidFill>
              <a:srgbClr val="2563EB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350" b="1">
                <a:solidFill>
                  <a:srgbClr val="111827"/>
                </a:solidFill>
              </a:rPr>
              <a:t>延展</a:t>
            </a:r>
            <a:endParaRPr lang="zh-CN" sz="1350" b="1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Shape 10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4000">
            <a:solidFill>
              <a:srgbClr val="F8FAFC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01" name="Text 1001"/>
          <p:cNvSpPr txBox="1"/>
          <p:nvPr/>
        </p:nvSpPr>
        <p:spPr>
          <a:xfrm>
            <a:off x="620000" y="300000"/>
            <a:ext cx="87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000" b="1">
                <a:solidFill>
                  <a:srgbClr val="111827"/>
                </a:solidFill>
              </a:rPr>
              <a:t>3. 端到端工作流程</a:t>
            </a:r>
            <a:endParaRPr lang="zh-CN" sz="3000" b="1">
              <a:solidFill>
                <a:srgbClr val="111827"/>
              </a:solidFill>
            </a:endParaRPr>
          </a:p>
        </p:txBody>
      </p:sp>
      <p:sp>
        <p:nvSpPr>
          <p:cNvPr id="1002" name="Text 1002"/>
          <p:cNvSpPr txBox="1"/>
          <p:nvPr/>
        </p:nvSpPr>
        <p:spPr>
          <a:xfrm>
            <a:off x="640000" y="820000"/>
            <a:ext cx="93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450">
                <a:solidFill>
                  <a:srgbClr val="64748B"/>
                </a:solidFill>
              </a:rPr>
              <a:t>整体流程承接原始匹配思路，并在最终阶段引入组合搜索与可解释输出。</a:t>
            </a:r>
            <a:endParaRPr lang="zh-CN" sz="1450">
              <a:solidFill>
                <a:srgbClr val="64748B"/>
              </a:solidFill>
            </a:endParaRPr>
          </a:p>
        </p:txBody>
      </p:sp>
      <p:sp>
        <p:nvSpPr>
          <p:cNvPr id="20" name="Shape 20"/>
          <p:cNvSpPr/>
          <p:nvPr/>
        </p:nvSpPr>
        <p:spPr>
          <a:xfrm>
            <a:off x="700000" y="2050000"/>
            <a:ext cx="1600000" cy="1100000"/>
          </a:xfrm>
          <a:prstGeom prst="roundRect">
            <a:avLst/>
          </a:prstGeom>
          <a:solidFill>
            <a:srgbClr val="FFEDD5"/>
          </a:solidFill>
          <a:ln w="14000">
            <a:solidFill>
              <a:srgbClr val="EA580C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450" b="1">
                <a:solidFill>
                  <a:srgbClr val="111827"/>
                </a:solidFill>
              </a:rPr>
              <a:t>WBM语义学习
建立失效模式认知</a:t>
            </a:r>
            <a:endParaRPr lang="zh-CN" sz="1450" b="1">
              <a:solidFill>
                <a:srgbClr val="111827"/>
              </a:solidFill>
            </a:endParaRPr>
          </a:p>
        </p:txBody>
      </p:sp>
      <p:cxnSp>
        <p:nvCxnSpPr>
          <p:cNvPr id="40" name="Connector 40"/>
          <p:cNvCxnSpPr/>
          <p:nvPr/>
        </p:nvCxnSpPr>
        <p:spPr>
          <a:xfrm>
            <a:off x="2300000" y="2600000"/>
            <a:ext cx="580000" cy="1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21" name="Shape 21"/>
          <p:cNvSpPr/>
          <p:nvPr/>
        </p:nvSpPr>
        <p:spPr>
          <a:xfrm>
            <a:off x="3000000" y="2050000"/>
            <a:ext cx="1600000" cy="1100000"/>
          </a:xfrm>
          <a:prstGeom prst="roundRect">
            <a:avLst/>
          </a:prstGeom>
          <a:solidFill>
            <a:srgbClr val="DBEAFE"/>
          </a:solidFill>
          <a:ln w="14000">
            <a:solidFill>
              <a:srgbClr val="2563EB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450" b="1">
                <a:solidFill>
                  <a:srgbClr val="111827"/>
                </a:solidFill>
              </a:rPr>
              <a:t>WDM散点处理
形成可对齐表达</a:t>
            </a:r>
            <a:endParaRPr lang="zh-CN" sz="1450" b="1">
              <a:solidFill>
                <a:srgbClr val="111827"/>
              </a:solidFill>
            </a:endParaRPr>
          </a:p>
        </p:txBody>
      </p:sp>
      <p:cxnSp>
        <p:nvCxnSpPr>
          <p:cNvPr id="41" name="Connector 41"/>
          <p:cNvCxnSpPr/>
          <p:nvPr/>
        </p:nvCxnSpPr>
        <p:spPr>
          <a:xfrm>
            <a:off x="4600000" y="2600000"/>
            <a:ext cx="580000" cy="1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22" name="Shape 22"/>
          <p:cNvSpPr/>
          <p:nvPr/>
        </p:nvSpPr>
        <p:spPr>
          <a:xfrm>
            <a:off x="5300000" y="2050000"/>
            <a:ext cx="1600000" cy="1100000"/>
          </a:xfrm>
          <a:prstGeom prst="roundRect">
            <a:avLst/>
          </a:prstGeom>
          <a:solidFill>
            <a:srgbClr val="D1FAE5"/>
          </a:solidFill>
          <a:ln w="14000">
            <a:solidFill>
              <a:srgbClr val="059669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450" b="1">
                <a:solidFill>
                  <a:srgbClr val="111827"/>
                </a:solidFill>
              </a:rPr>
              <a:t>跨域适配
缩小表达差异</a:t>
            </a:r>
            <a:endParaRPr lang="zh-CN" sz="1450" b="1">
              <a:solidFill>
                <a:srgbClr val="111827"/>
              </a:solidFill>
            </a:endParaRPr>
          </a:p>
        </p:txBody>
      </p:sp>
      <p:cxnSp>
        <p:nvCxnSpPr>
          <p:cNvPr id="42" name="Connector 42"/>
          <p:cNvCxnSpPr/>
          <p:nvPr/>
        </p:nvCxnSpPr>
        <p:spPr>
          <a:xfrm>
            <a:off x="6900000" y="2600000"/>
            <a:ext cx="580000" cy="1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23" name="Shape 23"/>
          <p:cNvSpPr/>
          <p:nvPr/>
        </p:nvSpPr>
        <p:spPr>
          <a:xfrm>
            <a:off x="7600000" y="2050000"/>
            <a:ext cx="1600000" cy="1100000"/>
          </a:xfrm>
          <a:prstGeom prst="roundRect">
            <a:avLst/>
          </a:prstGeom>
          <a:solidFill>
            <a:srgbClr val="EDE9FE"/>
          </a:solidFill>
          <a:ln w="14000">
            <a:solidFill>
              <a:srgbClr val="7C3AED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450" b="1">
                <a:solidFill>
                  <a:srgbClr val="111827"/>
                </a:solidFill>
              </a:rPr>
              <a:t>候选匹配
筛选相关WDM</a:t>
            </a:r>
            <a:endParaRPr lang="zh-CN" sz="1450" b="1">
              <a:solidFill>
                <a:srgbClr val="111827"/>
              </a:solidFill>
            </a:endParaRPr>
          </a:p>
        </p:txBody>
      </p:sp>
      <p:cxnSp>
        <p:nvCxnSpPr>
          <p:cNvPr id="43" name="Connector 43"/>
          <p:cNvCxnSpPr/>
          <p:nvPr/>
        </p:nvCxnSpPr>
        <p:spPr>
          <a:xfrm>
            <a:off x="9200000" y="2600000"/>
            <a:ext cx="580000" cy="1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24" name="Shape 24"/>
          <p:cNvSpPr/>
          <p:nvPr/>
        </p:nvSpPr>
        <p:spPr>
          <a:xfrm>
            <a:off x="9900000" y="2050000"/>
            <a:ext cx="1600000" cy="1100000"/>
          </a:xfrm>
          <a:prstGeom prst="roundRect">
            <a:avLst/>
          </a:prstGeom>
          <a:solidFill>
            <a:srgbClr val="FEE2E2"/>
          </a:solidFill>
          <a:ln w="14000">
            <a:solidFill>
              <a:srgbClr val="DC2626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450" b="1">
                <a:solidFill>
                  <a:srgbClr val="111827"/>
                </a:solidFill>
              </a:rPr>
              <a:t>组合解释
输出Top组合与叠图</a:t>
            </a:r>
            <a:endParaRPr lang="zh-CN" sz="1450" b="1">
              <a:solidFill>
                <a:srgbClr val="111827"/>
              </a:solidFill>
            </a:endParaRPr>
          </a:p>
        </p:txBody>
      </p:sp>
      <p:sp>
        <p:nvSpPr>
          <p:cNvPr id="60" name="Shape 60"/>
          <p:cNvSpPr/>
          <p:nvPr/>
        </p:nvSpPr>
        <p:spPr>
          <a:xfrm>
            <a:off x="900000" y="4200000"/>
            <a:ext cx="10100000" cy="90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800" b="1">
                <a:solidFill>
                  <a:srgbClr val="111827"/>
                </a:solidFill>
              </a:rPr>
              <a:t>关键原则：先建立可靠的单张匹配基础，再通过组合叠加解释复杂 WBM 失效分布，最终结果需支持工程复核。</a:t>
            </a:r>
            <a:endParaRPr lang="zh-CN" sz="1800" b="1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Shape 10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4000">
            <a:solidFill>
              <a:srgbClr val="F8FAFC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01" name="Text 1001"/>
          <p:cNvSpPr txBox="1"/>
          <p:nvPr/>
        </p:nvSpPr>
        <p:spPr>
          <a:xfrm>
            <a:off x="620000" y="300000"/>
            <a:ext cx="87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altLang="zh-CN" sz="3000" b="1">
                <a:solidFill>
                  <a:srgbClr val="111827"/>
                </a:solidFill>
              </a:rPr>
              <a:t>4</a:t>
            </a:r>
            <a:r>
              <a:rPr lang="zh-CN" sz="3000" b="1">
                <a:solidFill>
                  <a:srgbClr val="111827"/>
                </a:solidFill>
              </a:rPr>
              <a:t>. 候选空间压缩与组合搜索</a:t>
            </a:r>
            <a:endParaRPr lang="zh-CN" sz="3000" b="1">
              <a:solidFill>
                <a:srgbClr val="111827"/>
              </a:solidFill>
            </a:endParaRPr>
          </a:p>
        </p:txBody>
      </p:sp>
      <p:sp>
        <p:nvSpPr>
          <p:cNvPr id="1002" name="Text 1002"/>
          <p:cNvSpPr txBox="1"/>
          <p:nvPr/>
        </p:nvSpPr>
        <p:spPr>
          <a:xfrm>
            <a:off x="640000" y="820000"/>
            <a:ext cx="93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450">
                <a:solidFill>
                  <a:srgbClr val="64748B"/>
                </a:solidFill>
              </a:rPr>
              <a:t>采用先筛选、再组合的两阶段策略，在搜索效率、稳定性和解释性之间取得平衡。</a:t>
            </a:r>
            <a:endParaRPr lang="zh-CN" sz="1450">
              <a:solidFill>
                <a:srgbClr val="64748B"/>
              </a:solidFill>
            </a:endParaRPr>
          </a:p>
        </p:txBody>
      </p:sp>
      <p:sp>
        <p:nvSpPr>
          <p:cNvPr id="10" name="Shape 10"/>
          <p:cNvSpPr/>
          <p:nvPr/>
        </p:nvSpPr>
        <p:spPr>
          <a:xfrm>
            <a:off x="900000" y="1600000"/>
            <a:ext cx="2500000" cy="3600000"/>
          </a:xfrm>
          <a:prstGeom prst="trapezoid">
            <a:avLst/>
          </a:prstGeom>
          <a:solidFill>
            <a:srgbClr val="E5E7EB"/>
          </a:solidFill>
          <a:ln w="14000">
            <a:solidFill>
              <a:srgbClr val="94A3B8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700" b="1">
                <a:solidFill>
                  <a:srgbClr val="111827"/>
                </a:solidFill>
              </a:rPr>
              <a:t>完整候选集
N 张 WDM</a:t>
            </a:r>
            <a:endParaRPr lang="zh-CN" sz="1700" b="1">
              <a:solidFill>
                <a:srgbClr val="111827"/>
              </a:solidFill>
            </a:endParaRPr>
          </a:p>
        </p:txBody>
      </p:sp>
      <p:sp>
        <p:nvSpPr>
          <p:cNvPr id="11" name="Shape 11"/>
          <p:cNvSpPr/>
          <p:nvPr/>
        </p:nvSpPr>
        <p:spPr>
          <a:xfrm>
            <a:off x="4200000" y="2050000"/>
            <a:ext cx="2500000" cy="2700000"/>
          </a:xfrm>
          <a:prstGeom prst="trapezoid">
            <a:avLst/>
          </a:prstGeom>
          <a:solidFill>
            <a:srgbClr val="DBEAFE"/>
          </a:solidFill>
          <a:ln w="14000">
            <a:solidFill>
              <a:srgbClr val="2563EB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700" b="1">
                <a:solidFill>
                  <a:srgbClr val="111827"/>
                </a:solidFill>
              </a:rPr>
              <a:t>高相关候选
Top-M</a:t>
            </a:r>
            <a:endParaRPr lang="zh-CN" sz="1700" b="1">
              <a:solidFill>
                <a:srgbClr val="111827"/>
              </a:solidFill>
            </a:endParaRPr>
          </a:p>
        </p:txBody>
      </p:sp>
      <p:sp>
        <p:nvSpPr>
          <p:cNvPr id="12" name="Shape 12"/>
          <p:cNvSpPr/>
          <p:nvPr/>
        </p:nvSpPr>
        <p:spPr>
          <a:xfrm>
            <a:off x="7500000" y="2500000"/>
            <a:ext cx="2500000" cy="1800000"/>
          </a:xfrm>
          <a:prstGeom prst="trapezoid">
            <a:avLst/>
          </a:prstGeom>
          <a:solidFill>
            <a:srgbClr val="D1FAE5"/>
          </a:solidFill>
          <a:ln w="14000">
            <a:solidFill>
              <a:srgbClr val="059669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700" b="1">
                <a:solidFill>
                  <a:srgbClr val="111827"/>
                </a:solidFill>
              </a:rPr>
              <a:t>最优组合集
Top-K</a:t>
            </a:r>
            <a:endParaRPr lang="zh-CN" sz="1700" b="1">
              <a:solidFill>
                <a:srgbClr val="111827"/>
              </a:solidFill>
            </a:endParaRPr>
          </a:p>
        </p:txBody>
      </p:sp>
      <p:cxnSp>
        <p:nvCxnSpPr>
          <p:cNvPr id="13" name="Connector 13"/>
          <p:cNvCxnSpPr/>
          <p:nvPr/>
        </p:nvCxnSpPr>
        <p:spPr>
          <a:xfrm>
            <a:off x="3400000" y="3400000"/>
            <a:ext cx="700000" cy="1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cxnSp>
        <p:nvCxnSpPr>
          <p:cNvPr id="14" name="Connector 14"/>
          <p:cNvCxnSpPr/>
          <p:nvPr/>
        </p:nvCxnSpPr>
        <p:spPr>
          <a:xfrm>
            <a:off x="6700000" y="3400000"/>
            <a:ext cx="700000" cy="1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15" name="Bullets 15"/>
          <p:cNvSpPr txBox="1"/>
          <p:nvPr/>
        </p:nvSpPr>
        <p:spPr>
          <a:xfrm>
            <a:off x="900000" y="5400000"/>
            <a:ext cx="9400000" cy="700000"/>
          </a:xfrm>
          <a:prstGeom prst="rect">
            <a:avLst/>
          </a:prstGeom>
          <a:noFill/>
        </p:spPr>
        <p:txBody>
          <a:bodyPr wrap="square"/>
          <a:lstStyle/>
          <a:p>
            <a:pPr marL="259715" indent="-179705">
              <a:buChar char="•"/>
              <a:defRPr sz="1600">
                <a:solidFill>
                  <a:srgbClr val="334155"/>
                </a:solidFill>
              </a:defRPr>
            </a:pPr>
            <a:r>
              <a:rPr lang="zh-CN" sz="1600">
                <a:solidFill>
                  <a:srgbClr val="334155"/>
                </a:solidFill>
              </a:rPr>
              <a:t>第一版建议：先对单张 WDM 与 WBM 的相关性进行排序，保留 Top-M；再在该集合内搜索少量高质量组合。</a:t>
            </a:r>
            <a:endParaRPr lang="zh-CN" sz="1600">
              <a:solidFill>
                <a:srgbClr val="334155"/>
              </a:solidFill>
            </a:endParaRPr>
          </a:p>
        </p:txBody>
      </p:sp>
      <p:sp>
        <p:nvSpPr>
          <p:cNvPr id="9905" name="Text 9905"/>
          <p:cNvSpPr txBox="1"/>
          <p:nvPr/>
        </p:nvSpPr>
        <p:spPr>
          <a:xfrm>
            <a:off x="620000" y="6450000"/>
            <a:ext cx="5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50">
                <a:solidFill>
                  <a:srgbClr val="94A3B8"/>
                </a:solidFill>
              </a:rPr>
              <a:t>WBM-WDM 组合匹配方案 | 思路版</a:t>
            </a:r>
            <a:endParaRPr lang="zh-CN" sz="105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Shape 10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4000">
            <a:solidFill>
              <a:srgbClr val="F8FAFC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01" name="Text 1001"/>
          <p:cNvSpPr txBox="1"/>
          <p:nvPr/>
        </p:nvSpPr>
        <p:spPr>
          <a:xfrm>
            <a:off x="620000" y="300000"/>
            <a:ext cx="87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altLang="zh-CN" sz="3000" b="1">
                <a:solidFill>
                  <a:srgbClr val="111827"/>
                </a:solidFill>
              </a:rPr>
              <a:t>5</a:t>
            </a:r>
            <a:r>
              <a:rPr lang="zh-CN" sz="3000" b="1">
                <a:solidFill>
                  <a:srgbClr val="111827"/>
                </a:solidFill>
              </a:rPr>
              <a:t>. 组合质量评估原则</a:t>
            </a:r>
            <a:endParaRPr lang="zh-CN" sz="3000" b="1">
              <a:solidFill>
                <a:srgbClr val="111827"/>
              </a:solidFill>
            </a:endParaRPr>
          </a:p>
        </p:txBody>
      </p:sp>
      <p:sp>
        <p:nvSpPr>
          <p:cNvPr id="1002" name="Text 1002"/>
          <p:cNvSpPr txBox="1"/>
          <p:nvPr/>
        </p:nvSpPr>
        <p:spPr>
          <a:xfrm>
            <a:off x="640000" y="820000"/>
            <a:ext cx="93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450">
                <a:solidFill>
                  <a:srgbClr val="64748B"/>
                </a:solidFill>
              </a:rPr>
              <a:t>评估目标同时关注空间相似性、解释完整性和组合复杂度，避免单纯追求覆盖面积。</a:t>
            </a:r>
            <a:endParaRPr lang="zh-CN" sz="1450">
              <a:solidFill>
                <a:srgbClr val="64748B"/>
              </a:solidFill>
            </a:endParaRPr>
          </a:p>
        </p:txBody>
      </p:sp>
      <p:sp>
        <p:nvSpPr>
          <p:cNvPr id="20" name="Shape 20"/>
          <p:cNvSpPr/>
          <p:nvPr/>
        </p:nvSpPr>
        <p:spPr>
          <a:xfrm>
            <a:off x="1100000" y="1700000"/>
            <a:ext cx="2300000" cy="760000"/>
          </a:xfrm>
          <a:prstGeom prst="roundRect">
            <a:avLst/>
          </a:prstGeom>
          <a:solidFill>
            <a:srgbClr val="DBEAFE"/>
          </a:solidFill>
          <a:ln w="14000">
            <a:solidFill>
              <a:srgbClr val="2563EB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800" b="1">
                <a:solidFill>
                  <a:srgbClr val="111827"/>
                </a:solidFill>
              </a:rPr>
              <a:t>覆盖一致性</a:t>
            </a:r>
            <a:endParaRPr lang="zh-CN" sz="1800" b="1">
              <a:solidFill>
                <a:srgbClr val="111827"/>
              </a:solidFill>
            </a:endParaRPr>
          </a:p>
        </p:txBody>
      </p:sp>
      <p:sp>
        <p:nvSpPr>
          <p:cNvPr id="40" name="Text 40"/>
          <p:cNvSpPr txBox="1"/>
          <p:nvPr/>
        </p:nvSpPr>
        <p:spPr>
          <a:xfrm>
            <a:off x="3700000" y="1880000"/>
            <a:ext cx="5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650">
                <a:solidFill>
                  <a:srgbClr val="64748B"/>
                </a:solidFill>
              </a:rPr>
              <a:t>组合叠图是否覆盖 WBM 的关键失效区域</a:t>
            </a:r>
            <a:endParaRPr lang="zh-CN" sz="1650">
              <a:solidFill>
                <a:srgbClr val="64748B"/>
              </a:solidFill>
            </a:endParaRPr>
          </a:p>
        </p:txBody>
      </p:sp>
      <p:sp>
        <p:nvSpPr>
          <p:cNvPr id="21" name="Shape 21"/>
          <p:cNvSpPr/>
          <p:nvPr/>
        </p:nvSpPr>
        <p:spPr>
          <a:xfrm>
            <a:off x="1100000" y="2950000"/>
            <a:ext cx="2300000" cy="760000"/>
          </a:xfrm>
          <a:prstGeom prst="roundRect">
            <a:avLst/>
          </a:prstGeom>
          <a:solidFill>
            <a:srgbClr val="D1FAE5"/>
          </a:solidFill>
          <a:ln w="14000">
            <a:solidFill>
              <a:srgbClr val="059669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800" b="1">
                <a:solidFill>
                  <a:srgbClr val="111827"/>
                </a:solidFill>
              </a:rPr>
              <a:t>空间分布一致性</a:t>
            </a:r>
            <a:endParaRPr lang="zh-CN" sz="1800" b="1">
              <a:solidFill>
                <a:srgbClr val="111827"/>
              </a:solidFill>
            </a:endParaRPr>
          </a:p>
        </p:txBody>
      </p:sp>
      <p:sp>
        <p:nvSpPr>
          <p:cNvPr id="41" name="Text 41"/>
          <p:cNvSpPr txBox="1"/>
          <p:nvPr/>
        </p:nvSpPr>
        <p:spPr>
          <a:xfrm>
            <a:off x="3700000" y="3130000"/>
            <a:ext cx="5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650">
                <a:solidFill>
                  <a:srgbClr val="64748B"/>
                </a:solidFill>
              </a:rPr>
              <a:t>整体位置、形状与强度分布是否接近</a:t>
            </a:r>
            <a:endParaRPr lang="zh-CN" sz="1650">
              <a:solidFill>
                <a:srgbClr val="64748B"/>
              </a:solidFill>
            </a:endParaRPr>
          </a:p>
        </p:txBody>
      </p:sp>
      <p:sp>
        <p:nvSpPr>
          <p:cNvPr id="22" name="Shape 22"/>
          <p:cNvSpPr/>
          <p:nvPr/>
        </p:nvSpPr>
        <p:spPr>
          <a:xfrm>
            <a:off x="1100000" y="4200000"/>
            <a:ext cx="2300000" cy="760000"/>
          </a:xfrm>
          <a:prstGeom prst="roundRect">
            <a:avLst/>
          </a:prstGeom>
          <a:solidFill>
            <a:srgbClr val="FFEDD5"/>
          </a:solidFill>
          <a:ln w="14000">
            <a:solidFill>
              <a:srgbClr val="EA580C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800" b="1">
                <a:solidFill>
                  <a:srgbClr val="111827"/>
                </a:solidFill>
              </a:rPr>
              <a:t>组合复杂度约束</a:t>
            </a:r>
            <a:endParaRPr lang="zh-CN" sz="1800" b="1">
              <a:solidFill>
                <a:srgbClr val="111827"/>
              </a:solidFill>
            </a:endParaRPr>
          </a:p>
        </p:txBody>
      </p:sp>
      <p:sp>
        <p:nvSpPr>
          <p:cNvPr id="42" name="Text 42"/>
          <p:cNvSpPr txBox="1"/>
          <p:nvPr/>
        </p:nvSpPr>
        <p:spPr>
          <a:xfrm>
            <a:off x="3700000" y="4380000"/>
            <a:ext cx="5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650">
                <a:solidFill>
                  <a:srgbClr val="64748B"/>
                </a:solidFill>
              </a:rPr>
              <a:t>控制 WDM 选择数量，减少无关项干扰</a:t>
            </a:r>
            <a:endParaRPr lang="zh-CN" sz="1650">
              <a:solidFill>
                <a:srgbClr val="64748B"/>
              </a:solidFill>
            </a:endParaRPr>
          </a:p>
        </p:txBody>
      </p:sp>
      <p:sp>
        <p:nvSpPr>
          <p:cNvPr id="70" name="Shape 70"/>
          <p:cNvSpPr/>
          <p:nvPr/>
        </p:nvSpPr>
        <p:spPr>
          <a:xfrm>
            <a:off x="1650000" y="5450000"/>
            <a:ext cx="8300000" cy="560000"/>
          </a:xfrm>
          <a:prstGeom prst="roundRect">
            <a:avLst/>
          </a:prstGeom>
          <a:solidFill>
            <a:srgbClr val="EDE9FE"/>
          </a:solidFill>
          <a:ln w="14000">
            <a:solidFill>
              <a:srgbClr val="7C3AED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800" b="1">
                <a:solidFill>
                  <a:srgbClr val="111827"/>
                </a:solidFill>
              </a:rPr>
              <a:t>理想输出 = 高相似度 + 合理组合规模 + 可解释叠图</a:t>
            </a:r>
            <a:endParaRPr lang="zh-CN" sz="1800" b="1">
              <a:solidFill>
                <a:srgbClr val="111827"/>
              </a:solidFill>
            </a:endParaRPr>
          </a:p>
        </p:txBody>
      </p:sp>
      <p:sp>
        <p:nvSpPr>
          <p:cNvPr id="9906" name="Text 9906"/>
          <p:cNvSpPr txBox="1"/>
          <p:nvPr/>
        </p:nvSpPr>
        <p:spPr>
          <a:xfrm>
            <a:off x="620000" y="6450000"/>
            <a:ext cx="5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50">
                <a:solidFill>
                  <a:srgbClr val="94A3B8"/>
                </a:solidFill>
              </a:rPr>
              <a:t>WBM-WDM 组合匹配方案 | 思路版</a:t>
            </a:r>
            <a:endParaRPr lang="zh-CN" sz="105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Shape 10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4000">
            <a:solidFill>
              <a:srgbClr val="F8FAFC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01" name="Text 1001"/>
          <p:cNvSpPr txBox="1"/>
          <p:nvPr/>
        </p:nvSpPr>
        <p:spPr>
          <a:xfrm>
            <a:off x="620000" y="300000"/>
            <a:ext cx="87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altLang="zh-CN" sz="3000" b="1">
                <a:solidFill>
                  <a:srgbClr val="111827"/>
                </a:solidFill>
              </a:rPr>
              <a:t>6</a:t>
            </a:r>
            <a:r>
              <a:rPr lang="zh-CN" sz="3000" b="1">
                <a:solidFill>
                  <a:srgbClr val="111827"/>
                </a:solidFill>
              </a:rPr>
              <a:t>. 结果呈现方式</a:t>
            </a:r>
            <a:endParaRPr lang="zh-CN" sz="3000" b="1">
              <a:solidFill>
                <a:srgbClr val="111827"/>
              </a:solidFill>
            </a:endParaRPr>
          </a:p>
        </p:txBody>
      </p:sp>
      <p:sp>
        <p:nvSpPr>
          <p:cNvPr id="1002" name="Text 1002"/>
          <p:cNvSpPr txBox="1"/>
          <p:nvPr/>
        </p:nvSpPr>
        <p:spPr>
          <a:xfrm>
            <a:off x="640000" y="820000"/>
            <a:ext cx="93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450">
                <a:solidFill>
                  <a:srgbClr val="64748B"/>
                </a:solidFill>
              </a:rPr>
              <a:t>输出内容应支持工程复核，包括候选组合、选择向量、相似度排序和叠图可视化对比。</a:t>
            </a:r>
            <a:endParaRPr lang="zh-CN" sz="1450">
              <a:solidFill>
                <a:srgbClr val="64748B"/>
              </a:solidFill>
            </a:endParaRPr>
          </a:p>
        </p:txBody>
      </p:sp>
      <p:sp>
        <p:nvSpPr>
          <p:cNvPr id="10" name="Shape 10"/>
          <p:cNvSpPr/>
          <p:nvPr/>
        </p:nvSpPr>
        <p:spPr>
          <a:xfrm>
            <a:off x="800000" y="1700000"/>
            <a:ext cx="1450000" cy="1450000"/>
          </a:xfrm>
          <a:prstGeom prst="ellipse">
            <a:avLst/>
          </a:prstGeom>
          <a:solidFill>
            <a:srgbClr val="F8FAFC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" name="Shape 11"/>
          <p:cNvSpPr/>
          <p:nvPr/>
        </p:nvSpPr>
        <p:spPr>
          <a:xfrm>
            <a:off x="1307500" y="191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" name="Shape 12"/>
          <p:cNvSpPr/>
          <p:nvPr/>
        </p:nvSpPr>
        <p:spPr>
          <a:xfrm>
            <a:off x="1452500" y="191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3" name="Shape 13"/>
          <p:cNvSpPr/>
          <p:nvPr/>
        </p:nvSpPr>
        <p:spPr>
          <a:xfrm>
            <a:off x="1597500" y="191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4" name="Shape 14"/>
          <p:cNvSpPr/>
          <p:nvPr/>
        </p:nvSpPr>
        <p:spPr>
          <a:xfrm>
            <a:off x="1162500" y="206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5" name="Shape 15"/>
          <p:cNvSpPr/>
          <p:nvPr/>
        </p:nvSpPr>
        <p:spPr>
          <a:xfrm>
            <a:off x="1307500" y="2062500"/>
            <a:ext cx="136000" cy="136000"/>
          </a:xfrm>
          <a:prstGeom prst="rect">
            <a:avLst/>
          </a:prstGeom>
          <a:solidFill>
            <a:srgbClr val="F97316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6" name="Shape 16"/>
          <p:cNvSpPr/>
          <p:nvPr/>
        </p:nvSpPr>
        <p:spPr>
          <a:xfrm>
            <a:off x="1452500" y="206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7" name="Shape 17"/>
          <p:cNvSpPr/>
          <p:nvPr/>
        </p:nvSpPr>
        <p:spPr>
          <a:xfrm>
            <a:off x="1597500" y="206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8" name="Shape 18"/>
          <p:cNvSpPr/>
          <p:nvPr/>
        </p:nvSpPr>
        <p:spPr>
          <a:xfrm>
            <a:off x="1742500" y="206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9" name="Shape 19"/>
          <p:cNvSpPr/>
          <p:nvPr/>
        </p:nvSpPr>
        <p:spPr>
          <a:xfrm>
            <a:off x="1017500" y="220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0" name="Shape 20"/>
          <p:cNvSpPr/>
          <p:nvPr/>
        </p:nvSpPr>
        <p:spPr>
          <a:xfrm>
            <a:off x="1162500" y="220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1" name="Shape 21"/>
          <p:cNvSpPr/>
          <p:nvPr/>
        </p:nvSpPr>
        <p:spPr>
          <a:xfrm>
            <a:off x="1307500" y="2207500"/>
            <a:ext cx="136000" cy="136000"/>
          </a:xfrm>
          <a:prstGeom prst="rect">
            <a:avLst/>
          </a:prstGeom>
          <a:solidFill>
            <a:srgbClr val="F97316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2" name="Shape 22"/>
          <p:cNvSpPr/>
          <p:nvPr/>
        </p:nvSpPr>
        <p:spPr>
          <a:xfrm>
            <a:off x="1452500" y="2207500"/>
            <a:ext cx="136000" cy="136000"/>
          </a:xfrm>
          <a:prstGeom prst="rect">
            <a:avLst/>
          </a:prstGeom>
          <a:solidFill>
            <a:srgbClr val="F97316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3" name="Shape 23"/>
          <p:cNvSpPr/>
          <p:nvPr/>
        </p:nvSpPr>
        <p:spPr>
          <a:xfrm>
            <a:off x="1597500" y="220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4" name="Shape 24"/>
          <p:cNvSpPr/>
          <p:nvPr/>
        </p:nvSpPr>
        <p:spPr>
          <a:xfrm>
            <a:off x="1742500" y="220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5" name="Shape 25"/>
          <p:cNvSpPr/>
          <p:nvPr/>
        </p:nvSpPr>
        <p:spPr>
          <a:xfrm>
            <a:off x="1887500" y="220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6" name="Shape 26"/>
          <p:cNvSpPr/>
          <p:nvPr/>
        </p:nvSpPr>
        <p:spPr>
          <a:xfrm>
            <a:off x="1017500" y="235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7" name="Shape 27"/>
          <p:cNvSpPr/>
          <p:nvPr/>
        </p:nvSpPr>
        <p:spPr>
          <a:xfrm>
            <a:off x="1162500" y="235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8" name="Shape 28"/>
          <p:cNvSpPr/>
          <p:nvPr/>
        </p:nvSpPr>
        <p:spPr>
          <a:xfrm>
            <a:off x="1307500" y="235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9" name="Shape 29"/>
          <p:cNvSpPr/>
          <p:nvPr/>
        </p:nvSpPr>
        <p:spPr>
          <a:xfrm>
            <a:off x="1452500" y="235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0" name="Shape 30"/>
          <p:cNvSpPr/>
          <p:nvPr/>
        </p:nvSpPr>
        <p:spPr>
          <a:xfrm>
            <a:off x="1597500" y="2352500"/>
            <a:ext cx="136000" cy="136000"/>
          </a:xfrm>
          <a:prstGeom prst="rect">
            <a:avLst/>
          </a:prstGeom>
          <a:solidFill>
            <a:srgbClr val="F97316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1" name="Shape 31"/>
          <p:cNvSpPr/>
          <p:nvPr/>
        </p:nvSpPr>
        <p:spPr>
          <a:xfrm>
            <a:off x="1742500" y="235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2" name="Shape 32"/>
          <p:cNvSpPr/>
          <p:nvPr/>
        </p:nvSpPr>
        <p:spPr>
          <a:xfrm>
            <a:off x="1887500" y="235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3" name="Shape 33"/>
          <p:cNvSpPr/>
          <p:nvPr/>
        </p:nvSpPr>
        <p:spPr>
          <a:xfrm>
            <a:off x="1017500" y="249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4" name="Shape 34"/>
          <p:cNvSpPr/>
          <p:nvPr/>
        </p:nvSpPr>
        <p:spPr>
          <a:xfrm>
            <a:off x="1162500" y="249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5" name="Shape 35"/>
          <p:cNvSpPr/>
          <p:nvPr/>
        </p:nvSpPr>
        <p:spPr>
          <a:xfrm>
            <a:off x="1307500" y="249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6" name="Shape 36"/>
          <p:cNvSpPr/>
          <p:nvPr/>
        </p:nvSpPr>
        <p:spPr>
          <a:xfrm>
            <a:off x="1452500" y="249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7" name="Shape 37"/>
          <p:cNvSpPr/>
          <p:nvPr/>
        </p:nvSpPr>
        <p:spPr>
          <a:xfrm>
            <a:off x="1597500" y="2497500"/>
            <a:ext cx="136000" cy="136000"/>
          </a:xfrm>
          <a:prstGeom prst="rect">
            <a:avLst/>
          </a:prstGeom>
          <a:solidFill>
            <a:srgbClr val="F97316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8" name="Shape 38"/>
          <p:cNvSpPr/>
          <p:nvPr/>
        </p:nvSpPr>
        <p:spPr>
          <a:xfrm>
            <a:off x="1742500" y="249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39" name="Shape 39"/>
          <p:cNvSpPr/>
          <p:nvPr/>
        </p:nvSpPr>
        <p:spPr>
          <a:xfrm>
            <a:off x="1887500" y="249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0" name="Shape 40"/>
          <p:cNvSpPr/>
          <p:nvPr/>
        </p:nvSpPr>
        <p:spPr>
          <a:xfrm>
            <a:off x="1162500" y="264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1" name="Shape 41"/>
          <p:cNvSpPr/>
          <p:nvPr/>
        </p:nvSpPr>
        <p:spPr>
          <a:xfrm>
            <a:off x="1307500" y="264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2" name="Shape 42"/>
          <p:cNvSpPr/>
          <p:nvPr/>
        </p:nvSpPr>
        <p:spPr>
          <a:xfrm>
            <a:off x="1452500" y="264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3" name="Shape 43"/>
          <p:cNvSpPr/>
          <p:nvPr/>
        </p:nvSpPr>
        <p:spPr>
          <a:xfrm>
            <a:off x="1597500" y="264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4" name="Shape 44"/>
          <p:cNvSpPr/>
          <p:nvPr/>
        </p:nvSpPr>
        <p:spPr>
          <a:xfrm>
            <a:off x="1742500" y="264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5" name="Shape 45"/>
          <p:cNvSpPr/>
          <p:nvPr/>
        </p:nvSpPr>
        <p:spPr>
          <a:xfrm>
            <a:off x="1307500" y="278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6" name="Shape 46"/>
          <p:cNvSpPr/>
          <p:nvPr/>
        </p:nvSpPr>
        <p:spPr>
          <a:xfrm>
            <a:off x="1452500" y="278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7" name="Shape 47"/>
          <p:cNvSpPr/>
          <p:nvPr/>
        </p:nvSpPr>
        <p:spPr>
          <a:xfrm>
            <a:off x="1597500" y="278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48" name="Text 48"/>
          <p:cNvSpPr txBox="1"/>
          <p:nvPr/>
        </p:nvSpPr>
        <p:spPr>
          <a:xfrm>
            <a:off x="800000" y="3230000"/>
            <a:ext cx="145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350" b="1">
                <a:solidFill>
                  <a:srgbClr val="64748B"/>
                </a:solidFill>
              </a:rPr>
              <a:t>目标 WBM</a:t>
            </a:r>
            <a:endParaRPr lang="zh-CN" sz="1350" b="1">
              <a:solidFill>
                <a:srgbClr val="64748B"/>
              </a:solidFill>
            </a:endParaRPr>
          </a:p>
        </p:txBody>
      </p:sp>
      <p:sp>
        <p:nvSpPr>
          <p:cNvPr id="49" name="Shape 49"/>
          <p:cNvSpPr/>
          <p:nvPr/>
        </p:nvSpPr>
        <p:spPr>
          <a:xfrm>
            <a:off x="3500000" y="1700000"/>
            <a:ext cx="1450000" cy="1450000"/>
          </a:xfrm>
          <a:prstGeom prst="ellipse">
            <a:avLst/>
          </a:prstGeom>
          <a:solidFill>
            <a:srgbClr val="F8FAFC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0" name="Shape 50"/>
          <p:cNvSpPr/>
          <p:nvPr/>
        </p:nvSpPr>
        <p:spPr>
          <a:xfrm>
            <a:off x="4007500" y="191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1" name="Shape 51"/>
          <p:cNvSpPr/>
          <p:nvPr/>
        </p:nvSpPr>
        <p:spPr>
          <a:xfrm>
            <a:off x="4152500" y="191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2" name="Shape 52"/>
          <p:cNvSpPr/>
          <p:nvPr/>
        </p:nvSpPr>
        <p:spPr>
          <a:xfrm>
            <a:off x="4297500" y="191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3" name="Shape 53"/>
          <p:cNvSpPr/>
          <p:nvPr/>
        </p:nvSpPr>
        <p:spPr>
          <a:xfrm>
            <a:off x="3862500" y="206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4" name="Shape 54"/>
          <p:cNvSpPr/>
          <p:nvPr/>
        </p:nvSpPr>
        <p:spPr>
          <a:xfrm>
            <a:off x="4007500" y="206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5" name="Shape 55"/>
          <p:cNvSpPr/>
          <p:nvPr/>
        </p:nvSpPr>
        <p:spPr>
          <a:xfrm>
            <a:off x="4152500" y="206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6" name="Shape 56"/>
          <p:cNvSpPr/>
          <p:nvPr/>
        </p:nvSpPr>
        <p:spPr>
          <a:xfrm>
            <a:off x="4297500" y="206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7" name="Shape 57"/>
          <p:cNvSpPr/>
          <p:nvPr/>
        </p:nvSpPr>
        <p:spPr>
          <a:xfrm>
            <a:off x="4442500" y="206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8" name="Shape 58"/>
          <p:cNvSpPr/>
          <p:nvPr/>
        </p:nvSpPr>
        <p:spPr>
          <a:xfrm>
            <a:off x="3717500" y="220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59" name="Shape 59"/>
          <p:cNvSpPr/>
          <p:nvPr/>
        </p:nvSpPr>
        <p:spPr>
          <a:xfrm>
            <a:off x="3862500" y="220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0" name="Shape 60"/>
          <p:cNvSpPr/>
          <p:nvPr/>
        </p:nvSpPr>
        <p:spPr>
          <a:xfrm>
            <a:off x="4007500" y="2207500"/>
            <a:ext cx="136000" cy="136000"/>
          </a:xfrm>
          <a:prstGeom prst="rect">
            <a:avLst/>
          </a:prstGeom>
          <a:solidFill>
            <a:srgbClr val="3B82F6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1" name="Shape 61"/>
          <p:cNvSpPr/>
          <p:nvPr/>
        </p:nvSpPr>
        <p:spPr>
          <a:xfrm>
            <a:off x="4152500" y="220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2" name="Shape 62"/>
          <p:cNvSpPr/>
          <p:nvPr/>
        </p:nvSpPr>
        <p:spPr>
          <a:xfrm>
            <a:off x="4297500" y="220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3" name="Shape 63"/>
          <p:cNvSpPr/>
          <p:nvPr/>
        </p:nvSpPr>
        <p:spPr>
          <a:xfrm>
            <a:off x="4442500" y="220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4" name="Shape 64"/>
          <p:cNvSpPr/>
          <p:nvPr/>
        </p:nvSpPr>
        <p:spPr>
          <a:xfrm>
            <a:off x="4587500" y="220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5" name="Shape 65"/>
          <p:cNvSpPr/>
          <p:nvPr/>
        </p:nvSpPr>
        <p:spPr>
          <a:xfrm>
            <a:off x="3717500" y="235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6" name="Shape 66"/>
          <p:cNvSpPr/>
          <p:nvPr/>
        </p:nvSpPr>
        <p:spPr>
          <a:xfrm>
            <a:off x="3862500" y="235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7" name="Shape 67"/>
          <p:cNvSpPr/>
          <p:nvPr/>
        </p:nvSpPr>
        <p:spPr>
          <a:xfrm>
            <a:off x="4007500" y="235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8" name="Shape 68"/>
          <p:cNvSpPr/>
          <p:nvPr/>
        </p:nvSpPr>
        <p:spPr>
          <a:xfrm>
            <a:off x="4152500" y="235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69" name="Shape 69"/>
          <p:cNvSpPr/>
          <p:nvPr/>
        </p:nvSpPr>
        <p:spPr>
          <a:xfrm>
            <a:off x="4297500" y="2352500"/>
            <a:ext cx="136000" cy="136000"/>
          </a:xfrm>
          <a:prstGeom prst="rect">
            <a:avLst/>
          </a:prstGeom>
          <a:solidFill>
            <a:srgbClr val="3B82F6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0" name="Shape 70"/>
          <p:cNvSpPr/>
          <p:nvPr/>
        </p:nvSpPr>
        <p:spPr>
          <a:xfrm>
            <a:off x="4442500" y="235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1" name="Shape 71"/>
          <p:cNvSpPr/>
          <p:nvPr/>
        </p:nvSpPr>
        <p:spPr>
          <a:xfrm>
            <a:off x="4587500" y="235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2" name="Shape 72"/>
          <p:cNvSpPr/>
          <p:nvPr/>
        </p:nvSpPr>
        <p:spPr>
          <a:xfrm>
            <a:off x="3717500" y="249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3" name="Shape 73"/>
          <p:cNvSpPr/>
          <p:nvPr/>
        </p:nvSpPr>
        <p:spPr>
          <a:xfrm>
            <a:off x="3862500" y="249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4" name="Shape 74"/>
          <p:cNvSpPr/>
          <p:nvPr/>
        </p:nvSpPr>
        <p:spPr>
          <a:xfrm>
            <a:off x="4007500" y="249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5" name="Shape 75"/>
          <p:cNvSpPr/>
          <p:nvPr/>
        </p:nvSpPr>
        <p:spPr>
          <a:xfrm>
            <a:off x="4152500" y="249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6" name="Shape 76"/>
          <p:cNvSpPr/>
          <p:nvPr/>
        </p:nvSpPr>
        <p:spPr>
          <a:xfrm>
            <a:off x="4297500" y="249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7" name="Shape 77"/>
          <p:cNvSpPr/>
          <p:nvPr/>
        </p:nvSpPr>
        <p:spPr>
          <a:xfrm>
            <a:off x="4442500" y="249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8" name="Shape 78"/>
          <p:cNvSpPr/>
          <p:nvPr/>
        </p:nvSpPr>
        <p:spPr>
          <a:xfrm>
            <a:off x="4587500" y="249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79" name="Shape 79"/>
          <p:cNvSpPr/>
          <p:nvPr/>
        </p:nvSpPr>
        <p:spPr>
          <a:xfrm>
            <a:off x="3862500" y="264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0" name="Shape 80"/>
          <p:cNvSpPr/>
          <p:nvPr/>
        </p:nvSpPr>
        <p:spPr>
          <a:xfrm>
            <a:off x="4007500" y="264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1" name="Shape 81"/>
          <p:cNvSpPr/>
          <p:nvPr/>
        </p:nvSpPr>
        <p:spPr>
          <a:xfrm>
            <a:off x="4152500" y="264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2" name="Shape 82"/>
          <p:cNvSpPr/>
          <p:nvPr/>
        </p:nvSpPr>
        <p:spPr>
          <a:xfrm>
            <a:off x="4297500" y="264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3" name="Shape 83"/>
          <p:cNvSpPr/>
          <p:nvPr/>
        </p:nvSpPr>
        <p:spPr>
          <a:xfrm>
            <a:off x="4442500" y="264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4" name="Shape 84"/>
          <p:cNvSpPr/>
          <p:nvPr/>
        </p:nvSpPr>
        <p:spPr>
          <a:xfrm>
            <a:off x="4007500" y="278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5" name="Shape 85"/>
          <p:cNvSpPr/>
          <p:nvPr/>
        </p:nvSpPr>
        <p:spPr>
          <a:xfrm>
            <a:off x="4152500" y="278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6" name="Shape 86"/>
          <p:cNvSpPr/>
          <p:nvPr/>
        </p:nvSpPr>
        <p:spPr>
          <a:xfrm>
            <a:off x="4297500" y="278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7" name="Text 87"/>
          <p:cNvSpPr txBox="1"/>
          <p:nvPr/>
        </p:nvSpPr>
        <p:spPr>
          <a:xfrm>
            <a:off x="3500000" y="3230000"/>
            <a:ext cx="145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350" b="1">
                <a:solidFill>
                  <a:srgbClr val="64748B"/>
                </a:solidFill>
              </a:rPr>
              <a:t>最佳单张 WDM</a:t>
            </a:r>
            <a:endParaRPr lang="zh-CN" sz="1350" b="1">
              <a:solidFill>
                <a:srgbClr val="64748B"/>
              </a:solidFill>
            </a:endParaRPr>
          </a:p>
        </p:txBody>
      </p:sp>
      <p:sp>
        <p:nvSpPr>
          <p:cNvPr id="88" name="Shape 88"/>
          <p:cNvSpPr/>
          <p:nvPr/>
        </p:nvSpPr>
        <p:spPr>
          <a:xfrm>
            <a:off x="6200000" y="1700000"/>
            <a:ext cx="1450000" cy="1450000"/>
          </a:xfrm>
          <a:prstGeom prst="ellipse">
            <a:avLst/>
          </a:prstGeom>
          <a:solidFill>
            <a:srgbClr val="F8FAFC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89" name="Shape 89"/>
          <p:cNvSpPr/>
          <p:nvPr/>
        </p:nvSpPr>
        <p:spPr>
          <a:xfrm>
            <a:off x="6707500" y="191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90" name="Shape 90"/>
          <p:cNvSpPr/>
          <p:nvPr/>
        </p:nvSpPr>
        <p:spPr>
          <a:xfrm>
            <a:off x="6852500" y="191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91" name="Shape 91"/>
          <p:cNvSpPr/>
          <p:nvPr/>
        </p:nvSpPr>
        <p:spPr>
          <a:xfrm>
            <a:off x="6997500" y="191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92" name="Shape 92"/>
          <p:cNvSpPr/>
          <p:nvPr/>
        </p:nvSpPr>
        <p:spPr>
          <a:xfrm>
            <a:off x="6562500" y="206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93" name="Shape 93"/>
          <p:cNvSpPr/>
          <p:nvPr/>
        </p:nvSpPr>
        <p:spPr>
          <a:xfrm>
            <a:off x="6707500" y="2062500"/>
            <a:ext cx="136000" cy="136000"/>
          </a:xfrm>
          <a:prstGeom prst="rect">
            <a:avLst/>
          </a:prstGeom>
          <a:solidFill>
            <a:srgbClr val="22C55E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94" name="Shape 94"/>
          <p:cNvSpPr/>
          <p:nvPr/>
        </p:nvSpPr>
        <p:spPr>
          <a:xfrm>
            <a:off x="6852500" y="206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95" name="Shape 95"/>
          <p:cNvSpPr/>
          <p:nvPr/>
        </p:nvSpPr>
        <p:spPr>
          <a:xfrm>
            <a:off x="6997500" y="206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96" name="Shape 96"/>
          <p:cNvSpPr/>
          <p:nvPr/>
        </p:nvSpPr>
        <p:spPr>
          <a:xfrm>
            <a:off x="7142500" y="206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97" name="Shape 97"/>
          <p:cNvSpPr/>
          <p:nvPr/>
        </p:nvSpPr>
        <p:spPr>
          <a:xfrm>
            <a:off x="6417500" y="220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98" name="Shape 98"/>
          <p:cNvSpPr/>
          <p:nvPr/>
        </p:nvSpPr>
        <p:spPr>
          <a:xfrm>
            <a:off x="6562500" y="220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99" name="Shape 99"/>
          <p:cNvSpPr/>
          <p:nvPr/>
        </p:nvSpPr>
        <p:spPr>
          <a:xfrm>
            <a:off x="6707500" y="2207500"/>
            <a:ext cx="136000" cy="136000"/>
          </a:xfrm>
          <a:prstGeom prst="rect">
            <a:avLst/>
          </a:prstGeom>
          <a:solidFill>
            <a:srgbClr val="22C55E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0" name="Shape 100"/>
          <p:cNvSpPr/>
          <p:nvPr/>
        </p:nvSpPr>
        <p:spPr>
          <a:xfrm>
            <a:off x="6852500" y="2207500"/>
            <a:ext cx="136000" cy="136000"/>
          </a:xfrm>
          <a:prstGeom prst="rect">
            <a:avLst/>
          </a:prstGeom>
          <a:solidFill>
            <a:srgbClr val="22C55E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1" name="Shape 101"/>
          <p:cNvSpPr/>
          <p:nvPr/>
        </p:nvSpPr>
        <p:spPr>
          <a:xfrm>
            <a:off x="6997500" y="220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2" name="Shape 102"/>
          <p:cNvSpPr/>
          <p:nvPr/>
        </p:nvSpPr>
        <p:spPr>
          <a:xfrm>
            <a:off x="7142500" y="220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3" name="Shape 103"/>
          <p:cNvSpPr/>
          <p:nvPr/>
        </p:nvSpPr>
        <p:spPr>
          <a:xfrm>
            <a:off x="7287500" y="220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4" name="Shape 104"/>
          <p:cNvSpPr/>
          <p:nvPr/>
        </p:nvSpPr>
        <p:spPr>
          <a:xfrm>
            <a:off x="6417500" y="235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5" name="Shape 105"/>
          <p:cNvSpPr/>
          <p:nvPr/>
        </p:nvSpPr>
        <p:spPr>
          <a:xfrm>
            <a:off x="6562500" y="235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6" name="Shape 106"/>
          <p:cNvSpPr/>
          <p:nvPr/>
        </p:nvSpPr>
        <p:spPr>
          <a:xfrm>
            <a:off x="6707500" y="235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7" name="Shape 107"/>
          <p:cNvSpPr/>
          <p:nvPr/>
        </p:nvSpPr>
        <p:spPr>
          <a:xfrm>
            <a:off x="6852500" y="235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8" name="Shape 108"/>
          <p:cNvSpPr/>
          <p:nvPr/>
        </p:nvSpPr>
        <p:spPr>
          <a:xfrm>
            <a:off x="6997500" y="2352500"/>
            <a:ext cx="136000" cy="136000"/>
          </a:xfrm>
          <a:prstGeom prst="rect">
            <a:avLst/>
          </a:prstGeom>
          <a:solidFill>
            <a:srgbClr val="22C55E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9" name="Shape 109"/>
          <p:cNvSpPr/>
          <p:nvPr/>
        </p:nvSpPr>
        <p:spPr>
          <a:xfrm>
            <a:off x="7142500" y="235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0" name="Shape 110"/>
          <p:cNvSpPr/>
          <p:nvPr/>
        </p:nvSpPr>
        <p:spPr>
          <a:xfrm>
            <a:off x="7287500" y="235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1" name="Shape 111"/>
          <p:cNvSpPr/>
          <p:nvPr/>
        </p:nvSpPr>
        <p:spPr>
          <a:xfrm>
            <a:off x="6417500" y="249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2" name="Shape 112"/>
          <p:cNvSpPr/>
          <p:nvPr/>
        </p:nvSpPr>
        <p:spPr>
          <a:xfrm>
            <a:off x="6562500" y="249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3" name="Shape 113"/>
          <p:cNvSpPr/>
          <p:nvPr/>
        </p:nvSpPr>
        <p:spPr>
          <a:xfrm>
            <a:off x="6707500" y="249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4" name="Shape 114"/>
          <p:cNvSpPr/>
          <p:nvPr/>
        </p:nvSpPr>
        <p:spPr>
          <a:xfrm>
            <a:off x="6852500" y="249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5" name="Shape 115"/>
          <p:cNvSpPr/>
          <p:nvPr/>
        </p:nvSpPr>
        <p:spPr>
          <a:xfrm>
            <a:off x="6997500" y="2497500"/>
            <a:ext cx="136000" cy="136000"/>
          </a:xfrm>
          <a:prstGeom prst="rect">
            <a:avLst/>
          </a:prstGeom>
          <a:solidFill>
            <a:srgbClr val="22C55E"/>
          </a:solidFill>
          <a:ln w="14000">
            <a:solidFill>
              <a:srgbClr val="FFFFFF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6" name="Shape 116"/>
          <p:cNvSpPr/>
          <p:nvPr/>
        </p:nvSpPr>
        <p:spPr>
          <a:xfrm>
            <a:off x="7142500" y="249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7" name="Shape 117"/>
          <p:cNvSpPr/>
          <p:nvPr/>
        </p:nvSpPr>
        <p:spPr>
          <a:xfrm>
            <a:off x="7287500" y="249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8" name="Shape 118"/>
          <p:cNvSpPr/>
          <p:nvPr/>
        </p:nvSpPr>
        <p:spPr>
          <a:xfrm>
            <a:off x="6562500" y="264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9" name="Shape 119"/>
          <p:cNvSpPr/>
          <p:nvPr/>
        </p:nvSpPr>
        <p:spPr>
          <a:xfrm>
            <a:off x="6707500" y="264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0" name="Shape 120"/>
          <p:cNvSpPr/>
          <p:nvPr/>
        </p:nvSpPr>
        <p:spPr>
          <a:xfrm>
            <a:off x="6852500" y="264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1" name="Shape 121"/>
          <p:cNvSpPr/>
          <p:nvPr/>
        </p:nvSpPr>
        <p:spPr>
          <a:xfrm>
            <a:off x="6997500" y="264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2" name="Shape 122"/>
          <p:cNvSpPr/>
          <p:nvPr/>
        </p:nvSpPr>
        <p:spPr>
          <a:xfrm>
            <a:off x="7142500" y="2642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3" name="Shape 123"/>
          <p:cNvSpPr/>
          <p:nvPr/>
        </p:nvSpPr>
        <p:spPr>
          <a:xfrm>
            <a:off x="6707500" y="278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4" name="Shape 124"/>
          <p:cNvSpPr/>
          <p:nvPr/>
        </p:nvSpPr>
        <p:spPr>
          <a:xfrm>
            <a:off x="6852500" y="278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5" name="Shape 125"/>
          <p:cNvSpPr/>
          <p:nvPr/>
        </p:nvSpPr>
        <p:spPr>
          <a:xfrm>
            <a:off x="6997500" y="2787500"/>
            <a:ext cx="136000" cy="136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26" name="Text 126"/>
          <p:cNvSpPr txBox="1"/>
          <p:nvPr/>
        </p:nvSpPr>
        <p:spPr>
          <a:xfrm>
            <a:off x="6200000" y="3230000"/>
            <a:ext cx="145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350" b="1">
                <a:solidFill>
                  <a:srgbClr val="64748B"/>
                </a:solidFill>
              </a:rPr>
              <a:t>最佳组合</a:t>
            </a:r>
            <a:endParaRPr lang="zh-CN" sz="1350" b="1">
              <a:solidFill>
                <a:srgbClr val="64748B"/>
              </a:solidFill>
            </a:endParaRPr>
          </a:p>
        </p:txBody>
      </p:sp>
      <p:sp>
        <p:nvSpPr>
          <p:cNvPr id="127" name="Shape 127"/>
          <p:cNvSpPr/>
          <p:nvPr/>
        </p:nvSpPr>
        <p:spPr>
          <a:xfrm>
            <a:off x="8850000" y="1820000"/>
            <a:ext cx="2300000" cy="550000"/>
          </a:xfrm>
          <a:prstGeom prst="roundRect">
            <a:avLst/>
          </a:prstGeom>
          <a:solidFill>
            <a:srgbClr val="D1FAE5"/>
          </a:solidFill>
          <a:ln w="14000">
            <a:solidFill>
              <a:srgbClr val="059669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400" b="1">
                <a:solidFill>
                  <a:srgbClr val="111827"/>
                </a:solidFill>
              </a:rPr>
              <a:t>Top-1: WDM 2+5+8</a:t>
            </a:r>
            <a:endParaRPr lang="zh-CN" sz="1400" b="1">
              <a:solidFill>
                <a:srgbClr val="111827"/>
              </a:solidFill>
            </a:endParaRPr>
          </a:p>
        </p:txBody>
      </p:sp>
      <p:sp>
        <p:nvSpPr>
          <p:cNvPr id="128" name="Shape 128"/>
          <p:cNvSpPr/>
          <p:nvPr/>
        </p:nvSpPr>
        <p:spPr>
          <a:xfrm>
            <a:off x="8850000" y="2600000"/>
            <a:ext cx="2300000" cy="55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400">
                <a:solidFill>
                  <a:srgbClr val="111827"/>
                </a:solidFill>
              </a:rPr>
              <a:t>Top-2: WDM 2+6+8</a:t>
            </a:r>
            <a:endParaRPr lang="zh-CN" sz="1400">
              <a:solidFill>
                <a:srgbClr val="111827"/>
              </a:solidFill>
            </a:endParaRPr>
          </a:p>
        </p:txBody>
      </p:sp>
      <p:sp>
        <p:nvSpPr>
          <p:cNvPr id="129" name="Shape 129"/>
          <p:cNvSpPr/>
          <p:nvPr/>
        </p:nvSpPr>
        <p:spPr>
          <a:xfrm>
            <a:off x="8850000" y="3380000"/>
            <a:ext cx="2300000" cy="55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400">
                <a:solidFill>
                  <a:srgbClr val="111827"/>
                </a:solidFill>
              </a:rPr>
              <a:t>Top-3: WDM 1+5+8</a:t>
            </a:r>
            <a:endParaRPr lang="zh-CN" sz="1400">
              <a:solidFill>
                <a:srgbClr val="111827"/>
              </a:solidFill>
            </a:endParaRPr>
          </a:p>
        </p:txBody>
      </p:sp>
      <p:sp>
        <p:nvSpPr>
          <p:cNvPr id="130" name="Shape 130"/>
          <p:cNvSpPr/>
          <p:nvPr/>
        </p:nvSpPr>
        <p:spPr>
          <a:xfrm>
            <a:off x="1400000" y="5100000"/>
            <a:ext cx="8500000" cy="620000"/>
          </a:xfrm>
          <a:prstGeom prst="roundRect">
            <a:avLst/>
          </a:prstGeom>
          <a:solidFill>
            <a:srgbClr val="DBEAFE"/>
          </a:solidFill>
          <a:ln w="14000">
            <a:solidFill>
              <a:srgbClr val="2563EB"/>
            </a:solidFill>
          </a:ln>
        </p:spPr>
        <p:txBody>
          <a:bodyPr wrap="square" lIns="90000" rIns="90000" anchor="ctr"/>
          <a:lstStyle/>
          <a:p>
            <a:pPr algn="ctr"/>
            <a:r>
              <a:rPr lang="zh-CN" sz="1650" b="1">
                <a:solidFill>
                  <a:srgbClr val="111827"/>
                </a:solidFill>
              </a:rPr>
              <a:t>工程审核重点：验证组合叠图与 WBM 失效区域的一致性，降低对单一数值评分的依赖。</a:t>
            </a:r>
            <a:endParaRPr lang="zh-CN" sz="1650" b="1">
              <a:solidFill>
                <a:srgbClr val="111827"/>
              </a:solidFill>
            </a:endParaRPr>
          </a:p>
        </p:txBody>
      </p:sp>
      <p:sp>
        <p:nvSpPr>
          <p:cNvPr id="9907" name="Text 9907"/>
          <p:cNvSpPr txBox="1"/>
          <p:nvPr/>
        </p:nvSpPr>
        <p:spPr>
          <a:xfrm>
            <a:off x="620000" y="6450000"/>
            <a:ext cx="5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50">
                <a:solidFill>
                  <a:srgbClr val="94A3B8"/>
                </a:solidFill>
              </a:rPr>
              <a:t>WBM-WDM 组合匹配方案 | 思路版</a:t>
            </a:r>
            <a:endParaRPr lang="zh-CN" sz="1050">
              <a:solidFill>
                <a:srgbClr val="94A3B8"/>
              </a:solidFill>
            </a:endParaRPr>
          </a:p>
        </p:txBody>
      </p:sp>
      <p:sp>
        <p:nvSpPr>
          <p:cNvPr id="9908" name="Uniform WDM Dot 9908"/>
          <p:cNvSpPr/>
          <p:nvPr/>
        </p:nvSpPr>
        <p:spPr>
          <a:xfrm>
            <a:off x="4045000" y="2100000"/>
            <a:ext cx="70000" cy="70000"/>
          </a:xfrm>
          <a:prstGeom prst="ellipse">
            <a:avLst/>
          </a:prstGeom>
          <a:solidFill>
            <a:srgbClr val="2563EB"/>
          </a:solidFill>
          <a:ln w="9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909" name="Uniform WDM Dot 9909"/>
          <p:cNvSpPr/>
          <p:nvPr/>
        </p:nvSpPr>
        <p:spPr>
          <a:xfrm>
            <a:off x="4045000" y="2245000"/>
            <a:ext cx="70000" cy="70000"/>
          </a:xfrm>
          <a:prstGeom prst="ellipse">
            <a:avLst/>
          </a:prstGeom>
          <a:solidFill>
            <a:srgbClr val="2563EB"/>
          </a:solidFill>
          <a:ln w="9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910" name="Uniform WDM Dot 9910"/>
          <p:cNvSpPr/>
          <p:nvPr/>
        </p:nvSpPr>
        <p:spPr>
          <a:xfrm>
            <a:off x="4190000" y="2245000"/>
            <a:ext cx="70000" cy="70000"/>
          </a:xfrm>
          <a:prstGeom prst="ellipse">
            <a:avLst/>
          </a:prstGeom>
          <a:solidFill>
            <a:srgbClr val="2563EB"/>
          </a:solidFill>
          <a:ln w="9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911" name="Uniform WDM Dot 9911"/>
          <p:cNvSpPr/>
          <p:nvPr/>
        </p:nvSpPr>
        <p:spPr>
          <a:xfrm>
            <a:off x="4190000" y="2390000"/>
            <a:ext cx="70000" cy="70000"/>
          </a:xfrm>
          <a:prstGeom prst="ellipse">
            <a:avLst/>
          </a:prstGeom>
          <a:solidFill>
            <a:srgbClr val="2563EB"/>
          </a:solidFill>
          <a:ln w="9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912" name="Uniform WDM Dot 9912"/>
          <p:cNvSpPr/>
          <p:nvPr/>
        </p:nvSpPr>
        <p:spPr>
          <a:xfrm>
            <a:off x="4335000" y="2390000"/>
            <a:ext cx="70000" cy="70000"/>
          </a:xfrm>
          <a:prstGeom prst="ellipse">
            <a:avLst/>
          </a:prstGeom>
          <a:solidFill>
            <a:srgbClr val="2563EB"/>
          </a:solidFill>
          <a:ln w="90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913" name="Uniform WDM Dot 9913"/>
          <p:cNvSpPr/>
          <p:nvPr/>
        </p:nvSpPr>
        <p:spPr>
          <a:xfrm>
            <a:off x="4335000" y="2535000"/>
            <a:ext cx="70000" cy="70000"/>
          </a:xfrm>
          <a:prstGeom prst="ellipse">
            <a:avLst/>
          </a:prstGeom>
          <a:solidFill>
            <a:srgbClr val="2563EB"/>
          </a:solidFill>
          <a:ln w="9000">
            <a:solidFill>
              <a:srgbClr val="FFFFFF"/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Shape 10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4000">
            <a:solidFill>
              <a:srgbClr val="F8FAFC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001" name="Text 1001"/>
          <p:cNvSpPr txBox="1"/>
          <p:nvPr/>
        </p:nvSpPr>
        <p:spPr>
          <a:xfrm>
            <a:off x="620000" y="300000"/>
            <a:ext cx="87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altLang="zh-CN" sz="3000" b="1">
                <a:solidFill>
                  <a:srgbClr val="111827"/>
                </a:solidFill>
              </a:rPr>
              <a:t>7</a:t>
            </a:r>
            <a:r>
              <a:rPr lang="zh-CN" sz="3000" b="1">
                <a:solidFill>
                  <a:srgbClr val="111827"/>
                </a:solidFill>
              </a:rPr>
              <a:t>. 方案价值与验证路径</a:t>
            </a:r>
            <a:endParaRPr lang="zh-CN" sz="3000" b="1">
              <a:solidFill>
                <a:srgbClr val="111827"/>
              </a:solidFill>
            </a:endParaRPr>
          </a:p>
        </p:txBody>
      </p:sp>
      <p:sp>
        <p:nvSpPr>
          <p:cNvPr id="1002" name="Text 1002"/>
          <p:cNvSpPr txBox="1"/>
          <p:nvPr/>
        </p:nvSpPr>
        <p:spPr>
          <a:xfrm>
            <a:off x="640000" y="820000"/>
            <a:ext cx="93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450">
                <a:solidFill>
                  <a:srgbClr val="64748B"/>
                </a:solidFill>
              </a:rPr>
              <a:t>第一阶段目标是建立无标签条件下可解释、可验证、可迭代的组合匹配基线。</a:t>
            </a:r>
            <a:endParaRPr lang="zh-CN" sz="1450">
              <a:solidFill>
                <a:srgbClr val="64748B"/>
              </a:solidFill>
            </a:endParaRPr>
          </a:p>
        </p:txBody>
      </p:sp>
      <p:sp>
        <p:nvSpPr>
          <p:cNvPr id="10" name="Shape 10"/>
          <p:cNvSpPr/>
          <p:nvPr/>
        </p:nvSpPr>
        <p:spPr>
          <a:xfrm>
            <a:off x="1000000" y="1650000"/>
            <a:ext cx="4700000" cy="360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E2E8F0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1300000" y="1950000"/>
            <a:ext cx="41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2100" b="1">
                <a:solidFill>
                  <a:srgbClr val="059669"/>
                </a:solidFill>
              </a:rPr>
              <a:t>方案价值</a:t>
            </a:r>
            <a:endParaRPr lang="zh-CN" sz="2100" b="1">
              <a:solidFill>
                <a:srgbClr val="059669"/>
              </a:solidFill>
            </a:endParaRPr>
          </a:p>
        </p:txBody>
      </p:sp>
      <p:sp>
        <p:nvSpPr>
          <p:cNvPr id="12" name="Bullets 12"/>
          <p:cNvSpPr txBox="1"/>
          <p:nvPr/>
        </p:nvSpPr>
        <p:spPr>
          <a:xfrm>
            <a:off x="1300000" y="2500000"/>
            <a:ext cx="3900000" cy="1850000"/>
          </a:xfrm>
          <a:prstGeom prst="rect">
            <a:avLst/>
          </a:prstGeom>
          <a:noFill/>
        </p:spPr>
        <p:txBody>
          <a:bodyPr wrap="square"/>
          <a:lstStyle/>
          <a:p>
            <a:pPr marL="259715" indent="-179705">
              <a:buChar char="•"/>
              <a:defRPr sz="1650">
                <a:solidFill>
                  <a:srgbClr val="334155"/>
                </a:solidFill>
              </a:defRPr>
            </a:pPr>
            <a:r>
              <a:rPr lang="zh-CN" sz="1650">
                <a:solidFill>
                  <a:srgbClr val="334155"/>
                </a:solidFill>
              </a:rPr>
              <a:t>将匹配问题转化为组合解释问题</a:t>
            </a:r>
            <a:endParaRPr lang="zh-CN" sz="16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650">
                <a:solidFill>
                  <a:srgbClr val="334155"/>
                </a:solidFill>
              </a:defRPr>
            </a:pPr>
            <a:r>
              <a:rPr lang="zh-CN" sz="1650">
                <a:solidFill>
                  <a:srgbClr val="334155"/>
                </a:solidFill>
              </a:rPr>
              <a:t>输出候选组合、选择向量与排序结果</a:t>
            </a:r>
            <a:endParaRPr lang="zh-CN" sz="16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650">
                <a:solidFill>
                  <a:srgbClr val="334155"/>
                </a:solidFill>
              </a:defRPr>
            </a:pPr>
            <a:r>
              <a:rPr lang="zh-CN" sz="1650">
                <a:solidFill>
                  <a:srgbClr val="334155"/>
                </a:solidFill>
              </a:rPr>
              <a:t>通过叠图可视化支撑人工复核</a:t>
            </a:r>
            <a:endParaRPr lang="zh-CN" sz="16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650">
                <a:solidFill>
                  <a:srgbClr val="334155"/>
                </a:solidFill>
              </a:defRPr>
            </a:pPr>
            <a:r>
              <a:rPr lang="zh-CN" sz="1650">
                <a:solidFill>
                  <a:srgbClr val="334155"/>
                </a:solidFill>
              </a:rPr>
              <a:t>为后续配准与几何鲁棒性优化预留空间</a:t>
            </a:r>
            <a:endParaRPr lang="zh-CN" sz="1650">
              <a:solidFill>
                <a:srgbClr val="334155"/>
              </a:solidFill>
            </a:endParaRPr>
          </a:p>
        </p:txBody>
      </p:sp>
      <p:sp>
        <p:nvSpPr>
          <p:cNvPr id="20" name="Shape 20"/>
          <p:cNvSpPr/>
          <p:nvPr/>
        </p:nvSpPr>
        <p:spPr>
          <a:xfrm>
            <a:off x="6500000" y="1650000"/>
            <a:ext cx="4700000" cy="360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E2E8F0"/>
            </a:solidFill>
          </a:ln>
        </p:spPr>
        <p:txBody>
          <a:bodyPr wrap="square" lIns="90000" rIns="90000" anchor="ctr"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6800000" y="1950000"/>
            <a:ext cx="41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2100" b="1">
                <a:solidFill>
                  <a:srgbClr val="2563EB"/>
                </a:solidFill>
              </a:rPr>
              <a:t>验证路径</a:t>
            </a:r>
            <a:endParaRPr lang="zh-CN" sz="2100" b="1">
              <a:solidFill>
                <a:srgbClr val="2563EB"/>
              </a:solidFill>
            </a:endParaRPr>
          </a:p>
        </p:txBody>
      </p:sp>
      <p:sp>
        <p:nvSpPr>
          <p:cNvPr id="22" name="Bullets 22"/>
          <p:cNvSpPr txBox="1"/>
          <p:nvPr/>
        </p:nvSpPr>
        <p:spPr>
          <a:xfrm>
            <a:off x="6800000" y="2500000"/>
            <a:ext cx="3900000" cy="1850000"/>
          </a:xfrm>
          <a:prstGeom prst="rect">
            <a:avLst/>
          </a:prstGeom>
          <a:noFill/>
        </p:spPr>
        <p:txBody>
          <a:bodyPr wrap="square"/>
          <a:lstStyle/>
          <a:p>
            <a:pPr marL="259715" indent="-179705">
              <a:buChar char="•"/>
              <a:defRPr sz="1650">
                <a:solidFill>
                  <a:srgbClr val="334155"/>
                </a:solidFill>
              </a:defRPr>
            </a:pPr>
            <a:r>
              <a:rPr lang="zh-CN" sz="1650">
                <a:solidFill>
                  <a:srgbClr val="334155"/>
                </a:solidFill>
              </a:rPr>
              <a:t>组合方案相对最佳单张 WDM是否有稳定提升</a:t>
            </a:r>
            <a:endParaRPr lang="zh-CN" sz="16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650">
                <a:solidFill>
                  <a:srgbClr val="334155"/>
                </a:solidFill>
              </a:defRPr>
            </a:pPr>
            <a:r>
              <a:rPr lang="zh-CN" sz="1650">
                <a:solidFill>
                  <a:srgbClr val="334155"/>
                </a:solidFill>
              </a:rPr>
              <a:t>Top-3 结果的人工审核通过率</a:t>
            </a:r>
            <a:endParaRPr lang="zh-CN" sz="16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650">
                <a:solidFill>
                  <a:srgbClr val="334155"/>
                </a:solidFill>
              </a:defRPr>
            </a:pPr>
            <a:r>
              <a:rPr lang="zh-CN" sz="1650">
                <a:solidFill>
                  <a:srgbClr val="334155"/>
                </a:solidFill>
              </a:rPr>
              <a:t>WDM 选择数量分布是否合理</a:t>
            </a:r>
            <a:endParaRPr lang="zh-CN" sz="1650">
              <a:solidFill>
                <a:srgbClr val="334155"/>
              </a:solidFill>
            </a:endParaRPr>
          </a:p>
          <a:p>
            <a:pPr marL="259715" indent="-179705">
              <a:buChar char="•"/>
              <a:defRPr sz="1650">
                <a:solidFill>
                  <a:srgbClr val="334155"/>
                </a:solidFill>
              </a:defRPr>
            </a:pPr>
            <a:r>
              <a:rPr lang="zh-CN" sz="1650">
                <a:solidFill>
                  <a:srgbClr val="334155"/>
                </a:solidFill>
              </a:rPr>
              <a:t>不同样本与参数下结果是否稳定</a:t>
            </a:r>
            <a:endParaRPr lang="zh-CN" sz="1650">
              <a:solidFill>
                <a:srgbClr val="334155"/>
              </a:solidFill>
            </a:endParaRPr>
          </a:p>
        </p:txBody>
      </p:sp>
      <p:sp>
        <p:nvSpPr>
          <p:cNvPr id="9908" name="Text 9908"/>
          <p:cNvSpPr txBox="1"/>
          <p:nvPr/>
        </p:nvSpPr>
        <p:spPr>
          <a:xfrm>
            <a:off x="620000" y="6450000"/>
            <a:ext cx="5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50">
                <a:solidFill>
                  <a:srgbClr val="94A3B8"/>
                </a:solidFill>
              </a:rPr>
              <a:t>WBM-WDM 组合匹配方案 | 思路版</a:t>
            </a:r>
            <a:endParaRPr lang="zh-CN" sz="105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827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059669"/>
      </a:accent2>
      <a:accent3>
        <a:srgbClr val="EA580C"/>
      </a:accent3>
      <a:accent4>
        <a:srgbClr val="7C3AED"/>
      </a:accent4>
      <a:accent5>
        <a:srgbClr val="DC2626"/>
      </a:accent5>
      <a:accent6>
        <a:srgbClr val="0891B2"/>
      </a:accent6>
      <a:hlink>
        <a:srgbClr val="2563EB"/>
      </a:hlink>
      <a:folHlink>
        <a:srgbClr val="FFFFFF"/>
      </a:folHlink>
    </a:clrScheme>
    <a:fontScheme name="Office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  <a:ln/>
        <a:ln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1400</Words>
  <Application>WPS 演示</Application>
  <PresentationFormat>On-screen Show (16:9)</PresentationFormat>
  <Paragraphs>145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汉仪旗黑</vt:lpstr>
      <vt:lpstr>微软雅黑</vt:lpstr>
      <vt:lpstr>宋体</vt:lpstr>
      <vt:lpstr>Arial Unicode MS</vt:lpstr>
      <vt:lpstr>Calibri</vt:lpstr>
      <vt:lpstr>Helvetica Neue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WBM-WDM Combinatorial Matching Solution</dc:title>
  <dc:creator>OpenCode</dc:creator>
  <cp:lastModifiedBy>kayw</cp:lastModifiedBy>
  <cp:revision>3</cp:revision>
  <dcterms:created xsi:type="dcterms:W3CDTF">2026-06-09T10:00:23Z</dcterms:created>
  <dcterms:modified xsi:type="dcterms:W3CDTF">2026-06-09T10:00:23Z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37EA53FC1DC65D5A5FE0276AE65B4FDB_42</vt:lpwstr>
  </property>
  <property fmtid="{D5CDD505-2E9C-101B-9397-08002B2CF9AE}" pid="3" name="KSOProductBuildVer">
    <vt:lpwstr>2052-7.2.2.8955</vt:lpwstr>
  </property>
</Properties>
</file>