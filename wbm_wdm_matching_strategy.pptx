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7" r:id="rId5"/>
    <p:sldId id="258" r:id="rId6"/>
    <p:sldId id="259" r:id="rId7"/>
    <p:sldId id="260" r:id="rId8"/>
    <p:sldId id="272" r:id="rId9"/>
    <p:sldId id="262" r:id="rId10"/>
    <p:sldId id="263" r:id="rId11"/>
    <p:sldId id="266" r:id="rId12"/>
    <p:sldId id="267" r:id="rId13"/>
    <p:sldId id="269" r:id="rId14"/>
    <p:sldId id="274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572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5D2A"/>
                </a:solidFill>
              </a:defRPr>
            </a:pPr>
            <a:r>
              <a:rPr sz="1350" b="1">
                <a:solidFill>
                  <a:srgbClr val="E85D2A"/>
                </a:solidFill>
              </a:rPr>
              <a:t>CP map-Defect mapMatching</a:t>
            </a:r>
            <a:endParaRPr sz="135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600200"/>
            <a:ext cx="723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101114"/>
                </a:solidFill>
              </a:defRPr>
            </a:pPr>
            <a:r>
              <a:rPr sz="4650" b="1">
                <a:solidFill>
                  <a:srgbClr val="101114"/>
                </a:solidFill>
              </a:rPr>
              <a:t>局部匹配策略</a:t>
            </a:r>
            <a:endParaRPr sz="465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26860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555B63"/>
                </a:solidFill>
              </a:defRPr>
            </a:pPr>
            <a:r>
              <a:rPr sz="1875" b="0">
                <a:solidFill>
                  <a:srgbClr val="555B63"/>
                </a:solidFill>
              </a:rPr>
              <a:t>Proposal、Descriptor、Token Matching、Count-Partial 与 Classnumber 方案梳理</a:t>
            </a:r>
            <a:endParaRPr sz="1875" b="0">
              <a:solidFill>
                <a:srgbClr val="555B6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524750" y="1104900"/>
            <a:ext cx="3733800" cy="39052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86700" y="1790700"/>
            <a:ext cx="889000" cy="8191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20050" y="1962150"/>
            <a:ext cx="622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lang="en-US" sz="1350" b="1">
                <a:solidFill>
                  <a:srgbClr val="101114"/>
                </a:solidFill>
              </a:rPr>
              <a:t>CP </a:t>
            </a:r>
            <a:r>
              <a:rPr lang="en-US" sz="1350" b="1">
                <a:solidFill>
                  <a:srgbClr val="101114"/>
                </a:solidFill>
              </a:rPr>
              <a:t>map</a:t>
            </a:r>
            <a:endParaRPr lang="en-US" sz="1350" b="1">
              <a:solidFill>
                <a:srgbClr val="1011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6175" y="201930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100" b="0">
                <a:solidFill>
                  <a:srgbClr val="E85D2A"/>
                </a:solidFill>
              </a:rPr>
              <a:t>→</a:t>
            </a:r>
            <a:endParaRPr sz="2100" b="0">
              <a:solidFill>
                <a:srgbClr val="E85D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47150" y="1790700"/>
            <a:ext cx="889000" cy="8191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49690" y="1962150"/>
            <a:ext cx="83629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lang="en-US" sz="1350" b="1">
                <a:solidFill>
                  <a:srgbClr val="101114"/>
                </a:solidFill>
              </a:rPr>
              <a:t>Defect </a:t>
            </a:r>
            <a:r>
              <a:rPr lang="en-US" sz="1350" b="1">
                <a:solidFill>
                  <a:srgbClr val="101114"/>
                </a:solidFill>
              </a:rPr>
              <a:t>Map</a:t>
            </a:r>
            <a:endParaRPr lang="en-US" sz="1350" b="1">
              <a:solidFill>
                <a:srgbClr val="1011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826625" y="201930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100" b="0">
                <a:solidFill>
                  <a:srgbClr val="E85D2A"/>
                </a:solidFill>
              </a:rPr>
              <a:t>→</a:t>
            </a:r>
            <a:endParaRPr sz="2100" b="0">
              <a:solidFill>
                <a:srgbClr val="E85D2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007600" y="1790700"/>
            <a:ext cx="889000" cy="8191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140950" y="1962150"/>
            <a:ext cx="622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TO</a:t>
            </a:r>
            <a:r>
              <a:rPr lang="en-US" sz="1350" b="1">
                <a:solidFill>
                  <a:srgbClr val="101114"/>
                </a:solidFill>
              </a:rPr>
              <a:t>P</a:t>
            </a:r>
            <a:r>
              <a:rPr sz="1350" b="1">
                <a:solidFill>
                  <a:srgbClr val="101114"/>
                </a:solidFill>
              </a:rPr>
              <a:t>K</a:t>
            </a:r>
            <a:endParaRPr sz="1350" b="1">
              <a:solidFill>
                <a:srgbClr val="101114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86700" y="3162300"/>
            <a:ext cx="29146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01114"/>
                </a:solidFill>
              </a:defRPr>
            </a:pPr>
            <a:r>
              <a:rPr sz="1575" b="0">
                <a:solidFill>
                  <a:srgbClr val="101114"/>
                </a:solidFill>
              </a:rPr>
              <a:t>目标：从 KLARF 候选 </a:t>
            </a:r>
            <a:r>
              <a:rPr lang="en-US" sz="1575" b="0">
                <a:solidFill>
                  <a:srgbClr val="101114"/>
                </a:solidFill>
              </a:rPr>
              <a:t>Defect Map</a:t>
            </a:r>
            <a:r>
              <a:rPr sz="1575" b="0">
                <a:solidFill>
                  <a:srgbClr val="101114"/>
                </a:solidFill>
              </a:rPr>
              <a:t> 中找到能解释目标 </a:t>
            </a:r>
            <a:r>
              <a:rPr lang="en-US" sz="1575" b="0">
                <a:solidFill>
                  <a:srgbClr val="101114"/>
                </a:solidFill>
              </a:rPr>
              <a:t>CP map</a:t>
            </a:r>
            <a:r>
              <a:rPr sz="1575" b="0">
                <a:solidFill>
                  <a:srgbClr val="101114"/>
                </a:solidFill>
              </a:rPr>
              <a:t> 失效区域的局部证据。</a:t>
            </a:r>
            <a:endParaRPr sz="1575" b="0">
              <a:solidFill>
                <a:srgbClr val="10111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200" b="1">
                <a:solidFill>
                  <a:srgbClr val="E85D2A"/>
                </a:solidFill>
              </a:rPr>
              <a:t>Overview</a:t>
            </a:r>
            <a:endParaRPr sz="120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6477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总体流水线：从坐标映射到可解释局部得分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33500"/>
            <a:ext cx="11087100" cy="9525"/>
          </a:xfrm>
          <a:prstGeom prst="rect">
            <a:avLst/>
          </a:prstGeom>
          <a:solidFill>
            <a:srgbClr val="C7CBD1"/>
          </a:solidFill>
          <a:ln w="0">
            <a:solidFill>
              <a:srgbClr val="C7CBD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809750"/>
            <a:ext cx="1704975" cy="8191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KLARF 缺陷表</a:t>
            </a:r>
            <a:endParaRPr sz="1350" b="1">
              <a:solidFill>
                <a:srgbClr val="1011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247900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100" b="0">
                <a:solidFill>
                  <a:srgbClr val="E85D2A"/>
                </a:solidFill>
              </a:rPr>
              <a:t>→</a:t>
            </a:r>
            <a:endParaRPr sz="2100" b="0">
              <a:solidFill>
                <a:srgbClr val="E85D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28875" y="1809750"/>
            <a:ext cx="1704975" cy="8191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562225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坐标映射</a:t>
            </a:r>
            <a:endParaRPr sz="1350" b="1">
              <a:solidFill>
                <a:srgbClr val="10111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124325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100" b="0">
                <a:solidFill>
                  <a:srgbClr val="E85D2A"/>
                </a:solidFill>
              </a:rPr>
              <a:t>→</a:t>
            </a:r>
            <a:endParaRPr sz="2100" b="0">
              <a:solidFill>
                <a:srgbClr val="E85D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05300" y="1809750"/>
            <a:ext cx="1704975" cy="8191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38650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GridMaps</a:t>
            </a:r>
            <a:endParaRPr sz="1350" b="1">
              <a:solidFill>
                <a:srgbClr val="10111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00750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100" b="0">
                <a:solidFill>
                  <a:srgbClr val="E85D2A"/>
                </a:solidFill>
              </a:rPr>
              <a:t>→</a:t>
            </a:r>
            <a:endParaRPr sz="2100" b="0">
              <a:solidFill>
                <a:srgbClr val="E85D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81725" y="1809750"/>
            <a:ext cx="1704975" cy="8191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15075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  <a:highlight>
                  <a:srgbClr val="FFFF00"/>
                </a:highlight>
              </a:rPr>
              <a:t>Proposal tokens</a:t>
            </a:r>
            <a:endParaRPr sz="1350" b="1">
              <a:solidFill>
                <a:srgbClr val="101114"/>
              </a:solidFill>
              <a:highlight>
                <a:srgbClr val="FFFF00"/>
              </a:highlight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77175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100" b="0">
                <a:solidFill>
                  <a:srgbClr val="E85D2A"/>
                </a:solidFill>
              </a:rPr>
              <a:t>→</a:t>
            </a:r>
            <a:endParaRPr sz="2100" b="0">
              <a:solidFill>
                <a:srgbClr val="E85D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58150" y="1809750"/>
            <a:ext cx="1704975" cy="8191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0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  <a:highlight>
                  <a:srgbClr val="FFFF00"/>
                </a:highlight>
              </a:rPr>
              <a:t>局部匹配</a:t>
            </a:r>
            <a:endParaRPr sz="1350" b="1">
              <a:solidFill>
                <a:srgbClr val="101114"/>
              </a:solidFill>
              <a:highlight>
                <a:srgbClr val="FFFF00"/>
              </a:highlight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100" b="0">
                <a:solidFill>
                  <a:srgbClr val="E85D2A"/>
                </a:solidFill>
              </a:rPr>
              <a:t>→</a:t>
            </a:r>
            <a:endParaRPr sz="2100" b="0">
              <a:solidFill>
                <a:srgbClr val="E85D2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934575" y="1809750"/>
            <a:ext cx="1704975" cy="8191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067925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350" b="1">
                <a:solidFill>
                  <a:srgbClr val="101114"/>
                </a:solidFill>
              </a:rPr>
              <a:t>Top-K 输出</a:t>
            </a:r>
            <a:endParaRPr sz="1350" b="1">
              <a:solidFill>
                <a:srgbClr val="101114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51180" y="2780665"/>
            <a:ext cx="10863580" cy="3753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/>
              <a:t>  1. Proposal extraction</a:t>
            </a:r>
            <a:endParaRPr lang="en-US" altLang="zh-CN" sz="1400"/>
          </a:p>
          <a:p>
            <a:r>
              <a:rPr lang="en-US" altLang="zh-CN" sz="1400"/>
              <a:t>     </a:t>
            </a:r>
            <a:r>
              <a:rPr lang="zh-CN" altLang="en-US" sz="1400"/>
              <a:t>分别从</a:t>
            </a:r>
            <a:r>
              <a:rPr lang="en-US" altLang="zh-CN" sz="1400"/>
              <a:t> Defect map </a:t>
            </a:r>
            <a:r>
              <a:rPr lang="zh-CN" altLang="en-US" sz="1400"/>
              <a:t>和</a:t>
            </a:r>
            <a:r>
              <a:rPr lang="en-US" altLang="zh-CN" sz="1400"/>
              <a:t> CP map </a:t>
            </a:r>
            <a:r>
              <a:rPr lang="zh-CN" altLang="en-US" sz="1400"/>
              <a:t>中提取局部候选区域，并计算区域级统计特征</a:t>
            </a:r>
            <a:r>
              <a:rPr lang="en-US" altLang="zh-CN" sz="1400"/>
              <a:t>，</a:t>
            </a:r>
            <a:r>
              <a:rPr lang="zh-CN" altLang="en-US" sz="1400"/>
              <a:t>包括面积、质量、质心、</a:t>
            </a:r>
            <a:r>
              <a:rPr lang="en-US" altLang="zh-CN" sz="1400"/>
              <a:t>bbox</a:t>
            </a:r>
            <a:r>
              <a:rPr lang="zh-CN" altLang="en-US" sz="1400"/>
              <a:t>、</a:t>
            </a:r>
            <a:r>
              <a:rPr lang="en-US" altLang="zh-CN" sz="1400"/>
              <a:t>PCA</a:t>
            </a:r>
            <a:r>
              <a:rPr lang="zh-CN" altLang="en-US" sz="1400"/>
              <a:t>、径向位置等。</a:t>
            </a:r>
            <a:endParaRPr lang="zh-CN" altLang="en-US" sz="1400"/>
          </a:p>
          <a:p>
            <a:endParaRPr lang="en-US" altLang="zh-CN" sz="1400"/>
          </a:p>
          <a:p>
            <a:r>
              <a:rPr lang="en-US" altLang="zh-CN" sz="1400"/>
              <a:t>  2. Descriptor construction</a:t>
            </a:r>
            <a:endParaRPr lang="en-US" altLang="zh-CN" sz="1400"/>
          </a:p>
          <a:p>
            <a:r>
              <a:rPr lang="en-US" altLang="zh-CN" sz="1400"/>
              <a:t>     </a:t>
            </a:r>
            <a:r>
              <a:rPr lang="zh-CN" altLang="en-US" sz="1400"/>
              <a:t>基于</a:t>
            </a:r>
            <a:r>
              <a:rPr lang="en-US" altLang="zh-CN" sz="1400"/>
              <a:t> proposal </a:t>
            </a:r>
            <a:r>
              <a:rPr lang="zh-CN" altLang="en-US" sz="1400"/>
              <a:t>的像素分布构造</a:t>
            </a:r>
            <a:r>
              <a:rPr lang="en-US" altLang="zh-CN" sz="1400"/>
              <a:t> shape descriptor</a:t>
            </a:r>
            <a:r>
              <a:rPr lang="zh-CN" altLang="en-US" sz="1400"/>
              <a:t>，用于描述局部区域的几何形态。当前</a:t>
            </a:r>
            <a:r>
              <a:rPr lang="en-US" altLang="zh-CN" sz="1400"/>
              <a:t> descriptor </a:t>
            </a:r>
            <a:r>
              <a:rPr lang="zh-CN" altLang="en-US" sz="1400"/>
              <a:t>是归一化向量，</a:t>
            </a:r>
            <a:r>
              <a:rPr lang="en-US" altLang="zh-CN" sz="1400"/>
              <a:t>shape </a:t>
            </a:r>
            <a:r>
              <a:rPr lang="zh-CN" altLang="en-US" sz="1400"/>
              <a:t>相似度通过向量点积计算。</a:t>
            </a:r>
            <a:endParaRPr lang="zh-CN" altLang="en-US" sz="1400"/>
          </a:p>
          <a:p>
            <a:endParaRPr lang="en-US" altLang="zh-CN" sz="1400"/>
          </a:p>
          <a:p>
            <a:r>
              <a:rPr lang="en-US" altLang="zh-CN" sz="1400"/>
              <a:t>  3. Token generation</a:t>
            </a:r>
            <a:endParaRPr lang="en-US" altLang="zh-CN" sz="1400"/>
          </a:p>
          <a:p>
            <a:r>
              <a:rPr lang="en-US" altLang="zh-CN" sz="1400"/>
              <a:t>     </a:t>
            </a:r>
            <a:r>
              <a:rPr lang="zh-CN" altLang="en-US" sz="1400"/>
              <a:t>将区域统计特征、</a:t>
            </a:r>
            <a:r>
              <a:rPr lang="en-US" altLang="zh-CN" sz="1400"/>
              <a:t>shape descriptor</a:t>
            </a:r>
            <a:r>
              <a:rPr lang="zh-CN" altLang="en-US" sz="1400"/>
              <a:t>、</a:t>
            </a:r>
            <a:r>
              <a:rPr lang="en-US" altLang="zh-CN" sz="1400"/>
              <a:t>geometry type </a:t>
            </a:r>
            <a:r>
              <a:rPr lang="zh-CN" altLang="en-US" sz="1400"/>
              <a:t>和原始像素集合组织为</a:t>
            </a:r>
            <a:r>
              <a:rPr lang="en-US" altLang="zh-CN" sz="1400"/>
              <a:t> token</a:t>
            </a:r>
            <a:r>
              <a:rPr lang="zh-CN" altLang="en-US" sz="1400"/>
              <a:t>。当前</a:t>
            </a:r>
            <a:r>
              <a:rPr lang="en-US" altLang="zh-CN" sz="1400"/>
              <a:t> token </a:t>
            </a:r>
            <a:r>
              <a:rPr lang="zh-CN" altLang="en-US" sz="1400"/>
              <a:t>是结构化特征集合，而不是统一学习得到的</a:t>
            </a:r>
            <a:r>
              <a:rPr lang="en-US" altLang="zh-CN" sz="1400"/>
              <a:t> embedding</a:t>
            </a:r>
            <a:r>
              <a:rPr lang="zh-CN" altLang="en-US" sz="1400"/>
              <a:t>。</a:t>
            </a:r>
            <a:endParaRPr lang="zh-CN" altLang="en-US" sz="1400"/>
          </a:p>
          <a:p>
            <a:endParaRPr lang="en-US" altLang="zh-CN" sz="1400"/>
          </a:p>
          <a:p>
            <a:r>
              <a:rPr lang="en-US" altLang="zh-CN" sz="1400"/>
              <a:t>  4. Similarity matching</a:t>
            </a:r>
            <a:endParaRPr lang="en-US" altLang="zh-CN" sz="1400"/>
          </a:p>
          <a:p>
            <a:r>
              <a:rPr lang="en-US" altLang="zh-CN" sz="1400"/>
              <a:t>     </a:t>
            </a:r>
            <a:r>
              <a:rPr lang="zh-CN" altLang="en-US" sz="1400"/>
              <a:t>以</a:t>
            </a:r>
            <a:r>
              <a:rPr lang="en-US" altLang="zh-CN" sz="1400"/>
              <a:t> token pair </a:t>
            </a:r>
            <a:r>
              <a:rPr lang="zh-CN" altLang="en-US" sz="1400"/>
              <a:t>为比较对象，分别计算形状、位置、尺度和类型兼容度，再通过启发式公式融合为局部匹配分数。当前采用</a:t>
            </a:r>
            <a:r>
              <a:rPr lang="en-US" altLang="zh-CN" sz="1400"/>
              <a:t> WBM token </a:t>
            </a:r>
            <a:r>
              <a:rPr lang="zh-CN" altLang="en-US" sz="1400"/>
              <a:t>到</a:t>
            </a:r>
            <a:r>
              <a:rPr lang="en-US" altLang="zh-CN" sz="1400"/>
              <a:t> WDM token </a:t>
            </a:r>
            <a:r>
              <a:rPr lang="zh-CN" altLang="en-US" sz="1400"/>
              <a:t>的单向</a:t>
            </a:r>
            <a:r>
              <a:rPr lang="en-US" altLang="zh-CN" sz="1400"/>
              <a:t> best-match </a:t>
            </a:r>
            <a:r>
              <a:rPr lang="zh-CN" altLang="en-US" sz="1400"/>
              <a:t>聚合。</a:t>
            </a:r>
            <a:endParaRPr lang="zh-CN" altLang="en-US" sz="1400"/>
          </a:p>
          <a:p>
            <a:endParaRPr lang="en-US" altLang="zh-CN" sz="1400"/>
          </a:p>
          <a:p>
            <a:r>
              <a:rPr lang="en-US" altLang="zh-CN" sz="1400"/>
              <a:t>  5. Top-K selection</a:t>
            </a:r>
            <a:endParaRPr lang="en-US" altLang="zh-CN" sz="1400"/>
          </a:p>
          <a:p>
            <a:r>
              <a:rPr lang="en-US" altLang="zh-CN" sz="1400"/>
              <a:t>     </a:t>
            </a:r>
            <a:r>
              <a:rPr lang="zh-CN" altLang="en-US" sz="1400"/>
              <a:t>对每个候选</a:t>
            </a:r>
            <a:r>
              <a:rPr lang="en-US" altLang="zh-CN" sz="1400"/>
              <a:t> CP/WDM map </a:t>
            </a:r>
            <a:r>
              <a:rPr lang="zh-CN" altLang="en-US" sz="1400"/>
              <a:t>计算</a:t>
            </a:r>
            <a:r>
              <a:rPr lang="en-US" altLang="zh-CN" sz="1400"/>
              <a:t> count-partial </a:t>
            </a:r>
            <a:r>
              <a:rPr lang="zh-CN" altLang="en-US" sz="1400"/>
              <a:t>分数，并按分数排序，选出</a:t>
            </a:r>
            <a:r>
              <a:rPr lang="en-US" altLang="zh-CN" sz="1400"/>
              <a:t> Top-K </a:t>
            </a:r>
            <a:r>
              <a:rPr lang="zh-CN" altLang="en-US" sz="1400"/>
              <a:t>候选结果。</a:t>
            </a:r>
            <a:endParaRPr lang="zh-CN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191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5D2A"/>
                </a:solidFill>
              </a:defRPr>
            </a:pPr>
            <a:r>
              <a:rPr sz="1350" b="1">
                <a:solidFill>
                  <a:srgbClr val="E85D2A"/>
                </a:solidFill>
              </a:rPr>
              <a:t>CP map-Defect mapMatching</a:t>
            </a:r>
            <a:endParaRPr sz="135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828800"/>
            <a:ext cx="7905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Proposal 策略</a:t>
            </a:r>
            <a:endParaRPr sz="435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20040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B63"/>
                </a:solidFill>
              </a:defRPr>
            </a:pPr>
            <a:r>
              <a:rPr sz="1800" b="0">
                <a:solidFill>
                  <a:srgbClr val="555B63"/>
                </a:solidFill>
              </a:rPr>
              <a:t>从 </a:t>
            </a:r>
            <a:r>
              <a:rPr lang="zh-CN" sz="1800" b="0">
                <a:solidFill>
                  <a:srgbClr val="555B63"/>
                </a:solidFill>
              </a:rPr>
              <a:t>两种</a:t>
            </a:r>
            <a:r>
              <a:rPr sz="1800" b="0">
                <a:solidFill>
                  <a:srgbClr val="555B63"/>
                </a:solidFill>
              </a:rPr>
              <a:t>map 中抽取可匹配的局部失效区域 token。</a:t>
            </a:r>
            <a:endParaRPr sz="1800" b="0">
              <a:solidFill>
                <a:srgbClr val="555B6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629650" y="876300"/>
            <a:ext cx="2247900" cy="45720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67800" y="1809750"/>
            <a:ext cx="142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700" b="1">
                <a:solidFill>
                  <a:srgbClr val="101114"/>
                </a:solidFill>
              </a:defRPr>
            </a:pPr>
            <a:r>
              <a:rPr sz="5700" b="1">
                <a:solidFill>
                  <a:srgbClr val="101114"/>
                </a:solidFill>
              </a:rPr>
              <a:t>03</a:t>
            </a:r>
            <a:endParaRPr sz="5700" b="1">
              <a:solidFill>
                <a:srgbClr val="1011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67800" y="28765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55B63"/>
                </a:solidFill>
              </a:defRPr>
            </a:pPr>
            <a:r>
              <a:rPr sz="1650" b="0">
                <a:solidFill>
                  <a:srgbClr val="555B63"/>
                </a:solidFill>
              </a:rPr>
              <a:t>策略模块</a:t>
            </a:r>
            <a:endParaRPr sz="1650" b="0">
              <a:solidFill>
                <a:srgbClr val="555B63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1180" y="3829050"/>
            <a:ext cx="7538085" cy="3733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200"/>
              </a:lnSpc>
            </a:pPr>
            <a:r>
              <a:rPr lang="en-US" altLang="zh-CN" sz="1600" b="0">
                <a:solidFill>
                  <a:srgbClr val="31353A"/>
                </a:solidFill>
                <a:latin typeface="JetBrains Mono"/>
                <a:ea typeface="JetBrains Mono"/>
              </a:rPr>
              <a:t>token </a:t>
            </a:r>
            <a:r>
              <a:rPr lang="zh-CN" altLang="en-US" sz="1600" b="0">
                <a:solidFill>
                  <a:srgbClr val="31353A"/>
                </a:solidFill>
                <a:latin typeface="JetBrains Mono"/>
                <a:ea typeface="JetBrains Mono"/>
              </a:rPr>
              <a:t>保存原始统计特征、几何类型、</a:t>
            </a:r>
            <a:r>
              <a:rPr lang="en-US" altLang="zh-CN" sz="1600" b="0">
                <a:solidFill>
                  <a:srgbClr val="31353A"/>
                </a:solidFill>
                <a:latin typeface="JetBrains Mono"/>
                <a:ea typeface="JetBrains Mono"/>
              </a:rPr>
              <a:t>descriptor </a:t>
            </a:r>
            <a:r>
              <a:rPr lang="zh-CN" altLang="en-US" sz="1600" b="0">
                <a:solidFill>
                  <a:srgbClr val="31353A"/>
                </a:solidFill>
                <a:latin typeface="JetBrains Mono"/>
                <a:ea typeface="JetBrains Mono"/>
              </a:rPr>
              <a:t>和 </a:t>
            </a:r>
            <a:r>
              <a:rPr lang="en-US" altLang="zh-CN" sz="1600" b="0">
                <a:solidFill>
                  <a:srgbClr val="31353A"/>
                </a:solidFill>
                <a:latin typeface="JetBrains Mono"/>
                <a:ea typeface="JetBrains Mono"/>
              </a:rPr>
              <a:t>proposal </a:t>
            </a:r>
            <a:r>
              <a:rPr lang="zh-CN" altLang="en-US" sz="1600" b="0">
                <a:solidFill>
                  <a:srgbClr val="31353A"/>
                </a:solidFill>
                <a:latin typeface="JetBrains Mono"/>
                <a:ea typeface="JetBrains Mono"/>
              </a:rPr>
              <a:t>配置</a:t>
            </a:r>
            <a:endParaRPr lang="zh-CN" altLang="en-US" sz="1600" b="0">
              <a:solidFill>
                <a:srgbClr val="31353A"/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>
                <a:solidFill>
                  <a:srgbClr val="E85D2A"/>
                </a:solidFill>
              </a:rPr>
              <a:t>1. Proposal</a:t>
            </a:r>
            <a:endParaRPr sz="1400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6477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200">
                <a:solidFill>
                  <a:srgbClr val="101114"/>
                </a:solidFill>
              </a:rPr>
              <a:t>Proposal 的 binary / count：来源与权重不同</a:t>
            </a:r>
            <a:endParaRPr sz="3200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33500"/>
            <a:ext cx="11087100" cy="9525"/>
          </a:xfrm>
          <a:prstGeom prst="rect">
            <a:avLst/>
          </a:prstGeom>
          <a:solidFill>
            <a:srgbClr val="C7CBD1"/>
          </a:solidFill>
          <a:ln w="0">
            <a:solidFill>
              <a:srgbClr val="C7CBD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790700"/>
            <a:ext cx="11087100" cy="723900"/>
          </a:xfrm>
          <a:prstGeom prst="rect">
            <a:avLst/>
          </a:prstGeom>
          <a:solidFill>
            <a:srgbClr val="E7E9ED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90500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1114"/>
                </a:solidFill>
              </a:defRPr>
            </a:pPr>
            <a:r>
              <a:rPr sz="1400">
                <a:solidFill>
                  <a:srgbClr val="101114"/>
                </a:solidFill>
              </a:rPr>
              <a:t>维度</a:t>
            </a:r>
            <a:endParaRPr sz="1400">
              <a:solidFill>
                <a:srgbClr val="1011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076450" y="17907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190750" y="1905000"/>
            <a:ext cx="455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1114"/>
                </a:solidFill>
              </a:defRPr>
            </a:pPr>
            <a:r>
              <a:rPr sz="1400">
                <a:solidFill>
                  <a:srgbClr val="101114"/>
                </a:solidFill>
              </a:rPr>
              <a:t>count proposal</a:t>
            </a:r>
            <a:endParaRPr sz="1400">
              <a:solidFill>
                <a:srgbClr val="1011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38950" y="17907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953250" y="190500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1114"/>
                </a:solidFill>
              </a:defRPr>
            </a:pPr>
            <a:r>
              <a:rPr sz="1400">
                <a:solidFill>
                  <a:srgbClr val="101114"/>
                </a:solidFill>
              </a:rPr>
              <a:t>binary proposal</a:t>
            </a:r>
            <a:endParaRPr sz="1400">
              <a:solidFill>
                <a:srgbClr val="1011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2514600"/>
            <a:ext cx="110871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262890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Defect map</a:t>
            </a:r>
            <a:r>
              <a:rPr lang="en-US" sz="1200" b="1">
                <a:solidFill>
                  <a:srgbClr val="555B63"/>
                </a:solidFill>
              </a:rPr>
              <a:t> </a:t>
            </a:r>
            <a:r>
              <a:rPr sz="1200" b="1">
                <a:solidFill>
                  <a:srgbClr val="555B63"/>
                </a:solidFill>
              </a:rPr>
              <a:t>token 来源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76450" y="25146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190750" y="2628900"/>
            <a:ext cx="455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count_map &gt; 0；保留每个 cell 的 defect count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38950" y="25146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953250" y="262890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binary_map &gt; 0；binary_map = count_map &gt;= die_defect_threshold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3238500"/>
            <a:ext cx="110871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335280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权重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076450" y="32385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190750" y="3352800"/>
            <a:ext cx="455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  <a:highlight>
                  <a:srgbClr val="FFFF00"/>
                </a:highlight>
              </a:rPr>
              <a:t>Defect map质心、mass、peak、mean_weight 使用 count 强度</a:t>
            </a:r>
            <a:endParaRPr sz="1200" b="1">
              <a:solidFill>
                <a:srgbClr val="555B63"/>
              </a:solidFill>
              <a:highlight>
                <a:srgbClr val="FFFF00"/>
              </a:highlight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32385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953250" y="335280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  <a:highlight>
                  <a:srgbClr val="FFFF00"/>
                </a:highlight>
              </a:rPr>
              <a:t>Defect map</a:t>
            </a:r>
            <a:r>
              <a:rPr lang="en-US" sz="1200" b="1">
                <a:solidFill>
                  <a:srgbClr val="555B63"/>
                </a:solidFill>
                <a:highlight>
                  <a:srgbClr val="FFFF00"/>
                </a:highlight>
              </a:rPr>
              <a:t> </a:t>
            </a:r>
            <a:r>
              <a:rPr sz="1200" b="1">
                <a:solidFill>
                  <a:srgbClr val="555B63"/>
                </a:solidFill>
                <a:highlight>
                  <a:srgbClr val="FFFF00"/>
                </a:highlight>
              </a:rPr>
              <a:t>token 权重统一为 1，更强调几何形态</a:t>
            </a:r>
            <a:endParaRPr sz="1200" b="1">
              <a:solidFill>
                <a:srgbClr val="555B63"/>
              </a:solidFill>
              <a:highlight>
                <a:srgbClr val="FFFF00"/>
              </a:highlight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3962400"/>
            <a:ext cx="110871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  <p:txBody>
          <a:bodyPr/>
          <a:p>
            <a:endParaRPr lang="zh-CN" altLang="en-US" sz="2000" b="1"/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407670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适用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76450" y="39624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190750" y="4076700"/>
            <a:ext cx="455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缺陷密度有解释价值；希望强 cluster 权重大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38950" y="39624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953250" y="407670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过滤低计数噪声；比较形状是否出现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4686300"/>
            <a:ext cx="110871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66750" y="4800600"/>
            <a:ext cx="1314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共同点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076450" y="46863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190750" y="4800600"/>
            <a:ext cx="4552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CP map token 均来自 status_map == VALID_HAS_DEFECT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838950" y="4686300"/>
            <a:ext cx="9525" cy="7239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953250" y="4800600"/>
            <a:ext cx="4591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1">
                <a:solidFill>
                  <a:srgbClr val="555B63"/>
                </a:solidFill>
              </a:rPr>
              <a:t>共享有效区域 mask、proposal 配置、descriptor 与匹配公式</a:t>
            </a:r>
            <a:endParaRPr sz="1200" b="1">
              <a:solidFill>
                <a:srgbClr val="555B6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008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55B63"/>
                </a:solidFill>
              </a:defRPr>
            </a:pPr>
            <a:r>
              <a:rPr sz="900">
                <a:solidFill>
                  <a:srgbClr val="555B63"/>
                </a:solidFill>
              </a:rPr>
              <a:t>CP map-Defect mapMatching strategy | 04</a:t>
            </a:r>
            <a:endParaRPr sz="900">
              <a:solidFill>
                <a:srgbClr val="555B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1. Proposal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647700"/>
            <a:ext cx="1106297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200" b="1">
                <a:solidFill>
                  <a:srgbClr val="101114"/>
                </a:solidFill>
              </a:rPr>
              <a:t>Proposal 的 cc / </a:t>
            </a:r>
            <a:r>
              <a:rPr lang="en-US" sz="3200" b="1">
                <a:solidFill>
                  <a:srgbClr val="101114"/>
                </a:solidFill>
              </a:rPr>
              <a:t>e</a:t>
            </a:r>
            <a:r>
              <a:rPr lang="en-US" altLang="zh-CN" sz="3200" b="1">
                <a:solidFill>
                  <a:srgbClr val="101114"/>
                </a:solidFill>
              </a:rPr>
              <a:t>nhanced</a:t>
            </a:r>
            <a:r>
              <a:rPr sz="3200" b="1">
                <a:solidFill>
                  <a:srgbClr val="101114"/>
                </a:solidFill>
              </a:rPr>
              <a:t>：默认稳定与增强</a:t>
            </a:r>
            <a:r>
              <a:rPr lang="zh-CN" sz="3200" b="1">
                <a:solidFill>
                  <a:srgbClr val="101114"/>
                </a:solidFill>
              </a:rPr>
              <a:t>处理</a:t>
            </a:r>
            <a:endParaRPr lang="zh-CN" sz="320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33500"/>
            <a:ext cx="11087100" cy="9525"/>
          </a:xfrm>
          <a:prstGeom prst="rect">
            <a:avLst/>
          </a:prstGeom>
          <a:solidFill>
            <a:srgbClr val="C7CBD1"/>
          </a:solidFill>
          <a:ln w="0">
            <a:solidFill>
              <a:srgbClr val="C7CBD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752600"/>
            <a:ext cx="5381625" cy="3848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57925" y="1752600"/>
            <a:ext cx="5381625" cy="3848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019300"/>
            <a:ext cx="4848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400" b="1">
                <a:solidFill>
                  <a:srgbClr val="101114"/>
                </a:solidFill>
              </a:rPr>
              <a:t>cc：Connected Components</a:t>
            </a:r>
            <a:endParaRPr sz="2400" b="1">
              <a:solidFill>
                <a:srgbClr val="1011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019300"/>
            <a:ext cx="4848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lang="en-US" altLang="zh-CN" sz="2400" b="1">
                <a:solidFill>
                  <a:srgbClr val="101114"/>
                </a:solidFill>
              </a:rPr>
              <a:t>enhanced</a:t>
            </a:r>
            <a:r>
              <a:rPr sz="2400" b="1">
                <a:solidFill>
                  <a:srgbClr val="101114"/>
                </a:solidFill>
              </a:rPr>
              <a:t>：</a:t>
            </a:r>
            <a:r>
              <a:rPr lang="zh-CN" sz="2400" b="1">
                <a:solidFill>
                  <a:srgbClr val="101114"/>
                </a:solidFill>
              </a:rPr>
              <a:t>增强</a:t>
            </a:r>
            <a:r>
              <a:rPr sz="2400" b="1">
                <a:solidFill>
                  <a:srgbClr val="101114"/>
                </a:solidFill>
              </a:rPr>
              <a:t>处理</a:t>
            </a:r>
            <a:endParaRPr sz="2400" b="1">
              <a:solidFill>
                <a:srgbClr val="1011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6003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400" b="1">
                <a:solidFill>
                  <a:srgbClr val="2563A6"/>
                </a:solidFill>
              </a:rPr>
              <a:t>•</a:t>
            </a:r>
            <a:endParaRPr sz="1400" b="1">
              <a:solidFill>
                <a:srgbClr val="2563A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59080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默认模式；对缺陷 mask 做 4/8 邻域连通域提取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009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400" b="1">
                <a:solidFill>
                  <a:srgbClr val="2563A6"/>
                </a:solidFill>
              </a:rPr>
              <a:t>•</a:t>
            </a:r>
            <a:endParaRPr sz="1400" b="1">
              <a:solidFill>
                <a:srgbClr val="2563A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300037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按面积过滤、转 token、按 importance 排序并截断 topK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47750" y="341947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endParaRPr sz="1400" b="0">
              <a:solidFill>
                <a:srgbClr val="10111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24625" y="26003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400" b="1">
                <a:solidFill>
                  <a:srgbClr val="287A5B"/>
                </a:solidFill>
              </a:rPr>
              <a:t>•</a:t>
            </a:r>
            <a:endParaRPr sz="1400" b="1">
              <a:solidFill>
                <a:srgbClr val="287A5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53225" y="259080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以 cc 为基础，不改变 descriptor 和 pair score 公式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24625" y="3009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400" b="1">
                <a:solidFill>
                  <a:srgbClr val="287A5B"/>
                </a:solidFill>
              </a:rPr>
              <a:t>•</a:t>
            </a:r>
            <a:endParaRPr sz="1400" b="1">
              <a:solidFill>
                <a:srgbClr val="287A5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53225" y="300037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gap-aware grouping 修复小图 1-cell 断点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24625" y="34194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400" b="1">
                <a:solidFill>
                  <a:srgbClr val="287A5B"/>
                </a:solidFill>
              </a:rPr>
              <a:t>•</a:t>
            </a:r>
            <a:endParaRPr sz="1400" b="1">
              <a:solidFill>
                <a:srgbClr val="287A5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53225" y="340995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ring-aware 提取 edge-ring；fragment merge 合并近邻同类碎片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24625" y="38290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400" b="1">
                <a:solidFill>
                  <a:srgbClr val="287A5B"/>
                </a:solidFill>
              </a:rPr>
              <a:t>•</a:t>
            </a:r>
            <a:endParaRPr sz="1400" b="1">
              <a:solidFill>
                <a:srgbClr val="287A5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753225" y="381952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type-diverse topK 降低单一大 cluster 占满名额的风险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39695" y="5817235"/>
            <a:ext cx="7551420" cy="6553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2200"/>
              </a:lnSpc>
            </a:pPr>
            <a:r>
              <a:rPr lang="en-US" altLang="zh-CN" sz="1600" b="0">
                <a:solidFill>
                  <a:srgbClr val="31353A"/>
                </a:solidFill>
                <a:latin typeface="JetBrains Mono"/>
                <a:ea typeface="JetBrains Mono"/>
              </a:rPr>
              <a:t>importance = sqrt(mass) + 0.25 * sqrt(area) + type_bonus</a:t>
            </a:r>
            <a:endParaRPr lang="en-US" altLang="zh-CN" sz="1600" b="0">
              <a:solidFill>
                <a:srgbClr val="31353A"/>
              </a:solidFill>
              <a:latin typeface="JetBrains Mono"/>
              <a:ea typeface="JetBrains Mono"/>
            </a:endParaRPr>
          </a:p>
          <a:p>
            <a:pPr>
              <a:lnSpc>
                <a:spcPts val="2200"/>
              </a:lnSpc>
            </a:pPr>
            <a:r>
              <a:rPr lang="zh-CN" altLang="en-US" sz="1600" b="0">
                <a:solidFill>
                  <a:srgbClr val="31353A"/>
                </a:solidFill>
                <a:latin typeface="JetBrains Mono"/>
                <a:ea typeface="JetBrains Mono"/>
              </a:rPr>
              <a:t>倾向于保留</a:t>
            </a:r>
            <a:r>
              <a:rPr lang="en-US" altLang="zh-CN" sz="1600" b="0">
                <a:solidFill>
                  <a:srgbClr val="31353A"/>
                </a:solidFill>
                <a:latin typeface="JetBrains Mono"/>
                <a:ea typeface="JetBrains Mono"/>
              </a:rPr>
              <a:t>count</a:t>
            </a:r>
            <a:r>
              <a:rPr lang="zh-CN" altLang="en-US" sz="1600" b="0">
                <a:solidFill>
                  <a:srgbClr val="31353A"/>
                </a:solidFill>
                <a:latin typeface="JetBrains Mono"/>
                <a:ea typeface="JetBrains Mono"/>
              </a:rPr>
              <a:t>多</a:t>
            </a:r>
            <a:r>
              <a:rPr lang="en-US" altLang="zh-CN" sz="1600" b="0">
                <a:solidFill>
                  <a:srgbClr val="31353A"/>
                </a:solidFill>
                <a:latin typeface="JetBrains Mono"/>
                <a:ea typeface="JetBrains Mono"/>
              </a:rPr>
              <a:t>，</a:t>
            </a:r>
            <a:r>
              <a:rPr lang="zh-CN" altLang="en-US" sz="1600" b="0">
                <a:solidFill>
                  <a:srgbClr val="31353A"/>
                </a:solidFill>
                <a:latin typeface="JetBrains Mono"/>
                <a:ea typeface="JetBrains Mono"/>
              </a:rPr>
              <a:t>面积大</a:t>
            </a:r>
            <a:r>
              <a:rPr lang="en-US" altLang="zh-CN" sz="1600" b="0">
                <a:solidFill>
                  <a:srgbClr val="31353A"/>
                </a:solidFill>
                <a:latin typeface="JetBrains Mono"/>
                <a:ea typeface="JetBrains Mono"/>
              </a:rPr>
              <a:t>，</a:t>
            </a:r>
            <a:r>
              <a:rPr lang="zh-CN" altLang="en-US" sz="1600" b="0">
                <a:solidFill>
                  <a:srgbClr val="31353A"/>
                </a:solidFill>
                <a:latin typeface="JetBrains Mono"/>
                <a:ea typeface="JetBrains Mono"/>
              </a:rPr>
              <a:t>有解释价值的形态</a:t>
            </a:r>
            <a:endParaRPr lang="zh-CN" altLang="en-US" sz="1600" b="0">
              <a:solidFill>
                <a:srgbClr val="31353A"/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200" b="1">
                <a:solidFill>
                  <a:srgbClr val="E85D2A"/>
                </a:solidFill>
              </a:rPr>
              <a:t>1. Proposal</a:t>
            </a:r>
            <a:endParaRPr sz="1200" b="1">
              <a:solidFill>
                <a:srgbClr val="E85D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6477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公开数据集检测结果：</a:t>
            </a:r>
            <a:endParaRPr sz="3000" b="1">
              <a:solidFill>
                <a:srgbClr val="101114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0460" y="2833370"/>
            <a:ext cx="5971540" cy="298577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240145" y="2348865"/>
            <a:ext cx="4848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lang="en-US" altLang="zh-CN" sz="2400" b="1">
                <a:solidFill>
                  <a:srgbClr val="101114"/>
                </a:solidFill>
              </a:rPr>
              <a:t>Ecnhanced</a:t>
            </a:r>
            <a:r>
              <a:rPr sz="2400" b="1">
                <a:solidFill>
                  <a:srgbClr val="101114"/>
                </a:solidFill>
              </a:rPr>
              <a:t>：</a:t>
            </a:r>
            <a:r>
              <a:rPr lang="zh-CN" sz="2400" b="1">
                <a:solidFill>
                  <a:srgbClr val="101114"/>
                </a:solidFill>
              </a:rPr>
              <a:t>增强</a:t>
            </a:r>
            <a:r>
              <a:rPr sz="2400" b="1">
                <a:solidFill>
                  <a:srgbClr val="101114"/>
                </a:solidFill>
              </a:rPr>
              <a:t>处理</a:t>
            </a:r>
            <a:endParaRPr sz="2400" b="1">
              <a:solidFill>
                <a:srgbClr val="101114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" y="2901950"/>
            <a:ext cx="5833745" cy="291719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263525" y="2348865"/>
            <a:ext cx="4848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400" b="1">
                <a:solidFill>
                  <a:srgbClr val="101114"/>
                </a:solidFill>
              </a:rPr>
              <a:t>Connected Components</a:t>
            </a:r>
            <a:endParaRPr sz="2400" b="1">
              <a:solidFill>
                <a:srgbClr val="10111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191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5D2A"/>
                </a:solidFill>
              </a:defRPr>
            </a:pPr>
            <a:r>
              <a:rPr sz="1350" b="1">
                <a:solidFill>
                  <a:srgbClr val="E85D2A"/>
                </a:solidFill>
              </a:rPr>
              <a:t>CP map-Defect mapMatching</a:t>
            </a:r>
            <a:endParaRPr sz="135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828800"/>
            <a:ext cx="7905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Descriptor 策略</a:t>
            </a:r>
            <a:endParaRPr sz="435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20040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B63"/>
                </a:solidFill>
              </a:defRPr>
            </a:pPr>
            <a:r>
              <a:rPr sz="1800" b="0">
                <a:solidFill>
                  <a:srgbClr val="555B63"/>
                </a:solidFill>
              </a:rPr>
              <a:t>把 token 转成可比较的形状向量，再用 shape gate 控制局部匹配。</a:t>
            </a:r>
            <a:endParaRPr sz="1800" b="0">
              <a:solidFill>
                <a:srgbClr val="555B6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629650" y="876300"/>
            <a:ext cx="2247900" cy="45720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67800" y="1809750"/>
            <a:ext cx="142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700" b="1">
                <a:solidFill>
                  <a:srgbClr val="101114"/>
                </a:solidFill>
              </a:defRPr>
            </a:pPr>
            <a:r>
              <a:rPr sz="5700" b="1">
                <a:solidFill>
                  <a:srgbClr val="101114"/>
                </a:solidFill>
              </a:rPr>
              <a:t>07</a:t>
            </a:r>
            <a:endParaRPr sz="5700" b="1">
              <a:solidFill>
                <a:srgbClr val="1011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67800" y="28765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55B63"/>
                </a:solidFill>
              </a:defRPr>
            </a:pPr>
            <a:r>
              <a:rPr sz="1650" b="0">
                <a:solidFill>
                  <a:srgbClr val="555B63"/>
                </a:solidFill>
              </a:rPr>
              <a:t>策略模块</a:t>
            </a:r>
            <a:endParaRPr sz="1650" b="0">
              <a:solidFill>
                <a:srgbClr val="555B6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600" b="1">
                <a:solidFill>
                  <a:srgbClr val="E85D2A"/>
                </a:solidFill>
              </a:rPr>
              <a:t>2. Descriptor</a:t>
            </a:r>
            <a:endParaRPr sz="160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647700"/>
            <a:ext cx="1114679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2800" b="1">
                <a:solidFill>
                  <a:srgbClr val="101114"/>
                </a:solidFill>
              </a:rPr>
              <a:t>Descriptor 的 binary / count：同一形状框架，不同输入统计</a:t>
            </a:r>
            <a:endParaRPr sz="280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33500"/>
            <a:ext cx="11087100" cy="9525"/>
          </a:xfrm>
          <a:prstGeom prst="rect">
            <a:avLst/>
          </a:prstGeom>
          <a:solidFill>
            <a:srgbClr val="C7CBD1"/>
          </a:solidFill>
          <a:ln w="0">
            <a:solidFill>
              <a:srgbClr val="C7CBD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752600"/>
            <a:ext cx="5381625" cy="3848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57925" y="1752600"/>
            <a:ext cx="5381625" cy="3848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019300"/>
            <a:ext cx="4848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400" b="1">
                <a:solidFill>
                  <a:srgbClr val="101114"/>
                </a:solidFill>
              </a:rPr>
              <a:t>count descriptor</a:t>
            </a:r>
            <a:endParaRPr sz="2400" b="1">
              <a:solidFill>
                <a:srgbClr val="1011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019300"/>
            <a:ext cx="4848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400" b="1">
                <a:solidFill>
                  <a:srgbClr val="101114"/>
                </a:solidFill>
              </a:rPr>
              <a:t>binary descriptor</a:t>
            </a:r>
            <a:endParaRPr sz="2400" b="1">
              <a:solidFill>
                <a:srgbClr val="1011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6003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600" b="1">
                <a:solidFill>
                  <a:srgbClr val="2563A6"/>
                </a:solidFill>
              </a:rPr>
              <a:t>•</a:t>
            </a:r>
            <a:endParaRPr sz="1600" b="1">
              <a:solidFill>
                <a:srgbClr val="2563A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49301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600" b="0">
                <a:solidFill>
                  <a:srgbClr val="101114"/>
                </a:solidFill>
              </a:rPr>
              <a:t>token 的质心、PCA、mass、mean_weight 等由 </a:t>
            </a:r>
            <a:r>
              <a:rPr sz="1600" b="0">
                <a:solidFill>
                  <a:srgbClr val="101114"/>
                </a:solidFill>
                <a:highlight>
                  <a:srgbClr val="FFFF00"/>
                </a:highlight>
              </a:rPr>
              <a:t>count 加权</a:t>
            </a:r>
            <a:endParaRPr sz="1600" b="0">
              <a:solidFill>
                <a:srgbClr val="101114"/>
              </a:solidFill>
              <a:highlight>
                <a:srgbClr val="FFFF00"/>
              </a:highlight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009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600" b="1">
                <a:solidFill>
                  <a:srgbClr val="2563A6"/>
                </a:solidFill>
              </a:rPr>
              <a:t>•</a:t>
            </a:r>
            <a:endParaRPr sz="1600" b="1">
              <a:solidFill>
                <a:srgbClr val="2563A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300037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600" b="0">
                <a:solidFill>
                  <a:srgbClr val="101114"/>
                </a:solidFill>
              </a:rPr>
              <a:t>强缺陷区域会主导 token 的几何中心和尺度感知</a:t>
            </a:r>
            <a:endParaRPr sz="1600" b="0">
              <a:solidFill>
                <a:srgbClr val="10111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9150" y="34194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600" b="1">
                <a:solidFill>
                  <a:srgbClr val="2563A6"/>
                </a:solidFill>
              </a:rPr>
              <a:t>•</a:t>
            </a:r>
            <a:endParaRPr sz="1600" b="1">
              <a:solidFill>
                <a:srgbClr val="2563A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340995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600" b="0">
                <a:solidFill>
                  <a:srgbClr val="101114"/>
                </a:solidFill>
              </a:rPr>
              <a:t>更适合表达“缺陷密度中心在哪里”</a:t>
            </a:r>
            <a:endParaRPr sz="1600" b="0">
              <a:solidFill>
                <a:srgbClr val="10111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9150" y="38290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600" b="1">
                <a:solidFill>
                  <a:srgbClr val="2563A6"/>
                </a:solidFill>
              </a:rPr>
              <a:t>•</a:t>
            </a:r>
            <a:endParaRPr sz="1600" b="1">
              <a:solidFill>
                <a:srgbClr val="2563A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47750" y="381952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600" b="0">
                <a:solidFill>
                  <a:srgbClr val="101114"/>
                </a:solidFill>
              </a:rPr>
              <a:t>风险：单点高 count 可能影响形状统计稳定性</a:t>
            </a:r>
            <a:endParaRPr sz="1600" b="0">
              <a:solidFill>
                <a:srgbClr val="10111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24625" y="26003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600" b="1">
                <a:solidFill>
                  <a:srgbClr val="287A5B"/>
                </a:solidFill>
              </a:rPr>
              <a:t>•</a:t>
            </a:r>
            <a:endParaRPr sz="1600" b="1">
              <a:solidFill>
                <a:srgbClr val="287A5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53225" y="259080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600" b="0">
                <a:solidFill>
                  <a:srgbClr val="101114"/>
                </a:solidFill>
              </a:rPr>
              <a:t>token 权重统一为 1，</a:t>
            </a:r>
            <a:r>
              <a:rPr lang="zh-CN" sz="1600" b="0">
                <a:solidFill>
                  <a:srgbClr val="101114"/>
                </a:solidFill>
              </a:rPr>
              <a:t>忽略</a:t>
            </a:r>
            <a:r>
              <a:rPr sz="1600" b="0">
                <a:solidFill>
                  <a:srgbClr val="101114"/>
                </a:solidFill>
              </a:rPr>
              <a:t> defect count 强度</a:t>
            </a:r>
            <a:endParaRPr sz="1600" b="0">
              <a:solidFill>
                <a:srgbClr val="1011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24625" y="3009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600" b="1">
                <a:solidFill>
                  <a:srgbClr val="287A5B"/>
                </a:solidFill>
              </a:rPr>
              <a:t>•</a:t>
            </a:r>
            <a:endParaRPr sz="1600" b="1">
              <a:solidFill>
                <a:srgbClr val="287A5B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24625" y="34194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endParaRPr sz="1600" b="1">
              <a:solidFill>
                <a:srgbClr val="287A5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753225" y="300799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600" b="0">
                <a:solidFill>
                  <a:srgbClr val="101114"/>
                </a:solidFill>
              </a:rPr>
              <a:t>风险：丢失密度差异，阈值过高会损失稀疏真实模式</a:t>
            </a:r>
            <a:endParaRPr sz="1600" b="0">
              <a:solidFill>
                <a:srgbClr val="10111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4191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5D2A"/>
                </a:solidFill>
              </a:defRPr>
            </a:pPr>
            <a:r>
              <a:rPr sz="1350" b="1">
                <a:solidFill>
                  <a:srgbClr val="E85D2A"/>
                </a:solidFill>
              </a:rPr>
              <a:t>CP map-Defect mapMatching</a:t>
            </a:r>
            <a:endParaRPr sz="135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828800"/>
            <a:ext cx="7905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匹配策略</a:t>
            </a:r>
            <a:endParaRPr sz="435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20040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B63"/>
                </a:solidFill>
              </a:defRPr>
            </a:pPr>
            <a:r>
              <a:rPr sz="1800" b="0">
                <a:solidFill>
                  <a:srgbClr val="555B63"/>
                </a:solidFill>
              </a:rPr>
              <a:t>每个 CP map token 在所有 Defect map</a:t>
            </a:r>
            <a:r>
              <a:rPr lang="en-US" sz="1800" b="0">
                <a:solidFill>
                  <a:srgbClr val="555B63"/>
                </a:solidFill>
              </a:rPr>
              <a:t> </a:t>
            </a:r>
            <a:r>
              <a:rPr sz="1800" b="0">
                <a:solidFill>
                  <a:srgbClr val="555B63"/>
                </a:solidFill>
              </a:rPr>
              <a:t>token 中选择最佳解释，形成可追溯局部匹配。</a:t>
            </a:r>
            <a:endParaRPr sz="1800" b="0">
              <a:solidFill>
                <a:srgbClr val="555B6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629650" y="876300"/>
            <a:ext cx="2247900" cy="45720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67800" y="1809750"/>
            <a:ext cx="142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700" b="1">
                <a:solidFill>
                  <a:srgbClr val="101114"/>
                </a:solidFill>
              </a:defRPr>
            </a:pPr>
            <a:r>
              <a:rPr sz="5700" b="1">
                <a:solidFill>
                  <a:srgbClr val="101114"/>
                </a:solidFill>
              </a:rPr>
              <a:t>11</a:t>
            </a:r>
            <a:endParaRPr sz="5700" b="1">
              <a:solidFill>
                <a:srgbClr val="1011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67800" y="28765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55B63"/>
                </a:solidFill>
              </a:defRPr>
            </a:pPr>
            <a:r>
              <a:rPr sz="1650" b="0">
                <a:solidFill>
                  <a:srgbClr val="555B63"/>
                </a:solidFill>
              </a:rPr>
              <a:t>策略模块</a:t>
            </a:r>
            <a:endParaRPr sz="1650" b="0">
              <a:solidFill>
                <a:srgbClr val="555B6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3. Matching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647700"/>
            <a:ext cx="1220279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2800" b="1">
                <a:solidFill>
                  <a:srgbClr val="101114"/>
                </a:solidFill>
              </a:rPr>
              <a:t>匹配逻辑：CP map token 对所有 Defect maptoken 做 pairwise scoring</a:t>
            </a:r>
            <a:endParaRPr sz="280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33500"/>
            <a:ext cx="11087100" cy="9525"/>
          </a:xfrm>
          <a:prstGeom prst="rect">
            <a:avLst/>
          </a:prstGeom>
          <a:solidFill>
            <a:srgbClr val="C7CBD1"/>
          </a:solidFill>
          <a:ln w="0">
            <a:solidFill>
              <a:srgbClr val="C7CBD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809750"/>
            <a:ext cx="1704975" cy="8191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CP map token i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247900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28875" y="1809750"/>
            <a:ext cx="1704975" cy="8191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562225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遍历所有 Defect map</a:t>
            </a:r>
            <a:r>
              <a:rPr lang="en-US" sz="1400" b="1">
                <a:solidFill>
                  <a:srgbClr val="101114"/>
                </a:solidFill>
              </a:rPr>
              <a:t> </a:t>
            </a:r>
            <a:r>
              <a:rPr sz="1400" b="1">
                <a:solidFill>
                  <a:srgbClr val="101114"/>
                </a:solidFill>
              </a:rPr>
              <a:t>token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124325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05300" y="1809750"/>
            <a:ext cx="1704975" cy="8191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38650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计算四个分量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00750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81725" y="1809750"/>
            <a:ext cx="1704975" cy="8191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15075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shape gate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77175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58150" y="1809750"/>
            <a:ext cx="1704975" cy="8191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0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选择最高分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53600" y="2038350"/>
            <a:ext cx="19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934575" y="1809750"/>
            <a:ext cx="1704975" cy="8191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067925" y="1981200"/>
            <a:ext cx="14382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面积加权平均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52450" y="3143250"/>
            <a:ext cx="11087100" cy="571500"/>
          </a:xfrm>
          <a:prstGeom prst="rect">
            <a:avLst/>
          </a:prstGeom>
          <a:solidFill>
            <a:srgbClr val="E7E9ED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3257550"/>
            <a:ext cx="1600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分量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362200" y="31432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476500" y="325755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公式/规则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124700" y="31432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0" y="32575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含义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52450" y="3714750"/>
            <a:ext cx="110871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3829050"/>
            <a:ext cx="1600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shape_sim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362200" y="37147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476500" y="382905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descriptor dot product；低于 0.45 则 pair_score=0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124700" y="37147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239000" y="38290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形状先验硬门槛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2450" y="4286250"/>
            <a:ext cx="110871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66750" y="4400550"/>
            <a:ext cx="1600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position_affinity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362200" y="42862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476500" y="440055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exp(-pos_dist² / sigma_pos²)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124700" y="42862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239000" y="44005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质心位置越接近越高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52450" y="4857750"/>
            <a:ext cx="110871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66750" y="4972050"/>
            <a:ext cx="1600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scale_affinity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362200" y="48577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476500" y="497205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exp(-|log(q_scale/c_scale)| / sigma_scale)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124700" y="48577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239000" y="49720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200" b="0">
                <a:solidFill>
                  <a:srgbClr val="555B63"/>
                </a:solidFill>
              </a:rPr>
              <a:t>面积比例越接近越高</a:t>
            </a:r>
            <a:endParaRPr sz="1200" b="0">
              <a:solidFill>
                <a:srgbClr val="555B63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52450" y="5429250"/>
            <a:ext cx="110871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66750" y="5543550"/>
            <a:ext cx="1600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type_affinity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362200" y="54292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2476500" y="5543550"/>
            <a:ext cx="455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同类 1.0；兼容 0.6；其他 0.25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124700" y="5429250"/>
            <a:ext cx="9525" cy="571500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239000" y="55435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3"/>
                </a:solidFill>
              </a:defRPr>
            </a:pPr>
            <a:r>
              <a:rPr sz="1400" b="0">
                <a:solidFill>
                  <a:srgbClr val="555B63"/>
                </a:solidFill>
              </a:rPr>
              <a:t>几何类型软降权</a:t>
            </a:r>
            <a:endParaRPr sz="1400" b="0">
              <a:solidFill>
                <a:srgbClr val="555B63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19100" y="6021705"/>
            <a:ext cx="11087100" cy="621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E85D2A"/>
                </a:solidFill>
              </a:defRPr>
            </a:pPr>
            <a:r>
              <a:rPr sz="1600" b="1">
                <a:solidFill>
                  <a:srgbClr val="E85D2A"/>
                </a:solidFill>
              </a:rPr>
              <a:t>pair_score = shape_sim² × position × scale × type；多个 CP map token 可连到同一个 Defect map</a:t>
            </a:r>
            <a:r>
              <a:rPr lang="en-US" sz="1600" b="1">
                <a:solidFill>
                  <a:srgbClr val="E85D2A"/>
                </a:solidFill>
              </a:rPr>
              <a:t> </a:t>
            </a:r>
            <a:r>
              <a:rPr sz="1600" b="1">
                <a:solidFill>
                  <a:srgbClr val="E85D2A"/>
                </a:solidFill>
              </a:rPr>
              <a:t>token。</a:t>
            </a:r>
            <a:endParaRPr sz="1600" b="1">
              <a:solidFill>
                <a:srgbClr val="E85D2A"/>
              </a:solidFill>
            </a:endParaRPr>
          </a:p>
          <a:p>
            <a:pPr algn="l">
              <a:defRPr sz="1425" b="1">
                <a:solidFill>
                  <a:srgbClr val="E85D2A"/>
                </a:solidFill>
              </a:defRPr>
            </a:pPr>
            <a:r>
              <a:rPr lang="en-US" altLang="zh-CN" sz="1600" b="1">
                <a:solidFill>
                  <a:srgbClr val="E85D2A"/>
                </a:solidFill>
              </a:rPr>
              <a:t>final_score = Σ best_pair_score </a:t>
            </a:r>
            <a:r>
              <a:rPr lang="en-US" altLang="en-US" sz="1600" b="1">
                <a:solidFill>
                  <a:srgbClr val="E85D2A"/>
                </a:solidFill>
              </a:rPr>
              <a:t>×</a:t>
            </a:r>
            <a:r>
              <a:rPr lang="en-US" altLang="zh-CN" sz="1600" b="1">
                <a:solidFill>
                  <a:srgbClr val="E85D2A"/>
                </a:solidFill>
              </a:rPr>
              <a:t> sqrt(area_i) / Σ_i sqrt(area_i);  </a:t>
            </a:r>
            <a:r>
              <a:rPr lang="zh-CN" altLang="en-US" sz="1600" b="1">
                <a:solidFill>
                  <a:srgbClr val="E85D2A"/>
                </a:solidFill>
              </a:rPr>
              <a:t>按面积加权计算最终</a:t>
            </a:r>
            <a:r>
              <a:rPr lang="en-US" altLang="zh-CN" sz="1600" b="1">
                <a:solidFill>
                  <a:srgbClr val="E85D2A"/>
                </a:solidFill>
              </a:rPr>
              <a:t>score</a:t>
            </a:r>
            <a:endParaRPr lang="en-US" altLang="zh-CN" sz="1600" b="1">
              <a:solidFill>
                <a:srgbClr val="E85D2A"/>
              </a:solidFill>
            </a:endParaRPr>
          </a:p>
          <a:p>
            <a:pPr algn="l">
              <a:defRPr sz="1425" b="1">
                <a:solidFill>
                  <a:srgbClr val="E85D2A"/>
                </a:solidFill>
              </a:defRPr>
            </a:pPr>
            <a:endParaRPr lang="en-US" altLang="zh-CN" sz="1600" b="1">
              <a:solidFill>
                <a:srgbClr val="E85D2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200" b="1">
                <a:solidFill>
                  <a:srgbClr val="E85D2A"/>
                </a:solidFill>
              </a:rPr>
              <a:t>4. Count-Partial</a:t>
            </a:r>
            <a:endParaRPr sz="120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6477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count</a:t>
            </a:r>
            <a:r>
              <a:rPr lang="en-US" sz="3000" b="1">
                <a:solidFill>
                  <a:srgbClr val="101114"/>
                </a:solidFill>
              </a:rPr>
              <a:t> map</a:t>
            </a:r>
            <a:r>
              <a:rPr sz="3000" b="1">
                <a:solidFill>
                  <a:srgbClr val="101114"/>
                </a:solidFill>
              </a:rPr>
              <a:t>：方案简介与衡量指标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33500"/>
            <a:ext cx="11087100" cy="9525"/>
          </a:xfrm>
          <a:prstGeom prst="rect">
            <a:avLst/>
          </a:prstGeom>
          <a:solidFill>
            <a:srgbClr val="C7CBD1"/>
          </a:solidFill>
          <a:ln w="0">
            <a:solidFill>
              <a:srgbClr val="C7CBD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752600"/>
            <a:ext cx="5381625" cy="3848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57925" y="1752600"/>
            <a:ext cx="5381625" cy="3848100"/>
          </a:xfrm>
          <a:prstGeom prst="rect">
            <a:avLst/>
          </a:prstGeom>
          <a:solidFill>
            <a:srgbClr val="F4F5F7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019300"/>
            <a:ext cx="4848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方案简介</a:t>
            </a:r>
            <a:endParaRPr sz="2025" b="1">
              <a:solidFill>
                <a:srgbClr val="1011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019300"/>
            <a:ext cx="4848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指标解读</a:t>
            </a:r>
            <a:endParaRPr sz="2025" b="1">
              <a:solidFill>
                <a:srgbClr val="1011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6003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350" b="1">
                <a:solidFill>
                  <a:srgbClr val="2563A6"/>
                </a:solidFill>
              </a:rPr>
              <a:t>•</a:t>
            </a:r>
            <a:endParaRPr sz="1350" b="1">
              <a:solidFill>
                <a:srgbClr val="2563A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259080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定位：局部解释型分数，不直接比较整图逐像素重叠</a:t>
            </a:r>
            <a:endParaRPr sz="1350" b="0">
              <a:solidFill>
                <a:srgbClr val="1011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009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350" b="1">
                <a:solidFill>
                  <a:srgbClr val="2563A6"/>
                </a:solidFill>
              </a:rPr>
              <a:t>•</a:t>
            </a:r>
            <a:endParaRPr sz="1350" b="1">
              <a:solidFill>
                <a:srgbClr val="2563A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300037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CP map token 来自失效 die；Defect map</a:t>
            </a:r>
            <a:r>
              <a:rPr lang="en-US" sz="1350" b="0">
                <a:solidFill>
                  <a:srgbClr val="101114"/>
                </a:solidFill>
              </a:rPr>
              <a:t> </a:t>
            </a:r>
            <a:r>
              <a:rPr sz="1350" b="0">
                <a:solidFill>
                  <a:srgbClr val="101114"/>
                </a:solidFill>
              </a:rPr>
              <a:t>oken 来自 count_map 或 binary_map</a:t>
            </a:r>
            <a:endParaRPr sz="1350" b="0">
              <a:solidFill>
                <a:srgbClr val="10111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9150" y="34194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350" b="1">
                <a:solidFill>
                  <a:srgbClr val="2563A6"/>
                </a:solidFill>
              </a:rPr>
              <a:t>•</a:t>
            </a:r>
            <a:endParaRPr sz="1350" b="1">
              <a:solidFill>
                <a:srgbClr val="2563A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340995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每个 CP map token 找到最佳 Defect map</a:t>
            </a:r>
            <a:r>
              <a:rPr lang="en-US" sz="1350" b="0">
                <a:solidFill>
                  <a:srgbClr val="101114"/>
                </a:solidFill>
              </a:rPr>
              <a:t> </a:t>
            </a:r>
            <a:r>
              <a:rPr sz="1350" b="0">
                <a:solidFill>
                  <a:srgbClr val="101114"/>
                </a:solidFill>
              </a:rPr>
              <a:t>token，并按 sqrt(area) 加权平均</a:t>
            </a:r>
            <a:endParaRPr sz="1350" b="0">
              <a:solidFill>
                <a:srgbClr val="10111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9150" y="38290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A6"/>
                </a:solidFill>
              </a:defRPr>
            </a:pPr>
            <a:r>
              <a:rPr sz="1350" b="1">
                <a:solidFill>
                  <a:srgbClr val="2563A6"/>
                </a:solidFill>
              </a:rPr>
              <a:t>•</a:t>
            </a:r>
            <a:endParaRPr sz="1350" b="1">
              <a:solidFill>
                <a:srgbClr val="2563A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47750" y="381952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TopK 图片只按 count-partial 排序，便于观察局部解释路径</a:t>
            </a:r>
            <a:endParaRPr sz="1350" b="0">
              <a:solidFill>
                <a:srgbClr val="10111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24625" y="26003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350" b="1">
                <a:solidFill>
                  <a:srgbClr val="287A5B"/>
                </a:solidFill>
              </a:rPr>
              <a:t>•</a:t>
            </a:r>
            <a:endParaRPr sz="1350" b="1">
              <a:solidFill>
                <a:srgbClr val="287A5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53225" y="259080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score：最终局部匹配分数，越高越能解释 CP map</a:t>
            </a:r>
            <a:endParaRPr sz="1350" b="0">
              <a:solidFill>
                <a:srgbClr val="1011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24625" y="30099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350" b="1">
                <a:solidFill>
                  <a:srgbClr val="287A5B"/>
                </a:solidFill>
              </a:rPr>
              <a:t>•</a:t>
            </a:r>
            <a:endParaRPr sz="1350" b="1">
              <a:solidFill>
                <a:srgbClr val="287A5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53225" y="300037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shape：最佳 pair 的形状相似度加权平均</a:t>
            </a:r>
            <a:endParaRPr sz="1350" b="0">
              <a:solidFill>
                <a:srgbClr val="10111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24625" y="34194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350" b="1">
                <a:solidFill>
                  <a:srgbClr val="287A5B"/>
                </a:solidFill>
              </a:rPr>
              <a:t>•</a:t>
            </a:r>
            <a:endParaRPr sz="1350" b="1">
              <a:solidFill>
                <a:srgbClr val="287A5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53225" y="3409950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pos / scale：位置与尺度亲和度加权平均</a:t>
            </a:r>
            <a:endParaRPr sz="1350" b="0">
              <a:solidFill>
                <a:srgbClr val="10111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24625" y="38290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7A5B"/>
                </a:solidFill>
              </a:defRPr>
            </a:pPr>
            <a:r>
              <a:rPr sz="1350" b="1">
                <a:solidFill>
                  <a:srgbClr val="287A5B"/>
                </a:solidFill>
              </a:rPr>
              <a:t>•</a:t>
            </a:r>
            <a:endParaRPr sz="1350" b="1">
              <a:solidFill>
                <a:srgbClr val="287A5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753225" y="3819525"/>
            <a:ext cx="4619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type：几何类型亲和度；tokens=matched/CP map/defect map</a:t>
            </a:r>
            <a:endParaRPr sz="1350" b="0">
              <a:solidFill>
                <a:srgbClr val="10111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5. Classnumber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6477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2800" b="1">
                <a:solidFill>
                  <a:srgbClr val="101114"/>
                </a:solidFill>
              </a:rPr>
              <a:t>Classnumber</a:t>
            </a:r>
            <a:r>
              <a:rPr lang="en-US" sz="2800" b="1">
                <a:solidFill>
                  <a:srgbClr val="101114"/>
                </a:solidFill>
              </a:rPr>
              <a:t> split map</a:t>
            </a:r>
            <a:r>
              <a:rPr sz="2800" b="1">
                <a:solidFill>
                  <a:srgbClr val="101114"/>
                </a:solidFill>
              </a:rPr>
              <a:t>：分图匹配方案与图上指标</a:t>
            </a:r>
            <a:endParaRPr sz="2800" b="1">
              <a:solidFill>
                <a:srgbClr val="1011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33500"/>
            <a:ext cx="11087100" cy="9525"/>
          </a:xfrm>
          <a:prstGeom prst="rect">
            <a:avLst/>
          </a:prstGeom>
          <a:solidFill>
            <a:srgbClr val="C7CBD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676400"/>
            <a:ext cx="2095500" cy="6667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847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单个 KLARF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638425" y="1847850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00350" y="1676400"/>
            <a:ext cx="2095500" cy="6667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895600" y="1847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按 classnumber 拆分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86325" y="1847850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48250" y="1676400"/>
            <a:ext cx="2095500" cy="6667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143500" y="1847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分图映射 GridMaps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134225" y="1847850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96150" y="1676400"/>
            <a:ext cx="2095500" cy="666750"/>
          </a:xfrm>
          <a:prstGeom prst="rect">
            <a:avLst/>
          </a:prstGeom>
          <a:solidFill>
            <a:srgbClr val="F7F7F8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91400" y="1847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分别 partial matching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82125" y="1847850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E85D2A"/>
                </a:solidFill>
              </a:defRPr>
            </a:pPr>
            <a:r>
              <a:rPr sz="2000" b="0">
                <a:solidFill>
                  <a:srgbClr val="E85D2A"/>
                </a:solidFill>
              </a:rPr>
              <a:t>→</a:t>
            </a:r>
            <a:endParaRPr sz="2000" b="0">
              <a:solidFill>
                <a:srgbClr val="E85D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44050" y="1676400"/>
            <a:ext cx="2095500" cy="666750"/>
          </a:xfrm>
          <a:prstGeom prst="rect">
            <a:avLst/>
          </a:prstGeom>
          <a:solidFill>
            <a:srgbClr val="F1F2F4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639300" y="1847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1114"/>
                </a:solidFill>
              </a:defRPr>
            </a:pPr>
            <a:r>
              <a:rPr sz="1400" b="1">
                <a:solidFill>
                  <a:srgbClr val="101114"/>
                </a:solidFill>
              </a:rPr>
              <a:t>选择最佳 class</a:t>
            </a:r>
            <a:endParaRPr sz="1400" b="1">
              <a:solidFill>
                <a:srgbClr val="1011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2285" y="3125470"/>
            <a:ext cx="3656330" cy="3108325"/>
          </a:xfrm>
          <a:prstGeom prst="rect">
            <a:avLst/>
          </a:prstGeom>
          <a:solidFill>
            <a:srgbClr val="F4F5F7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30885" y="335407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1114"/>
                </a:solidFill>
              </a:defRPr>
            </a:pPr>
            <a:r>
              <a:rPr sz="2000" b="1">
                <a:solidFill>
                  <a:srgbClr val="101114"/>
                </a:solidFill>
              </a:rPr>
              <a:t>方案简介</a:t>
            </a:r>
            <a:endParaRPr sz="2000" b="1">
              <a:solidFill>
                <a:srgbClr val="10111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30885" y="383984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59485" y="3830320"/>
            <a:ext cx="33743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每个 KLARF 按 defect 的 classnumber 拆成多个 Defect map分图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0885" y="435483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21385" y="4380230"/>
            <a:ext cx="280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每个分图独立与同一张 CP map reference 做局部 token matching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30885" y="488061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9485" y="4859020"/>
            <a:ext cx="280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支持 count、binary、both 三种模式；both 可指定 rank_by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30885" y="540639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1385" y="5406390"/>
            <a:ext cx="280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最终输出文件内最佳 class 和跨文件全局 Top-N class 分图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409440" y="3125470"/>
            <a:ext cx="7179945" cy="3065780"/>
          </a:xfrm>
          <a:prstGeom prst="rect">
            <a:avLst/>
          </a:prstGeom>
          <a:solidFill>
            <a:srgbClr val="F4F5F7"/>
          </a:solidFill>
          <a:ln w="9525">
            <a:solidFill>
              <a:srgbClr val="C7CBD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540885" y="335407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1114"/>
                </a:solidFill>
              </a:defRPr>
            </a:pPr>
            <a:r>
              <a:rPr sz="2000" b="1">
                <a:solidFill>
                  <a:srgbClr val="101114"/>
                </a:solidFill>
              </a:rPr>
              <a:t>核心衡量指标</a:t>
            </a:r>
            <a:endParaRPr sz="2000" b="1">
              <a:solidFill>
                <a:srgbClr val="101114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540885" y="383984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769485" y="3830320"/>
            <a:ext cx="6591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best-classnumber：当前 KLARF 内得分最高的 classnumber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540885" y="416369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769485" y="4154170"/>
            <a:ext cx="6591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best-classnumber-partial：count 模式下最佳分图的局部匹配分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540885" y="448754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769485" y="4478020"/>
            <a:ext cx="6591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best-classnumber-binary：binary 模式下最佳分图的局部匹配分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540885" y="481139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769485" y="4801870"/>
            <a:ext cx="6591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rank_score：实际用于排序的分数，取决于 rank_by=count 或 binary</a:t>
            </a:r>
            <a:endParaRPr sz="1400" b="0">
              <a:solidFill>
                <a:srgbClr val="101114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540885" y="513524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5D2A"/>
                </a:solidFill>
              </a:defRPr>
            </a:pPr>
            <a:r>
              <a:rPr sz="1400" b="1">
                <a:solidFill>
                  <a:srgbClr val="E85D2A"/>
                </a:solidFill>
              </a:rPr>
              <a:t>•</a:t>
            </a:r>
            <a:endParaRPr sz="1400" b="1">
              <a:solidFill>
                <a:srgbClr val="E85D2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769485" y="5125720"/>
            <a:ext cx="6591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1114"/>
                </a:solidFill>
              </a:defRPr>
            </a:pPr>
            <a:r>
              <a:rPr sz="1400" b="0">
                <a:solidFill>
                  <a:srgbClr val="101114"/>
                </a:solidFill>
              </a:rPr>
              <a:t>tokens=matched/CP map/defect map：匹配到的 CP map token 数、CP map token 总数、Defect maptoken 总数</a:t>
            </a:r>
            <a:endParaRPr sz="1400" b="0">
              <a:solidFill>
                <a:srgbClr val="10111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3703</Words>
  <Application>WPS 演示</Application>
  <PresentationFormat>Converted Presentation</PresentationFormat>
  <Paragraphs>364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JetBrains Mono</vt:lpstr>
      <vt:lpstr>Thonburi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JetBrains Mono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Kay</cp:lastModifiedBy>
  <cp:revision>29</cp:revision>
  <dcterms:created xsi:type="dcterms:W3CDTF">2026-07-01T00:26:26Z</dcterms:created>
  <dcterms:modified xsi:type="dcterms:W3CDTF">2026-07-01T00:26:26Z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F6CCD6A763123ADFAFC2436AC8430F34_42</vt:lpwstr>
  </property>
  <property fmtid="{D5CDD505-2E9C-101B-9397-08002B2CF9AE}" pid="3" name="KSOProductBuildVer">
    <vt:lpwstr>2052-7.2.2.8955</vt:lpwstr>
  </property>
</Properties>
</file>