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7"/>
  </p:sldMasterIdLst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Master" Target="slideMasters/slideMaster1.xml"/><Relationship Id="rId8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4000">
            <a:solidFill>
              <a:srgbClr val="0F172A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Shape 2"/>
          <p:cNvSpPr/>
          <p:nvPr/>
        </p:nvSpPr>
        <p:spPr>
          <a:xfrm>
            <a:off x="7700000" y="-760000"/>
            <a:ext cx="4300000" cy="4300000"/>
          </a:xfrm>
          <a:prstGeom prst="ellipse">
            <a:avLst/>
          </a:prstGeom>
          <a:solidFill>
            <a:srgbClr val="1D4ED8"/>
          </a:solidFill>
          <a:ln w="14000">
            <a:solidFill>
              <a:srgbClr val="1D4ED8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" name="Shape 3"/>
          <p:cNvSpPr/>
          <p:nvPr/>
        </p:nvSpPr>
        <p:spPr>
          <a:xfrm>
            <a:off x="8650000" y="3200000"/>
            <a:ext cx="2800000" cy="280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" name="Text 4"/>
          <p:cNvSpPr txBox="1"/>
          <p:nvPr/>
        </p:nvSpPr>
        <p:spPr>
          <a:xfrm>
            <a:off x="760000" y="760000"/>
            <a:ext cx="90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600" b="1">
                <a:solidFill>
                  <a:srgbClr val="FFFFFF"/>
                </a:solidFill>
              </a:rPr>
              <a:t>单片晶圆匹配：问题建模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00000" y="1510000"/>
            <a:ext cx="95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750">
                <a:solidFill>
                  <a:srgbClr val="CBD5E1"/>
                </a:solidFill>
              </a:rPr>
              <a:t>一张参考网格 R vs 一组候选散点 {C_i}，在旋转、平移、小缩放下找最佳匹配</a:t>
            </a:r>
          </a:p>
        </p:txBody>
      </p:sp>
      <p:sp>
        <p:nvSpPr>
          <p:cNvPr id="10" name="Shape 10"/>
          <p:cNvSpPr/>
          <p:nvPr/>
        </p:nvSpPr>
        <p:spPr>
          <a:xfrm>
            <a:off x="980000" y="2850000"/>
            <a:ext cx="1500000" cy="15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1" name="Shape 11"/>
          <p:cNvSpPr/>
          <p:nvPr/>
        </p:nvSpPr>
        <p:spPr>
          <a:xfrm>
            <a:off x="150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2" name="Shape 12"/>
          <p:cNvSpPr/>
          <p:nvPr/>
        </p:nvSpPr>
        <p:spPr>
          <a:xfrm>
            <a:off x="165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3" name="Shape 13"/>
          <p:cNvSpPr/>
          <p:nvPr/>
        </p:nvSpPr>
        <p:spPr>
          <a:xfrm>
            <a:off x="180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4" name="Shape 14"/>
          <p:cNvSpPr/>
          <p:nvPr/>
        </p:nvSpPr>
        <p:spPr>
          <a:xfrm>
            <a:off x="135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5" name="Shape 15"/>
          <p:cNvSpPr/>
          <p:nvPr/>
        </p:nvSpPr>
        <p:spPr>
          <a:xfrm>
            <a:off x="1505000" y="3225000"/>
            <a:ext cx="141000" cy="14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6" name="Shape 16"/>
          <p:cNvSpPr/>
          <p:nvPr/>
        </p:nvSpPr>
        <p:spPr>
          <a:xfrm>
            <a:off x="165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7" name="Shape 17"/>
          <p:cNvSpPr/>
          <p:nvPr/>
        </p:nvSpPr>
        <p:spPr>
          <a:xfrm>
            <a:off x="180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8" name="Shape 18"/>
          <p:cNvSpPr/>
          <p:nvPr/>
        </p:nvSpPr>
        <p:spPr>
          <a:xfrm>
            <a:off x="195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9" name="Shape 19"/>
          <p:cNvSpPr/>
          <p:nvPr/>
        </p:nvSpPr>
        <p:spPr>
          <a:xfrm>
            <a:off x="120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0" name="Shape 20"/>
          <p:cNvSpPr/>
          <p:nvPr/>
        </p:nvSpPr>
        <p:spPr>
          <a:xfrm>
            <a:off x="135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1" name="Shape 21"/>
          <p:cNvSpPr/>
          <p:nvPr/>
        </p:nvSpPr>
        <p:spPr>
          <a:xfrm>
            <a:off x="1505000" y="3375000"/>
            <a:ext cx="141000" cy="14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2" name="Shape 22"/>
          <p:cNvSpPr/>
          <p:nvPr/>
        </p:nvSpPr>
        <p:spPr>
          <a:xfrm>
            <a:off x="1655000" y="3375000"/>
            <a:ext cx="141000" cy="14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3" name="Shape 23"/>
          <p:cNvSpPr/>
          <p:nvPr/>
        </p:nvSpPr>
        <p:spPr>
          <a:xfrm>
            <a:off x="180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4" name="Shape 24"/>
          <p:cNvSpPr/>
          <p:nvPr/>
        </p:nvSpPr>
        <p:spPr>
          <a:xfrm>
            <a:off x="195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5" name="Shape 25"/>
          <p:cNvSpPr/>
          <p:nvPr/>
        </p:nvSpPr>
        <p:spPr>
          <a:xfrm>
            <a:off x="210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6" name="Shape 26"/>
          <p:cNvSpPr/>
          <p:nvPr/>
        </p:nvSpPr>
        <p:spPr>
          <a:xfrm>
            <a:off x="120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7" name="Shape 27"/>
          <p:cNvSpPr/>
          <p:nvPr/>
        </p:nvSpPr>
        <p:spPr>
          <a:xfrm>
            <a:off x="135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8" name="Shape 28"/>
          <p:cNvSpPr/>
          <p:nvPr/>
        </p:nvSpPr>
        <p:spPr>
          <a:xfrm>
            <a:off x="150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9" name="Shape 29"/>
          <p:cNvSpPr/>
          <p:nvPr/>
        </p:nvSpPr>
        <p:spPr>
          <a:xfrm>
            <a:off x="165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0" name="Shape 30"/>
          <p:cNvSpPr/>
          <p:nvPr/>
        </p:nvSpPr>
        <p:spPr>
          <a:xfrm>
            <a:off x="180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1" name="Shape 31"/>
          <p:cNvSpPr/>
          <p:nvPr/>
        </p:nvSpPr>
        <p:spPr>
          <a:xfrm>
            <a:off x="195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2" name="Shape 32"/>
          <p:cNvSpPr/>
          <p:nvPr/>
        </p:nvSpPr>
        <p:spPr>
          <a:xfrm>
            <a:off x="210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3" name="Shape 33"/>
          <p:cNvSpPr/>
          <p:nvPr/>
        </p:nvSpPr>
        <p:spPr>
          <a:xfrm>
            <a:off x="120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4" name="Shape 34"/>
          <p:cNvSpPr/>
          <p:nvPr/>
        </p:nvSpPr>
        <p:spPr>
          <a:xfrm>
            <a:off x="135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" name="Shape 35"/>
          <p:cNvSpPr/>
          <p:nvPr/>
        </p:nvSpPr>
        <p:spPr>
          <a:xfrm>
            <a:off x="150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" name="Shape 36"/>
          <p:cNvSpPr/>
          <p:nvPr/>
        </p:nvSpPr>
        <p:spPr>
          <a:xfrm>
            <a:off x="165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" name="Shape 37"/>
          <p:cNvSpPr/>
          <p:nvPr/>
        </p:nvSpPr>
        <p:spPr>
          <a:xfrm>
            <a:off x="1805000" y="3675000"/>
            <a:ext cx="141000" cy="14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" name="Shape 38"/>
          <p:cNvSpPr/>
          <p:nvPr/>
        </p:nvSpPr>
        <p:spPr>
          <a:xfrm>
            <a:off x="195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9" name="Shape 39"/>
          <p:cNvSpPr/>
          <p:nvPr/>
        </p:nvSpPr>
        <p:spPr>
          <a:xfrm>
            <a:off x="210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0" name="Shape 40"/>
          <p:cNvSpPr/>
          <p:nvPr/>
        </p:nvSpPr>
        <p:spPr>
          <a:xfrm>
            <a:off x="135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1" name="Shape 41"/>
          <p:cNvSpPr/>
          <p:nvPr/>
        </p:nvSpPr>
        <p:spPr>
          <a:xfrm>
            <a:off x="150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2" name="Shape 42"/>
          <p:cNvSpPr/>
          <p:nvPr/>
        </p:nvSpPr>
        <p:spPr>
          <a:xfrm>
            <a:off x="165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3" name="Shape 43"/>
          <p:cNvSpPr/>
          <p:nvPr/>
        </p:nvSpPr>
        <p:spPr>
          <a:xfrm>
            <a:off x="180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4" name="Shape 44"/>
          <p:cNvSpPr/>
          <p:nvPr/>
        </p:nvSpPr>
        <p:spPr>
          <a:xfrm>
            <a:off x="195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5" name="Shape 45"/>
          <p:cNvSpPr/>
          <p:nvPr/>
        </p:nvSpPr>
        <p:spPr>
          <a:xfrm>
            <a:off x="150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6" name="Shape 46"/>
          <p:cNvSpPr/>
          <p:nvPr/>
        </p:nvSpPr>
        <p:spPr>
          <a:xfrm>
            <a:off x="165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7" name="Shape 47"/>
          <p:cNvSpPr/>
          <p:nvPr/>
        </p:nvSpPr>
        <p:spPr>
          <a:xfrm>
            <a:off x="180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48" name="Text 248"/>
          <p:cNvSpPr txBox="1"/>
          <p:nvPr/>
        </p:nvSpPr>
        <p:spPr>
          <a:xfrm>
            <a:off x="880000" y="4430000"/>
            <a:ext cx="1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参考 R：网格形式</a:t>
            </a:r>
          </a:p>
        </p:txBody>
      </p:sp>
      <p:cxnSp>
        <p:nvCxnSpPr>
          <p:cNvPr id="686" name="Connector 686"/>
          <p:cNvCxnSpPr/>
          <p:nvPr/>
        </p:nvCxnSpPr>
        <p:spPr>
          <a:xfrm>
            <a:off x="2660000" y="3600000"/>
            <a:ext cx="990000" cy="1"/>
          </a:xfrm>
          <a:prstGeom prst="line">
            <a:avLst/>
          </a:prstGeom>
          <a:ln w="18000">
            <a:solidFill>
              <a:srgbClr val="CBD5E1"/>
            </a:solidFill>
            <a:tailEnd type="triangle"/>
          </a:ln>
        </p:spPr>
      </p:cxnSp>
      <p:sp>
        <p:nvSpPr>
          <p:cNvPr id="348" name="Shape 348"/>
          <p:cNvSpPr/>
          <p:nvPr/>
        </p:nvSpPr>
        <p:spPr>
          <a:xfrm>
            <a:off x="3750000" y="2850000"/>
            <a:ext cx="1500000" cy="15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49" name="Shape 349"/>
          <p:cNvSpPr/>
          <p:nvPr/>
        </p:nvSpPr>
        <p:spPr>
          <a:xfrm>
            <a:off x="427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0" name="Shape 350"/>
          <p:cNvSpPr/>
          <p:nvPr/>
        </p:nvSpPr>
        <p:spPr>
          <a:xfrm>
            <a:off x="442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1" name="Shape 351"/>
          <p:cNvSpPr/>
          <p:nvPr/>
        </p:nvSpPr>
        <p:spPr>
          <a:xfrm>
            <a:off x="4575000" y="30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2" name="Shape 352"/>
          <p:cNvSpPr/>
          <p:nvPr/>
        </p:nvSpPr>
        <p:spPr>
          <a:xfrm>
            <a:off x="412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3" name="Shape 353"/>
          <p:cNvSpPr/>
          <p:nvPr/>
        </p:nvSpPr>
        <p:spPr>
          <a:xfrm>
            <a:off x="427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4" name="Shape 354"/>
          <p:cNvSpPr/>
          <p:nvPr/>
        </p:nvSpPr>
        <p:spPr>
          <a:xfrm>
            <a:off x="442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54" name="Shape 454"/>
          <p:cNvSpPr/>
          <p:nvPr/>
        </p:nvSpPr>
        <p:spPr>
          <a:xfrm>
            <a:off x="4475000" y="3275000"/>
            <a:ext cx="50000" cy="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5" name="Shape 355"/>
          <p:cNvSpPr/>
          <p:nvPr/>
        </p:nvSpPr>
        <p:spPr>
          <a:xfrm>
            <a:off x="457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6" name="Shape 356"/>
          <p:cNvSpPr/>
          <p:nvPr/>
        </p:nvSpPr>
        <p:spPr>
          <a:xfrm>
            <a:off x="4725000" y="32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7" name="Shape 357"/>
          <p:cNvSpPr/>
          <p:nvPr/>
        </p:nvSpPr>
        <p:spPr>
          <a:xfrm>
            <a:off x="397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8" name="Shape 358"/>
          <p:cNvSpPr/>
          <p:nvPr/>
        </p:nvSpPr>
        <p:spPr>
          <a:xfrm>
            <a:off x="412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9" name="Shape 359"/>
          <p:cNvSpPr/>
          <p:nvPr/>
        </p:nvSpPr>
        <p:spPr>
          <a:xfrm>
            <a:off x="427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59" name="Shape 459"/>
          <p:cNvSpPr/>
          <p:nvPr/>
        </p:nvSpPr>
        <p:spPr>
          <a:xfrm>
            <a:off x="4325000" y="3425000"/>
            <a:ext cx="50000" cy="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0" name="Shape 360"/>
          <p:cNvSpPr/>
          <p:nvPr/>
        </p:nvSpPr>
        <p:spPr>
          <a:xfrm>
            <a:off x="442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1" name="Shape 361"/>
          <p:cNvSpPr/>
          <p:nvPr/>
        </p:nvSpPr>
        <p:spPr>
          <a:xfrm>
            <a:off x="457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2" name="Shape 362"/>
          <p:cNvSpPr/>
          <p:nvPr/>
        </p:nvSpPr>
        <p:spPr>
          <a:xfrm>
            <a:off x="472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3" name="Shape 363"/>
          <p:cNvSpPr/>
          <p:nvPr/>
        </p:nvSpPr>
        <p:spPr>
          <a:xfrm>
            <a:off x="4875000" y="33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4" name="Shape 364"/>
          <p:cNvSpPr/>
          <p:nvPr/>
        </p:nvSpPr>
        <p:spPr>
          <a:xfrm>
            <a:off x="397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5" name="Shape 365"/>
          <p:cNvSpPr/>
          <p:nvPr/>
        </p:nvSpPr>
        <p:spPr>
          <a:xfrm>
            <a:off x="412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6" name="Shape 366"/>
          <p:cNvSpPr/>
          <p:nvPr/>
        </p:nvSpPr>
        <p:spPr>
          <a:xfrm>
            <a:off x="427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7" name="Shape 367"/>
          <p:cNvSpPr/>
          <p:nvPr/>
        </p:nvSpPr>
        <p:spPr>
          <a:xfrm>
            <a:off x="442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8" name="Shape 368"/>
          <p:cNvSpPr/>
          <p:nvPr/>
        </p:nvSpPr>
        <p:spPr>
          <a:xfrm>
            <a:off x="457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68" name="Shape 468"/>
          <p:cNvSpPr/>
          <p:nvPr/>
        </p:nvSpPr>
        <p:spPr>
          <a:xfrm>
            <a:off x="4625000" y="3575000"/>
            <a:ext cx="50000" cy="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9" name="Shape 369"/>
          <p:cNvSpPr/>
          <p:nvPr/>
        </p:nvSpPr>
        <p:spPr>
          <a:xfrm>
            <a:off x="472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0" name="Shape 370"/>
          <p:cNvSpPr/>
          <p:nvPr/>
        </p:nvSpPr>
        <p:spPr>
          <a:xfrm>
            <a:off x="4875000" y="35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1" name="Shape 371"/>
          <p:cNvSpPr/>
          <p:nvPr/>
        </p:nvSpPr>
        <p:spPr>
          <a:xfrm>
            <a:off x="397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2" name="Shape 372"/>
          <p:cNvSpPr/>
          <p:nvPr/>
        </p:nvSpPr>
        <p:spPr>
          <a:xfrm>
            <a:off x="412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3" name="Shape 373"/>
          <p:cNvSpPr/>
          <p:nvPr/>
        </p:nvSpPr>
        <p:spPr>
          <a:xfrm>
            <a:off x="427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4" name="Shape 374"/>
          <p:cNvSpPr/>
          <p:nvPr/>
        </p:nvSpPr>
        <p:spPr>
          <a:xfrm>
            <a:off x="442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74" name="Shape 474"/>
          <p:cNvSpPr/>
          <p:nvPr/>
        </p:nvSpPr>
        <p:spPr>
          <a:xfrm>
            <a:off x="4475000" y="3725000"/>
            <a:ext cx="50000" cy="50000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5" name="Shape 375"/>
          <p:cNvSpPr/>
          <p:nvPr/>
        </p:nvSpPr>
        <p:spPr>
          <a:xfrm>
            <a:off x="457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6" name="Shape 376"/>
          <p:cNvSpPr/>
          <p:nvPr/>
        </p:nvSpPr>
        <p:spPr>
          <a:xfrm>
            <a:off x="472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7" name="Shape 377"/>
          <p:cNvSpPr/>
          <p:nvPr/>
        </p:nvSpPr>
        <p:spPr>
          <a:xfrm>
            <a:off x="4875000" y="36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8" name="Shape 378"/>
          <p:cNvSpPr/>
          <p:nvPr/>
        </p:nvSpPr>
        <p:spPr>
          <a:xfrm>
            <a:off x="412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9" name="Shape 379"/>
          <p:cNvSpPr/>
          <p:nvPr/>
        </p:nvSpPr>
        <p:spPr>
          <a:xfrm>
            <a:off x="427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0" name="Shape 380"/>
          <p:cNvSpPr/>
          <p:nvPr/>
        </p:nvSpPr>
        <p:spPr>
          <a:xfrm>
            <a:off x="442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1" name="Shape 381"/>
          <p:cNvSpPr/>
          <p:nvPr/>
        </p:nvSpPr>
        <p:spPr>
          <a:xfrm>
            <a:off x="457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2" name="Shape 382"/>
          <p:cNvSpPr/>
          <p:nvPr/>
        </p:nvSpPr>
        <p:spPr>
          <a:xfrm>
            <a:off x="4725000" y="382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3" name="Shape 383"/>
          <p:cNvSpPr/>
          <p:nvPr/>
        </p:nvSpPr>
        <p:spPr>
          <a:xfrm>
            <a:off x="427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4" name="Shape 384"/>
          <p:cNvSpPr/>
          <p:nvPr/>
        </p:nvSpPr>
        <p:spPr>
          <a:xfrm>
            <a:off x="442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5" name="Shape 385"/>
          <p:cNvSpPr/>
          <p:nvPr/>
        </p:nvSpPr>
        <p:spPr>
          <a:xfrm>
            <a:off x="4575000" y="3975000"/>
            <a:ext cx="141000" cy="14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586" name="Text 586"/>
          <p:cNvSpPr txBox="1"/>
          <p:nvPr/>
        </p:nvSpPr>
        <p:spPr>
          <a:xfrm>
            <a:off x="3650000" y="4430000"/>
            <a:ext cx="17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候选 C_i：散点形式</a:t>
            </a:r>
          </a:p>
        </p:txBody>
      </p:sp>
      <p:sp>
        <p:nvSpPr>
          <p:cNvPr id="687" name="Shape 687"/>
          <p:cNvSpPr/>
          <p:nvPr/>
        </p:nvSpPr>
        <p:spPr>
          <a:xfrm>
            <a:off x="6700000" y="3150000"/>
            <a:ext cx="3100000" cy="86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输出：best candidate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+ best transform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+ best score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Text 2"/>
          <p:cNvSpPr txBox="1"/>
          <p:nvPr/>
        </p:nvSpPr>
        <p:spPr>
          <a:xfrm>
            <a:off x="620000" y="30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1. 输入不是同一种格式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R 已经是 HxW 网格图；每个候选 C_i 是散点集合，需要先映射到 R 的坐标系。</a:t>
            </a:r>
          </a:p>
        </p:txBody>
      </p:sp>
      <p:sp>
        <p:nvSpPr>
          <p:cNvPr id="10" name="Shape 10"/>
          <p:cNvSpPr/>
          <p:nvPr/>
        </p:nvSpPr>
        <p:spPr>
          <a:xfrm>
            <a:off x="850000" y="1850000"/>
            <a:ext cx="1700000" cy="17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1" name="Shape 11"/>
          <p:cNvSpPr/>
          <p:nvPr/>
        </p:nvSpPr>
        <p:spPr>
          <a:xfrm>
            <a:off x="1445000" y="210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2" name="Shape 12"/>
          <p:cNvSpPr/>
          <p:nvPr/>
        </p:nvSpPr>
        <p:spPr>
          <a:xfrm>
            <a:off x="1615000" y="210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3" name="Shape 13"/>
          <p:cNvSpPr/>
          <p:nvPr/>
        </p:nvSpPr>
        <p:spPr>
          <a:xfrm>
            <a:off x="1785000" y="210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4" name="Shape 14"/>
          <p:cNvSpPr/>
          <p:nvPr/>
        </p:nvSpPr>
        <p:spPr>
          <a:xfrm>
            <a:off x="1275000" y="227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5" name="Shape 15"/>
          <p:cNvSpPr/>
          <p:nvPr/>
        </p:nvSpPr>
        <p:spPr>
          <a:xfrm>
            <a:off x="1445000" y="2275000"/>
            <a:ext cx="161000" cy="16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6" name="Shape 16"/>
          <p:cNvSpPr/>
          <p:nvPr/>
        </p:nvSpPr>
        <p:spPr>
          <a:xfrm>
            <a:off x="1615000" y="227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7" name="Shape 17"/>
          <p:cNvSpPr/>
          <p:nvPr/>
        </p:nvSpPr>
        <p:spPr>
          <a:xfrm>
            <a:off x="1785000" y="227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8" name="Shape 18"/>
          <p:cNvSpPr/>
          <p:nvPr/>
        </p:nvSpPr>
        <p:spPr>
          <a:xfrm>
            <a:off x="1955000" y="227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9" name="Shape 19"/>
          <p:cNvSpPr/>
          <p:nvPr/>
        </p:nvSpPr>
        <p:spPr>
          <a:xfrm>
            <a:off x="1105000" y="244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0" name="Shape 20"/>
          <p:cNvSpPr/>
          <p:nvPr/>
        </p:nvSpPr>
        <p:spPr>
          <a:xfrm>
            <a:off x="1275000" y="244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1" name="Shape 21"/>
          <p:cNvSpPr/>
          <p:nvPr/>
        </p:nvSpPr>
        <p:spPr>
          <a:xfrm>
            <a:off x="1445000" y="2445000"/>
            <a:ext cx="161000" cy="16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2" name="Shape 22"/>
          <p:cNvSpPr/>
          <p:nvPr/>
        </p:nvSpPr>
        <p:spPr>
          <a:xfrm>
            <a:off x="1615000" y="2445000"/>
            <a:ext cx="161000" cy="16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3" name="Shape 23"/>
          <p:cNvSpPr/>
          <p:nvPr/>
        </p:nvSpPr>
        <p:spPr>
          <a:xfrm>
            <a:off x="1785000" y="244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4" name="Shape 24"/>
          <p:cNvSpPr/>
          <p:nvPr/>
        </p:nvSpPr>
        <p:spPr>
          <a:xfrm>
            <a:off x="1955000" y="244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5" name="Shape 25"/>
          <p:cNvSpPr/>
          <p:nvPr/>
        </p:nvSpPr>
        <p:spPr>
          <a:xfrm>
            <a:off x="2125000" y="244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6" name="Shape 26"/>
          <p:cNvSpPr/>
          <p:nvPr/>
        </p:nvSpPr>
        <p:spPr>
          <a:xfrm>
            <a:off x="110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7" name="Shape 27"/>
          <p:cNvSpPr/>
          <p:nvPr/>
        </p:nvSpPr>
        <p:spPr>
          <a:xfrm>
            <a:off x="127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8" name="Shape 28"/>
          <p:cNvSpPr/>
          <p:nvPr/>
        </p:nvSpPr>
        <p:spPr>
          <a:xfrm>
            <a:off x="144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9" name="Shape 29"/>
          <p:cNvSpPr/>
          <p:nvPr/>
        </p:nvSpPr>
        <p:spPr>
          <a:xfrm>
            <a:off x="161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0" name="Shape 30"/>
          <p:cNvSpPr/>
          <p:nvPr/>
        </p:nvSpPr>
        <p:spPr>
          <a:xfrm>
            <a:off x="178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1" name="Shape 31"/>
          <p:cNvSpPr/>
          <p:nvPr/>
        </p:nvSpPr>
        <p:spPr>
          <a:xfrm>
            <a:off x="195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2" name="Shape 32"/>
          <p:cNvSpPr/>
          <p:nvPr/>
        </p:nvSpPr>
        <p:spPr>
          <a:xfrm>
            <a:off x="2125000" y="261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3" name="Shape 33"/>
          <p:cNvSpPr/>
          <p:nvPr/>
        </p:nvSpPr>
        <p:spPr>
          <a:xfrm>
            <a:off x="110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4" name="Shape 34"/>
          <p:cNvSpPr/>
          <p:nvPr/>
        </p:nvSpPr>
        <p:spPr>
          <a:xfrm>
            <a:off x="127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" name="Shape 35"/>
          <p:cNvSpPr/>
          <p:nvPr/>
        </p:nvSpPr>
        <p:spPr>
          <a:xfrm>
            <a:off x="144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" name="Shape 36"/>
          <p:cNvSpPr/>
          <p:nvPr/>
        </p:nvSpPr>
        <p:spPr>
          <a:xfrm>
            <a:off x="161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" name="Shape 37"/>
          <p:cNvSpPr/>
          <p:nvPr/>
        </p:nvSpPr>
        <p:spPr>
          <a:xfrm>
            <a:off x="1785000" y="2785000"/>
            <a:ext cx="161000" cy="161000"/>
          </a:xfrm>
          <a:prstGeom prst="rect">
            <a:avLst/>
          </a:prstGeom>
          <a:solidFill>
            <a:srgbClr val="EA580C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" name="Shape 38"/>
          <p:cNvSpPr/>
          <p:nvPr/>
        </p:nvSpPr>
        <p:spPr>
          <a:xfrm>
            <a:off x="195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9" name="Shape 39"/>
          <p:cNvSpPr/>
          <p:nvPr/>
        </p:nvSpPr>
        <p:spPr>
          <a:xfrm>
            <a:off x="2125000" y="278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0" name="Shape 40"/>
          <p:cNvSpPr/>
          <p:nvPr/>
        </p:nvSpPr>
        <p:spPr>
          <a:xfrm>
            <a:off x="1275000" y="295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1" name="Shape 41"/>
          <p:cNvSpPr/>
          <p:nvPr/>
        </p:nvSpPr>
        <p:spPr>
          <a:xfrm>
            <a:off x="1445000" y="295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2" name="Shape 42"/>
          <p:cNvSpPr/>
          <p:nvPr/>
        </p:nvSpPr>
        <p:spPr>
          <a:xfrm>
            <a:off x="1615000" y="295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3" name="Shape 43"/>
          <p:cNvSpPr/>
          <p:nvPr/>
        </p:nvSpPr>
        <p:spPr>
          <a:xfrm>
            <a:off x="1785000" y="295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4" name="Shape 44"/>
          <p:cNvSpPr/>
          <p:nvPr/>
        </p:nvSpPr>
        <p:spPr>
          <a:xfrm>
            <a:off x="1955000" y="295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5" name="Shape 45"/>
          <p:cNvSpPr/>
          <p:nvPr/>
        </p:nvSpPr>
        <p:spPr>
          <a:xfrm>
            <a:off x="1445000" y="312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6" name="Shape 46"/>
          <p:cNvSpPr/>
          <p:nvPr/>
        </p:nvSpPr>
        <p:spPr>
          <a:xfrm>
            <a:off x="1615000" y="312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7" name="Shape 47"/>
          <p:cNvSpPr/>
          <p:nvPr/>
        </p:nvSpPr>
        <p:spPr>
          <a:xfrm>
            <a:off x="1785000" y="3125000"/>
            <a:ext cx="161000" cy="16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48" name="Text 248"/>
          <p:cNvSpPr txBox="1"/>
          <p:nvPr/>
        </p:nvSpPr>
        <p:spPr>
          <a:xfrm>
            <a:off x="750000" y="3630000"/>
            <a:ext cx="19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R = (G_R, M_R, H, W)</a:t>
            </a:r>
          </a:p>
        </p:txBody>
      </p:sp>
      <p:sp>
        <p:nvSpPr>
          <p:cNvPr id="348" name="Shape 348"/>
          <p:cNvSpPr/>
          <p:nvPr/>
        </p:nvSpPr>
        <p:spPr>
          <a:xfrm>
            <a:off x="3300000" y="1800000"/>
            <a:ext cx="3300000" cy="85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G_R：reference grid map</a:t>
            </a: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M_R：reference valid mask</a:t>
            </a:r>
          </a:p>
        </p:txBody>
      </p:sp>
      <p:sp>
        <p:nvSpPr>
          <p:cNvPr id="349" name="Shape 349"/>
          <p:cNvSpPr/>
          <p:nvPr/>
        </p:nvSpPr>
        <p:spPr>
          <a:xfrm>
            <a:off x="7200000" y="1500000"/>
            <a:ext cx="1100000" cy="11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0" name="Shape 350"/>
          <p:cNvSpPr/>
          <p:nvPr/>
        </p:nvSpPr>
        <p:spPr>
          <a:xfrm>
            <a:off x="758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1" name="Shape 351"/>
          <p:cNvSpPr/>
          <p:nvPr/>
        </p:nvSpPr>
        <p:spPr>
          <a:xfrm>
            <a:off x="769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2" name="Shape 352"/>
          <p:cNvSpPr/>
          <p:nvPr/>
        </p:nvSpPr>
        <p:spPr>
          <a:xfrm>
            <a:off x="780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3" name="Shape 353"/>
          <p:cNvSpPr/>
          <p:nvPr/>
        </p:nvSpPr>
        <p:spPr>
          <a:xfrm>
            <a:off x="747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4" name="Shape 354"/>
          <p:cNvSpPr/>
          <p:nvPr/>
        </p:nvSpPr>
        <p:spPr>
          <a:xfrm>
            <a:off x="758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5" name="Shape 355"/>
          <p:cNvSpPr/>
          <p:nvPr/>
        </p:nvSpPr>
        <p:spPr>
          <a:xfrm>
            <a:off x="769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6" name="Shape 356"/>
          <p:cNvSpPr/>
          <p:nvPr/>
        </p:nvSpPr>
        <p:spPr>
          <a:xfrm>
            <a:off x="780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7" name="Shape 357"/>
          <p:cNvSpPr/>
          <p:nvPr/>
        </p:nvSpPr>
        <p:spPr>
          <a:xfrm>
            <a:off x="791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8" name="Shape 358"/>
          <p:cNvSpPr/>
          <p:nvPr/>
        </p:nvSpPr>
        <p:spPr>
          <a:xfrm>
            <a:off x="736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59" name="Shape 359"/>
          <p:cNvSpPr/>
          <p:nvPr/>
        </p:nvSpPr>
        <p:spPr>
          <a:xfrm>
            <a:off x="747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0" name="Shape 360"/>
          <p:cNvSpPr/>
          <p:nvPr/>
        </p:nvSpPr>
        <p:spPr>
          <a:xfrm>
            <a:off x="758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60" name="Shape 460"/>
          <p:cNvSpPr/>
          <p:nvPr/>
        </p:nvSpPr>
        <p:spPr>
          <a:xfrm>
            <a:off x="7621666" y="1921666"/>
            <a:ext cx="36666" cy="36666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1" name="Shape 361"/>
          <p:cNvSpPr/>
          <p:nvPr/>
        </p:nvSpPr>
        <p:spPr>
          <a:xfrm>
            <a:off x="769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2" name="Shape 362"/>
          <p:cNvSpPr/>
          <p:nvPr/>
        </p:nvSpPr>
        <p:spPr>
          <a:xfrm>
            <a:off x="780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3" name="Shape 363"/>
          <p:cNvSpPr/>
          <p:nvPr/>
        </p:nvSpPr>
        <p:spPr>
          <a:xfrm>
            <a:off x="791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4" name="Shape 364"/>
          <p:cNvSpPr/>
          <p:nvPr/>
        </p:nvSpPr>
        <p:spPr>
          <a:xfrm>
            <a:off x="802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5" name="Shape 365"/>
          <p:cNvSpPr/>
          <p:nvPr/>
        </p:nvSpPr>
        <p:spPr>
          <a:xfrm>
            <a:off x="736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6" name="Shape 366"/>
          <p:cNvSpPr/>
          <p:nvPr/>
        </p:nvSpPr>
        <p:spPr>
          <a:xfrm>
            <a:off x="747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7" name="Shape 367"/>
          <p:cNvSpPr/>
          <p:nvPr/>
        </p:nvSpPr>
        <p:spPr>
          <a:xfrm>
            <a:off x="758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8" name="Shape 368"/>
          <p:cNvSpPr/>
          <p:nvPr/>
        </p:nvSpPr>
        <p:spPr>
          <a:xfrm>
            <a:off x="769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468" name="Shape 468"/>
          <p:cNvSpPr/>
          <p:nvPr/>
        </p:nvSpPr>
        <p:spPr>
          <a:xfrm>
            <a:off x="7731666" y="2031666"/>
            <a:ext cx="36666" cy="36666"/>
          </a:xfrm>
          <a:prstGeom prst="ellipse">
            <a:avLst/>
          </a:prstGeom>
          <a:solidFill>
            <a:srgbClr val="059669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69" name="Shape 369"/>
          <p:cNvSpPr/>
          <p:nvPr/>
        </p:nvSpPr>
        <p:spPr>
          <a:xfrm>
            <a:off x="780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0" name="Shape 370"/>
          <p:cNvSpPr/>
          <p:nvPr/>
        </p:nvSpPr>
        <p:spPr>
          <a:xfrm>
            <a:off x="791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1" name="Shape 371"/>
          <p:cNvSpPr/>
          <p:nvPr/>
        </p:nvSpPr>
        <p:spPr>
          <a:xfrm>
            <a:off x="802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2" name="Shape 372"/>
          <p:cNvSpPr/>
          <p:nvPr/>
        </p:nvSpPr>
        <p:spPr>
          <a:xfrm>
            <a:off x="736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3" name="Shape 373"/>
          <p:cNvSpPr/>
          <p:nvPr/>
        </p:nvSpPr>
        <p:spPr>
          <a:xfrm>
            <a:off x="747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4" name="Shape 374"/>
          <p:cNvSpPr/>
          <p:nvPr/>
        </p:nvSpPr>
        <p:spPr>
          <a:xfrm>
            <a:off x="758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5" name="Shape 375"/>
          <p:cNvSpPr/>
          <p:nvPr/>
        </p:nvSpPr>
        <p:spPr>
          <a:xfrm>
            <a:off x="769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6" name="Shape 376"/>
          <p:cNvSpPr/>
          <p:nvPr/>
        </p:nvSpPr>
        <p:spPr>
          <a:xfrm>
            <a:off x="780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7" name="Shape 377"/>
          <p:cNvSpPr/>
          <p:nvPr/>
        </p:nvSpPr>
        <p:spPr>
          <a:xfrm>
            <a:off x="791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8" name="Shape 378"/>
          <p:cNvSpPr/>
          <p:nvPr/>
        </p:nvSpPr>
        <p:spPr>
          <a:xfrm>
            <a:off x="802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79" name="Shape 379"/>
          <p:cNvSpPr/>
          <p:nvPr/>
        </p:nvSpPr>
        <p:spPr>
          <a:xfrm>
            <a:off x="747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0" name="Shape 380"/>
          <p:cNvSpPr/>
          <p:nvPr/>
        </p:nvSpPr>
        <p:spPr>
          <a:xfrm>
            <a:off x="758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1" name="Shape 381"/>
          <p:cNvSpPr/>
          <p:nvPr/>
        </p:nvSpPr>
        <p:spPr>
          <a:xfrm>
            <a:off x="769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2" name="Shape 382"/>
          <p:cNvSpPr/>
          <p:nvPr/>
        </p:nvSpPr>
        <p:spPr>
          <a:xfrm>
            <a:off x="780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3" name="Shape 383"/>
          <p:cNvSpPr/>
          <p:nvPr/>
        </p:nvSpPr>
        <p:spPr>
          <a:xfrm>
            <a:off x="791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4" name="Shape 384"/>
          <p:cNvSpPr/>
          <p:nvPr/>
        </p:nvSpPr>
        <p:spPr>
          <a:xfrm>
            <a:off x="758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5" name="Shape 385"/>
          <p:cNvSpPr/>
          <p:nvPr/>
        </p:nvSpPr>
        <p:spPr>
          <a:xfrm>
            <a:off x="769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386" name="Shape 386"/>
          <p:cNvSpPr/>
          <p:nvPr/>
        </p:nvSpPr>
        <p:spPr>
          <a:xfrm>
            <a:off x="780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587" name="Text 587"/>
          <p:cNvSpPr txBox="1"/>
          <p:nvPr/>
        </p:nvSpPr>
        <p:spPr>
          <a:xfrm>
            <a:off x="7100000" y="2680000"/>
            <a:ext cx="1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C_1</a:t>
            </a:r>
          </a:p>
        </p:txBody>
      </p:sp>
      <p:sp>
        <p:nvSpPr>
          <p:cNvPr id="687" name="Shape 687"/>
          <p:cNvSpPr/>
          <p:nvPr/>
        </p:nvSpPr>
        <p:spPr>
          <a:xfrm>
            <a:off x="8800000" y="1500000"/>
            <a:ext cx="1100000" cy="11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88" name="Shape 688"/>
          <p:cNvSpPr/>
          <p:nvPr/>
        </p:nvSpPr>
        <p:spPr>
          <a:xfrm>
            <a:off x="918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89" name="Shape 689"/>
          <p:cNvSpPr/>
          <p:nvPr/>
        </p:nvSpPr>
        <p:spPr>
          <a:xfrm>
            <a:off x="929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0" name="Shape 690"/>
          <p:cNvSpPr/>
          <p:nvPr/>
        </p:nvSpPr>
        <p:spPr>
          <a:xfrm>
            <a:off x="940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1" name="Shape 691"/>
          <p:cNvSpPr/>
          <p:nvPr/>
        </p:nvSpPr>
        <p:spPr>
          <a:xfrm>
            <a:off x="907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2" name="Shape 692"/>
          <p:cNvSpPr/>
          <p:nvPr/>
        </p:nvSpPr>
        <p:spPr>
          <a:xfrm>
            <a:off x="918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3" name="Shape 693"/>
          <p:cNvSpPr/>
          <p:nvPr/>
        </p:nvSpPr>
        <p:spPr>
          <a:xfrm>
            <a:off x="929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4" name="Shape 694"/>
          <p:cNvSpPr/>
          <p:nvPr/>
        </p:nvSpPr>
        <p:spPr>
          <a:xfrm>
            <a:off x="940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94" name="Shape 794"/>
          <p:cNvSpPr/>
          <p:nvPr/>
        </p:nvSpPr>
        <p:spPr>
          <a:xfrm>
            <a:off x="9441666" y="1811666"/>
            <a:ext cx="36666" cy="36666"/>
          </a:xfrm>
          <a:prstGeom prst="ellipse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5" name="Shape 695"/>
          <p:cNvSpPr/>
          <p:nvPr/>
        </p:nvSpPr>
        <p:spPr>
          <a:xfrm>
            <a:off x="951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6" name="Shape 696"/>
          <p:cNvSpPr/>
          <p:nvPr/>
        </p:nvSpPr>
        <p:spPr>
          <a:xfrm>
            <a:off x="896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7" name="Shape 697"/>
          <p:cNvSpPr/>
          <p:nvPr/>
        </p:nvSpPr>
        <p:spPr>
          <a:xfrm>
            <a:off x="907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8" name="Shape 698"/>
          <p:cNvSpPr/>
          <p:nvPr/>
        </p:nvSpPr>
        <p:spPr>
          <a:xfrm>
            <a:off x="918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699" name="Shape 699"/>
          <p:cNvSpPr/>
          <p:nvPr/>
        </p:nvSpPr>
        <p:spPr>
          <a:xfrm>
            <a:off x="929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0" name="Shape 700"/>
          <p:cNvSpPr/>
          <p:nvPr/>
        </p:nvSpPr>
        <p:spPr>
          <a:xfrm>
            <a:off x="940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1" name="Shape 701"/>
          <p:cNvSpPr/>
          <p:nvPr/>
        </p:nvSpPr>
        <p:spPr>
          <a:xfrm>
            <a:off x="951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2" name="Shape 702"/>
          <p:cNvSpPr/>
          <p:nvPr/>
        </p:nvSpPr>
        <p:spPr>
          <a:xfrm>
            <a:off x="962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3" name="Shape 703"/>
          <p:cNvSpPr/>
          <p:nvPr/>
        </p:nvSpPr>
        <p:spPr>
          <a:xfrm>
            <a:off x="896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4" name="Shape 704"/>
          <p:cNvSpPr/>
          <p:nvPr/>
        </p:nvSpPr>
        <p:spPr>
          <a:xfrm>
            <a:off x="907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5" name="Shape 705"/>
          <p:cNvSpPr/>
          <p:nvPr/>
        </p:nvSpPr>
        <p:spPr>
          <a:xfrm>
            <a:off x="918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805" name="Shape 805"/>
          <p:cNvSpPr/>
          <p:nvPr/>
        </p:nvSpPr>
        <p:spPr>
          <a:xfrm>
            <a:off x="9221666" y="2031666"/>
            <a:ext cx="36666" cy="36666"/>
          </a:xfrm>
          <a:prstGeom prst="ellipse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6" name="Shape 706"/>
          <p:cNvSpPr/>
          <p:nvPr/>
        </p:nvSpPr>
        <p:spPr>
          <a:xfrm>
            <a:off x="929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7" name="Shape 707"/>
          <p:cNvSpPr/>
          <p:nvPr/>
        </p:nvSpPr>
        <p:spPr>
          <a:xfrm>
            <a:off x="940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8" name="Shape 708"/>
          <p:cNvSpPr/>
          <p:nvPr/>
        </p:nvSpPr>
        <p:spPr>
          <a:xfrm>
            <a:off x="951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09" name="Shape 709"/>
          <p:cNvSpPr/>
          <p:nvPr/>
        </p:nvSpPr>
        <p:spPr>
          <a:xfrm>
            <a:off x="962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0" name="Shape 710"/>
          <p:cNvSpPr/>
          <p:nvPr/>
        </p:nvSpPr>
        <p:spPr>
          <a:xfrm>
            <a:off x="896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1" name="Shape 711"/>
          <p:cNvSpPr/>
          <p:nvPr/>
        </p:nvSpPr>
        <p:spPr>
          <a:xfrm>
            <a:off x="907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2" name="Shape 712"/>
          <p:cNvSpPr/>
          <p:nvPr/>
        </p:nvSpPr>
        <p:spPr>
          <a:xfrm>
            <a:off x="918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3" name="Shape 713"/>
          <p:cNvSpPr/>
          <p:nvPr/>
        </p:nvSpPr>
        <p:spPr>
          <a:xfrm>
            <a:off x="929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4" name="Shape 714"/>
          <p:cNvSpPr/>
          <p:nvPr/>
        </p:nvSpPr>
        <p:spPr>
          <a:xfrm>
            <a:off x="940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814" name="Shape 814"/>
          <p:cNvSpPr/>
          <p:nvPr/>
        </p:nvSpPr>
        <p:spPr>
          <a:xfrm>
            <a:off x="9441666" y="2141666"/>
            <a:ext cx="36666" cy="36666"/>
          </a:xfrm>
          <a:prstGeom prst="ellipse">
            <a:avLst/>
          </a:prstGeom>
          <a:solidFill>
            <a:srgbClr val="2563EB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5" name="Shape 715"/>
          <p:cNvSpPr/>
          <p:nvPr/>
        </p:nvSpPr>
        <p:spPr>
          <a:xfrm>
            <a:off x="951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6" name="Shape 716"/>
          <p:cNvSpPr/>
          <p:nvPr/>
        </p:nvSpPr>
        <p:spPr>
          <a:xfrm>
            <a:off x="962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7" name="Shape 717"/>
          <p:cNvSpPr/>
          <p:nvPr/>
        </p:nvSpPr>
        <p:spPr>
          <a:xfrm>
            <a:off x="907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8" name="Shape 718"/>
          <p:cNvSpPr/>
          <p:nvPr/>
        </p:nvSpPr>
        <p:spPr>
          <a:xfrm>
            <a:off x="918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19" name="Shape 719"/>
          <p:cNvSpPr/>
          <p:nvPr/>
        </p:nvSpPr>
        <p:spPr>
          <a:xfrm>
            <a:off x="929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20" name="Shape 720"/>
          <p:cNvSpPr/>
          <p:nvPr/>
        </p:nvSpPr>
        <p:spPr>
          <a:xfrm>
            <a:off x="940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21" name="Shape 721"/>
          <p:cNvSpPr/>
          <p:nvPr/>
        </p:nvSpPr>
        <p:spPr>
          <a:xfrm>
            <a:off x="951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22" name="Shape 722"/>
          <p:cNvSpPr/>
          <p:nvPr/>
        </p:nvSpPr>
        <p:spPr>
          <a:xfrm>
            <a:off x="918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23" name="Shape 723"/>
          <p:cNvSpPr/>
          <p:nvPr/>
        </p:nvSpPr>
        <p:spPr>
          <a:xfrm>
            <a:off x="929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724" name="Shape 724"/>
          <p:cNvSpPr/>
          <p:nvPr/>
        </p:nvSpPr>
        <p:spPr>
          <a:xfrm>
            <a:off x="940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925" name="Text 925"/>
          <p:cNvSpPr txBox="1"/>
          <p:nvPr/>
        </p:nvSpPr>
        <p:spPr>
          <a:xfrm>
            <a:off x="8700000" y="2680000"/>
            <a:ext cx="1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C_2</a:t>
            </a:r>
          </a:p>
        </p:txBody>
      </p:sp>
      <p:sp>
        <p:nvSpPr>
          <p:cNvPr id="1025" name="Shape 1025"/>
          <p:cNvSpPr/>
          <p:nvPr/>
        </p:nvSpPr>
        <p:spPr>
          <a:xfrm>
            <a:off x="10400000" y="1500000"/>
            <a:ext cx="1100000" cy="1100000"/>
          </a:xfrm>
          <a:prstGeom prst="ellipse">
            <a:avLst/>
          </a:prstGeom>
          <a:solidFill>
            <a:srgbClr val="F8FAFC"/>
          </a:solidFill>
          <a:ln w="14000">
            <a:solidFill>
              <a:srgbClr val="CBD5E1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26" name="Shape 1026"/>
          <p:cNvSpPr/>
          <p:nvPr/>
        </p:nvSpPr>
        <p:spPr>
          <a:xfrm>
            <a:off x="1078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27" name="Shape 1027"/>
          <p:cNvSpPr/>
          <p:nvPr/>
        </p:nvSpPr>
        <p:spPr>
          <a:xfrm>
            <a:off x="1089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28" name="Shape 1028"/>
          <p:cNvSpPr/>
          <p:nvPr/>
        </p:nvSpPr>
        <p:spPr>
          <a:xfrm>
            <a:off x="11005000" y="166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29" name="Shape 1029"/>
          <p:cNvSpPr/>
          <p:nvPr/>
        </p:nvSpPr>
        <p:spPr>
          <a:xfrm>
            <a:off x="1067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0" name="Shape 1030"/>
          <p:cNvSpPr/>
          <p:nvPr/>
        </p:nvSpPr>
        <p:spPr>
          <a:xfrm>
            <a:off x="1078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1" name="Shape 1031"/>
          <p:cNvSpPr/>
          <p:nvPr/>
        </p:nvSpPr>
        <p:spPr>
          <a:xfrm>
            <a:off x="1089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2" name="Shape 1032"/>
          <p:cNvSpPr/>
          <p:nvPr/>
        </p:nvSpPr>
        <p:spPr>
          <a:xfrm>
            <a:off x="1100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3" name="Shape 1033"/>
          <p:cNvSpPr/>
          <p:nvPr/>
        </p:nvSpPr>
        <p:spPr>
          <a:xfrm>
            <a:off x="11115000" y="177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4" name="Shape 1034"/>
          <p:cNvSpPr/>
          <p:nvPr/>
        </p:nvSpPr>
        <p:spPr>
          <a:xfrm>
            <a:off x="1056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5" name="Shape 1035"/>
          <p:cNvSpPr/>
          <p:nvPr/>
        </p:nvSpPr>
        <p:spPr>
          <a:xfrm>
            <a:off x="1067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6" name="Shape 1036"/>
          <p:cNvSpPr/>
          <p:nvPr/>
        </p:nvSpPr>
        <p:spPr>
          <a:xfrm>
            <a:off x="1078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7" name="Shape 1037"/>
          <p:cNvSpPr/>
          <p:nvPr/>
        </p:nvSpPr>
        <p:spPr>
          <a:xfrm>
            <a:off x="1089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137" name="Shape 1137"/>
          <p:cNvSpPr/>
          <p:nvPr/>
        </p:nvSpPr>
        <p:spPr>
          <a:xfrm>
            <a:off x="10931666" y="1921666"/>
            <a:ext cx="36666" cy="36666"/>
          </a:xfrm>
          <a:prstGeom prst="ellipse">
            <a:avLst/>
          </a:prstGeom>
          <a:solidFill>
            <a:srgbClr val="7C3AED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8" name="Shape 1038"/>
          <p:cNvSpPr/>
          <p:nvPr/>
        </p:nvSpPr>
        <p:spPr>
          <a:xfrm>
            <a:off x="1100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39" name="Shape 1039"/>
          <p:cNvSpPr/>
          <p:nvPr/>
        </p:nvSpPr>
        <p:spPr>
          <a:xfrm>
            <a:off x="1111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0" name="Shape 1040"/>
          <p:cNvSpPr/>
          <p:nvPr/>
        </p:nvSpPr>
        <p:spPr>
          <a:xfrm>
            <a:off x="11225000" y="188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1" name="Shape 1041"/>
          <p:cNvSpPr/>
          <p:nvPr/>
        </p:nvSpPr>
        <p:spPr>
          <a:xfrm>
            <a:off x="1056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2" name="Shape 1042"/>
          <p:cNvSpPr/>
          <p:nvPr/>
        </p:nvSpPr>
        <p:spPr>
          <a:xfrm>
            <a:off x="1067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3" name="Shape 1043"/>
          <p:cNvSpPr/>
          <p:nvPr/>
        </p:nvSpPr>
        <p:spPr>
          <a:xfrm>
            <a:off x="1078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4" name="Shape 1044"/>
          <p:cNvSpPr/>
          <p:nvPr/>
        </p:nvSpPr>
        <p:spPr>
          <a:xfrm>
            <a:off x="1089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144" name="Shape 1144"/>
          <p:cNvSpPr/>
          <p:nvPr/>
        </p:nvSpPr>
        <p:spPr>
          <a:xfrm>
            <a:off x="10931666" y="2031666"/>
            <a:ext cx="36666" cy="36666"/>
          </a:xfrm>
          <a:prstGeom prst="ellipse">
            <a:avLst/>
          </a:prstGeom>
          <a:solidFill>
            <a:srgbClr val="7C3AED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5" name="Shape 1045"/>
          <p:cNvSpPr/>
          <p:nvPr/>
        </p:nvSpPr>
        <p:spPr>
          <a:xfrm>
            <a:off x="1100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6" name="Shape 1046"/>
          <p:cNvSpPr/>
          <p:nvPr/>
        </p:nvSpPr>
        <p:spPr>
          <a:xfrm>
            <a:off x="1111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7" name="Shape 1047"/>
          <p:cNvSpPr/>
          <p:nvPr/>
        </p:nvSpPr>
        <p:spPr>
          <a:xfrm>
            <a:off x="11225000" y="199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8" name="Shape 1048"/>
          <p:cNvSpPr/>
          <p:nvPr/>
        </p:nvSpPr>
        <p:spPr>
          <a:xfrm>
            <a:off x="1056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49" name="Shape 1049"/>
          <p:cNvSpPr/>
          <p:nvPr/>
        </p:nvSpPr>
        <p:spPr>
          <a:xfrm>
            <a:off x="1067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0" name="Shape 1050"/>
          <p:cNvSpPr/>
          <p:nvPr/>
        </p:nvSpPr>
        <p:spPr>
          <a:xfrm>
            <a:off x="1078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150" name="Shape 1150"/>
          <p:cNvSpPr/>
          <p:nvPr/>
        </p:nvSpPr>
        <p:spPr>
          <a:xfrm>
            <a:off x="10821666" y="2141666"/>
            <a:ext cx="36666" cy="36666"/>
          </a:xfrm>
          <a:prstGeom prst="ellipse">
            <a:avLst/>
          </a:prstGeom>
          <a:solidFill>
            <a:srgbClr val="7C3AED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1" name="Shape 1051"/>
          <p:cNvSpPr/>
          <p:nvPr/>
        </p:nvSpPr>
        <p:spPr>
          <a:xfrm>
            <a:off x="1089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2" name="Shape 1052"/>
          <p:cNvSpPr/>
          <p:nvPr/>
        </p:nvSpPr>
        <p:spPr>
          <a:xfrm>
            <a:off x="1100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3" name="Shape 1053"/>
          <p:cNvSpPr/>
          <p:nvPr/>
        </p:nvSpPr>
        <p:spPr>
          <a:xfrm>
            <a:off x="1111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4" name="Shape 1054"/>
          <p:cNvSpPr/>
          <p:nvPr/>
        </p:nvSpPr>
        <p:spPr>
          <a:xfrm>
            <a:off x="11225000" y="210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5" name="Shape 1055"/>
          <p:cNvSpPr/>
          <p:nvPr/>
        </p:nvSpPr>
        <p:spPr>
          <a:xfrm>
            <a:off x="1067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6" name="Shape 1056"/>
          <p:cNvSpPr/>
          <p:nvPr/>
        </p:nvSpPr>
        <p:spPr>
          <a:xfrm>
            <a:off x="1078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7" name="Shape 1057"/>
          <p:cNvSpPr/>
          <p:nvPr/>
        </p:nvSpPr>
        <p:spPr>
          <a:xfrm>
            <a:off x="1089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8" name="Shape 1058"/>
          <p:cNvSpPr/>
          <p:nvPr/>
        </p:nvSpPr>
        <p:spPr>
          <a:xfrm>
            <a:off x="1100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59" name="Shape 1059"/>
          <p:cNvSpPr/>
          <p:nvPr/>
        </p:nvSpPr>
        <p:spPr>
          <a:xfrm>
            <a:off x="11115000" y="221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60" name="Shape 1060"/>
          <p:cNvSpPr/>
          <p:nvPr/>
        </p:nvSpPr>
        <p:spPr>
          <a:xfrm>
            <a:off x="1078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61" name="Shape 1061"/>
          <p:cNvSpPr/>
          <p:nvPr/>
        </p:nvSpPr>
        <p:spPr>
          <a:xfrm>
            <a:off x="1089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062" name="Shape 1062"/>
          <p:cNvSpPr/>
          <p:nvPr/>
        </p:nvSpPr>
        <p:spPr>
          <a:xfrm>
            <a:off x="11005000" y="2325000"/>
            <a:ext cx="101000" cy="101000"/>
          </a:xfrm>
          <a:prstGeom prst="rect">
            <a:avLst/>
          </a:prstGeom>
          <a:solidFill>
            <a:srgbClr val="E2E8F0"/>
          </a:solidFill>
          <a:ln w="14000">
            <a:solidFill>
              <a:srgbClr val="FFFFFF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1263" name="Text 1263"/>
          <p:cNvSpPr txBox="1"/>
          <p:nvPr/>
        </p:nvSpPr>
        <p:spPr>
          <a:xfrm>
            <a:off x="10300000" y="2680000"/>
            <a:ext cx="13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zh-CN" sz="1350" b="1">
                <a:solidFill>
                  <a:srgbClr val="64748B"/>
                </a:solidFill>
              </a:rPr>
              <a:t>C_n</a:t>
            </a:r>
          </a:p>
        </p:txBody>
      </p:sp>
      <p:sp>
        <p:nvSpPr>
          <p:cNvPr id="1363" name="Shape 1363"/>
          <p:cNvSpPr/>
          <p:nvPr/>
        </p:nvSpPr>
        <p:spPr>
          <a:xfrm>
            <a:off x="7100000" y="3950000"/>
            <a:ext cx="4400000" cy="85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C = {C_i}_{i=1}^n</a:t>
            </a:r>
          </a:p>
          <a:p>
            <a:pPr algn="ctr"/>
            <a:r>
              <a:rPr lang="zh-CN" sz="1450" b="1">
                <a:solidFill>
                  <a:srgbClr val="111827"/>
                </a:solidFill>
              </a:rPr>
              <a:t>C_i = P_i = {p_ij}_{j=1}^{N_i}</a:t>
            </a:r>
          </a:p>
        </p:txBody>
      </p:sp>
      <p:sp>
        <p:nvSpPr>
          <p:cNvPr id="1364" name="Bullets 1364"/>
          <p:cNvSpPr txBox="1"/>
          <p:nvPr/>
        </p:nvSpPr>
        <p:spPr>
          <a:xfrm>
            <a:off x="900000" y="4200000"/>
            <a:ext cx="5600000" cy="1100000"/>
          </a:xfrm>
          <a:prstGeom prst="rect">
            <a:avLst/>
          </a:prstGeom>
          <a:noFill/>
        </p:spPr>
        <p:txBody>
          <a:bodyPr wrap="square"/>
          <a:lstStyle/>
          <a:p>
            <a:pPr marL="260000" indent="-180000">
              <a:buChar char="•"/>
              <a:defRPr sz="1500">
                <a:solidFill>
                  <a:srgbClr val="334155"/>
                </a:solidFill>
              </a:defRPr>
            </a:pPr>
            <a:r>
              <a:rPr lang="zh-CN" sz="1500">
                <a:solidFill>
                  <a:srgbClr val="334155"/>
                </a:solidFill>
              </a:rPr>
              <a:t>R 的有效区域由 M_R 决定</a:t>
            </a:r>
          </a:p>
          <a:p>
            <a:pPr marL="260000" indent="-180000">
              <a:buChar char="•"/>
              <a:defRPr sz="1500">
                <a:solidFill>
                  <a:srgbClr val="334155"/>
                </a:solidFill>
              </a:defRPr>
            </a:pPr>
            <a:r>
              <a:rPr lang="zh-CN" sz="1500">
                <a:solidFill>
                  <a:srgbClr val="334155"/>
                </a:solidFill>
              </a:rPr>
              <a:t>C_i 的散点需要经过几何变换和栅格化</a:t>
            </a:r>
          </a:p>
          <a:p>
            <a:pPr marL="260000" indent="-180000">
              <a:buChar char="•"/>
              <a:defRPr sz="1500">
                <a:solidFill>
                  <a:srgbClr val="334155"/>
                </a:solidFill>
              </a:defRPr>
            </a:pPr>
            <a:r>
              <a:rPr lang="zh-CN" sz="1500">
                <a:solidFill>
                  <a:srgbClr val="334155"/>
                </a:solidFill>
              </a:rPr>
              <a:t>最终所有评分都在 R 的有效区域内计算</a:t>
            </a:r>
          </a:p>
        </p:txBody>
      </p:sp>
      <p:sp>
        <p:nvSpPr>
          <p:cNvPr id="9901" name="Text 9901"/>
          <p:cNvSpPr txBox="1"/>
          <p:nvPr/>
        </p:nvSpPr>
        <p:spPr>
          <a:xfrm>
            <a:off x="620000" y="6460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Single-wafer Matching Problem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Text 2"/>
          <p:cNvSpPr txBox="1"/>
          <p:nvPr/>
        </p:nvSpPr>
        <p:spPr>
          <a:xfrm>
            <a:off x="620000" y="30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2. 核心挑战：格式差异 + 几何不变性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不能直接做像素交集；需要先对 C_i 的散点进行几何对齐。</a:t>
            </a:r>
          </a:p>
        </p:txBody>
      </p:sp>
      <p:sp>
        <p:nvSpPr>
          <p:cNvPr id="20" name="Shape 20"/>
          <p:cNvSpPr/>
          <p:nvPr/>
        </p:nvSpPr>
        <p:spPr>
          <a:xfrm>
            <a:off x="900000" y="1550000"/>
            <a:ext cx="4500000" cy="120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旋转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同一缺陷分布可能整体转过角度 θ</a:t>
            </a:r>
          </a:p>
        </p:txBody>
      </p:sp>
      <p:sp>
        <p:nvSpPr>
          <p:cNvPr id="21" name="Shape 21"/>
          <p:cNvSpPr/>
          <p:nvPr/>
        </p:nvSpPr>
        <p:spPr>
          <a:xfrm>
            <a:off x="6300000" y="1550000"/>
            <a:ext cx="4500000" cy="120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平移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mapper 或坐标原点误差会造成 Δx, Δy 偏移</a:t>
            </a:r>
          </a:p>
        </p:txBody>
      </p:sp>
      <p:sp>
        <p:nvSpPr>
          <p:cNvPr id="22" name="Shape 22"/>
          <p:cNvSpPr/>
          <p:nvPr/>
        </p:nvSpPr>
        <p:spPr>
          <a:xfrm>
            <a:off x="900000" y="3400000"/>
            <a:ext cx="4500000" cy="120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小缩放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die pitch / 尺寸标定误差带来比例 s 变化</a:t>
            </a:r>
          </a:p>
        </p:txBody>
      </p:sp>
      <p:sp>
        <p:nvSpPr>
          <p:cNvPr id="23" name="Shape 23"/>
          <p:cNvSpPr/>
          <p:nvPr/>
        </p:nvSpPr>
        <p:spPr>
          <a:xfrm>
            <a:off x="6300000" y="3400000"/>
            <a:ext cx="4500000" cy="120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50" b="1">
                <a:solidFill>
                  <a:srgbClr val="111827"/>
                </a:solidFill>
              </a:rPr>
              <a:t>表示差异</a:t>
            </a:r>
          </a:p>
          <a:p>
            <a:pPr algn="ctr"/>
            <a:r>
              <a:rPr lang="zh-CN" sz="1550" b="1">
                <a:solidFill>
                  <a:srgbClr val="111827"/>
                </a:solidFill>
              </a:rPr>
              <a:t>R 是网格，C_i 是散点，必须用 Ψ 统一表达</a:t>
            </a:r>
          </a:p>
        </p:txBody>
      </p:sp>
      <p:sp>
        <p:nvSpPr>
          <p:cNvPr id="60" name="Shape 60"/>
          <p:cNvSpPr/>
          <p:nvPr/>
        </p:nvSpPr>
        <p:spPr>
          <a:xfrm>
            <a:off x="2200000" y="5480000"/>
            <a:ext cx="7600000" cy="52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建模策略：对候选散点搜索 T，再栅格化成和 R 同尺寸的图，最后 masked similarity 排序。</a:t>
            </a:r>
          </a:p>
        </p:txBody>
      </p:sp>
      <p:sp>
        <p:nvSpPr>
          <p:cNvPr id="9902" name="Text 9902"/>
          <p:cNvSpPr txBox="1"/>
          <p:nvPr/>
        </p:nvSpPr>
        <p:spPr>
          <a:xfrm>
            <a:off x="620000" y="6460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Single-wafer Matching Problem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Text 2"/>
          <p:cNvSpPr txBox="1"/>
          <p:nvPr/>
        </p:nvSpPr>
        <p:spPr>
          <a:xfrm>
            <a:off x="620000" y="30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3. 一条主公式讲清楚建模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PPT 正文只放主公式；详细符号说明可放备注或附录。</a:t>
            </a:r>
          </a:p>
        </p:txBody>
      </p:sp>
      <p:sp>
        <p:nvSpPr>
          <p:cNvPr id="10" name="Shape 10"/>
          <p:cNvSpPr/>
          <p:nvPr/>
        </p:nvSpPr>
        <p:spPr>
          <a:xfrm>
            <a:off x="780000" y="1550000"/>
            <a:ext cx="10600000" cy="9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650" b="1">
                <a:solidFill>
                  <a:srgbClr val="111827"/>
                </a:solidFill>
              </a:rPr>
              <a:t>i*, θ*, s*, Δx*, Δy* = argmax S( G_R ⊙ M_R, Ψ(T_{θ,s,Δx,Δy}(P_i)) ⊙ M_R )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1250000" y="3000000"/>
            <a:ext cx="4550000" cy="1700000"/>
          </a:xfrm>
          <a:prstGeom prst="rect">
            <a:avLst/>
          </a:prstGeom>
          <a:noFill/>
        </p:spPr>
        <p:txBody>
          <a:bodyPr wrap="square"/>
          <a:lstStyle/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i：候选晶圆编号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G_R：参考晶圆网格图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M_R：参考有效区域 mask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P_i：第 i 个候选的散点集合</a:t>
            </a:r>
          </a:p>
        </p:txBody>
      </p:sp>
      <p:sp>
        <p:nvSpPr>
          <p:cNvPr id="30" name="Bullets 30"/>
          <p:cNvSpPr txBox="1"/>
          <p:nvPr/>
        </p:nvSpPr>
        <p:spPr>
          <a:xfrm>
            <a:off x="6650000" y="3000000"/>
            <a:ext cx="4550000" cy="1700000"/>
          </a:xfrm>
          <a:prstGeom prst="rect">
            <a:avLst/>
          </a:prstGeom>
          <a:noFill/>
        </p:spPr>
        <p:txBody>
          <a:bodyPr wrap="square"/>
          <a:lstStyle/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T：旋转 + 平移 + 小缩放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Ψ：散点到网格的表示函数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S：masked similarity 分数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*：取得最大分数的最优结果</a:t>
            </a:r>
          </a:p>
        </p:txBody>
      </p:sp>
      <p:sp>
        <p:nvSpPr>
          <p:cNvPr id="40" name="Shape 40"/>
          <p:cNvSpPr/>
          <p:nvPr/>
        </p:nvSpPr>
        <p:spPr>
          <a:xfrm>
            <a:off x="1800000" y="5320000"/>
            <a:ext cx="8400000" cy="50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关键约束：M_R 始终来自参考 WBM；C_i 的变换不改变有效区域定义。</a:t>
            </a:r>
          </a:p>
        </p:txBody>
      </p:sp>
      <p:sp>
        <p:nvSpPr>
          <p:cNvPr id="9903" name="Text 9903"/>
          <p:cNvSpPr txBox="1"/>
          <p:nvPr/>
        </p:nvSpPr>
        <p:spPr>
          <a:xfrm>
            <a:off x="620000" y="6460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Single-wafer Matching Problem Modeling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Text 2"/>
          <p:cNvSpPr txBox="1"/>
          <p:nvPr/>
        </p:nvSpPr>
        <p:spPr>
          <a:xfrm>
            <a:off x="620000" y="30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4. 实际计算流程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把复杂优化拆成可解释的四步：变换、栅格化、评分、排序。</a:t>
            </a:r>
          </a:p>
        </p:txBody>
      </p:sp>
      <p:sp>
        <p:nvSpPr>
          <p:cNvPr id="20" name="Shape 20"/>
          <p:cNvSpPr/>
          <p:nvPr/>
        </p:nvSpPr>
        <p:spPr>
          <a:xfrm>
            <a:off x="650000" y="2300000"/>
            <a:ext cx="1650000" cy="90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候选散点 P_i</a:t>
            </a:r>
          </a:p>
        </p:txBody>
      </p:sp>
      <p:cxnSp>
        <p:nvCxnSpPr>
          <p:cNvPr id="40" name="Connector 40"/>
          <p:cNvCxnSpPr/>
          <p:nvPr/>
        </p:nvCxnSpPr>
        <p:spPr>
          <a:xfrm>
            <a:off x="2300000" y="275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1" name="Shape 21"/>
          <p:cNvSpPr/>
          <p:nvPr/>
        </p:nvSpPr>
        <p:spPr>
          <a:xfrm>
            <a:off x="2850000" y="2300000"/>
            <a:ext cx="1650000" cy="90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几何变换 T</a:t>
            </a:r>
          </a:p>
        </p:txBody>
      </p:sp>
      <p:cxnSp>
        <p:nvCxnSpPr>
          <p:cNvPr id="41" name="Connector 41"/>
          <p:cNvCxnSpPr/>
          <p:nvPr/>
        </p:nvCxnSpPr>
        <p:spPr>
          <a:xfrm>
            <a:off x="4500000" y="275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2" name="Shape 22"/>
          <p:cNvSpPr/>
          <p:nvPr/>
        </p:nvSpPr>
        <p:spPr>
          <a:xfrm>
            <a:off x="5050000" y="2300000"/>
            <a:ext cx="1650000" cy="90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栅格化 Ψ</a:t>
            </a:r>
          </a:p>
        </p:txBody>
      </p:sp>
      <p:cxnSp>
        <p:nvCxnSpPr>
          <p:cNvPr id="42" name="Connector 42"/>
          <p:cNvCxnSpPr/>
          <p:nvPr/>
        </p:nvCxnSpPr>
        <p:spPr>
          <a:xfrm>
            <a:off x="6700000" y="275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3" name="Shape 23"/>
          <p:cNvSpPr/>
          <p:nvPr/>
        </p:nvSpPr>
        <p:spPr>
          <a:xfrm>
            <a:off x="7250000" y="2300000"/>
            <a:ext cx="1650000" cy="90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masked similarity S</a:t>
            </a:r>
          </a:p>
        </p:txBody>
      </p:sp>
      <p:cxnSp>
        <p:nvCxnSpPr>
          <p:cNvPr id="43" name="Connector 43"/>
          <p:cNvCxnSpPr/>
          <p:nvPr/>
        </p:nvCxnSpPr>
        <p:spPr>
          <a:xfrm>
            <a:off x="8900000" y="2750000"/>
            <a:ext cx="430000" cy="1"/>
          </a:xfrm>
          <a:prstGeom prst="line">
            <a:avLst/>
          </a:prstGeom>
          <a:ln w="18000">
            <a:solidFill>
              <a:srgbClr val="94A3B8"/>
            </a:solidFill>
            <a:tailEnd type="triangle"/>
          </a:ln>
        </p:spPr>
      </p:cxnSp>
      <p:sp>
        <p:nvSpPr>
          <p:cNvPr id="24" name="Shape 24"/>
          <p:cNvSpPr/>
          <p:nvPr/>
        </p:nvSpPr>
        <p:spPr>
          <a:xfrm>
            <a:off x="9450000" y="2300000"/>
            <a:ext cx="1650000" cy="90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Top-k ranking</a:t>
            </a:r>
          </a:p>
        </p:txBody>
      </p:sp>
      <p:sp>
        <p:nvSpPr>
          <p:cNvPr id="70" name="Shape 70"/>
          <p:cNvSpPr/>
          <p:nvPr/>
        </p:nvSpPr>
        <p:spPr>
          <a:xfrm>
            <a:off x="1100000" y="4150000"/>
            <a:ext cx="2800000" cy="850000"/>
          </a:xfrm>
          <a:prstGeom prst="roundRect">
            <a:avLst/>
          </a:prstGeom>
          <a:solidFill>
            <a:srgbClr val="EDE9FE"/>
          </a:solidFill>
          <a:ln w="14000">
            <a:solidFill>
              <a:srgbClr val="7C3AED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T 参数</a:t>
            </a:r>
          </a:p>
          <a:p>
            <a:pPr algn="ctr"/>
            <a:r>
              <a:rPr lang="zh-CN" sz="1500" b="1">
                <a:solidFill>
                  <a:srgbClr val="111827"/>
                </a:solidFill>
              </a:rPr>
              <a:t>θ, s, Δx, Δy</a:t>
            </a:r>
          </a:p>
        </p:txBody>
      </p:sp>
      <p:sp>
        <p:nvSpPr>
          <p:cNvPr id="71" name="Shape 71"/>
          <p:cNvSpPr/>
          <p:nvPr/>
        </p:nvSpPr>
        <p:spPr>
          <a:xfrm>
            <a:off x="4550000" y="4150000"/>
            <a:ext cx="2800000" cy="850000"/>
          </a:xfrm>
          <a:prstGeom prst="roundRect">
            <a:avLst/>
          </a:prstGeom>
          <a:solidFill>
            <a:srgbClr val="DBEAFE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Ψ 推荐</a:t>
            </a:r>
          </a:p>
          <a:p>
            <a:pPr algn="ctr"/>
            <a:r>
              <a:rPr lang="zh-CN" sz="1500" b="1">
                <a:solidFill>
                  <a:srgbClr val="111827"/>
                </a:solidFill>
              </a:rPr>
              <a:t>soft / mountain</a:t>
            </a:r>
          </a:p>
        </p:txBody>
      </p:sp>
      <p:sp>
        <p:nvSpPr>
          <p:cNvPr id="72" name="Shape 72"/>
          <p:cNvSpPr/>
          <p:nvPr/>
        </p:nvSpPr>
        <p:spPr>
          <a:xfrm>
            <a:off x="8000000" y="4150000"/>
            <a:ext cx="2800000" cy="850000"/>
          </a:xfrm>
          <a:prstGeom prst="roundRect">
            <a:avLst/>
          </a:prstGeom>
          <a:solidFill>
            <a:srgbClr val="FFEDD5"/>
          </a:solidFill>
          <a:ln w="14000">
            <a:solidFill>
              <a:srgbClr val="EA580C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S 推荐</a:t>
            </a:r>
          </a:p>
          <a:p>
            <a:pPr algn="ctr"/>
            <a:r>
              <a:rPr lang="zh-CN" sz="1500" b="1">
                <a:solidFill>
                  <a:srgbClr val="111827"/>
                </a:solidFill>
              </a:rPr>
              <a:t>coverage-leakage</a:t>
            </a:r>
          </a:p>
        </p:txBody>
      </p:sp>
      <p:sp>
        <p:nvSpPr>
          <p:cNvPr id="9904" name="Text 9904"/>
          <p:cNvSpPr txBox="1"/>
          <p:nvPr/>
        </p:nvSpPr>
        <p:spPr>
          <a:xfrm>
            <a:off x="620000" y="6460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Single-wafer Matching Problem Modeling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4000">
            <a:solidFill>
              <a:srgbClr val="F8FAFC"/>
            </a:solidFill>
          </a:ln>
        </p:spPr>
        <p:txBody>
          <a:bodyPr anchor="mid" wrap="square" lIns="90000" rIns="90000"/>
          <a:lstStyle/>
          <a:p/>
        </p:txBody>
      </p:sp>
      <p:sp>
        <p:nvSpPr>
          <p:cNvPr id="2" name="Text 2"/>
          <p:cNvSpPr txBox="1"/>
          <p:nvPr/>
        </p:nvSpPr>
        <p:spPr>
          <a:xfrm>
            <a:off x="620000" y="300000"/>
            <a:ext cx="980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3000" b="1">
                <a:solidFill>
                  <a:srgbClr val="111827"/>
                </a:solidFill>
              </a:rPr>
              <a:t>5. 输出结果：不仅是一个分数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40000" y="830000"/>
            <a:ext cx="9800000" cy="3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400">
                <a:solidFill>
                  <a:srgbClr val="64748B"/>
                </a:solidFill>
              </a:rPr>
              <a:t>好的匹配结果应该同时说明：选中了谁、如何对齐、分数为什么高。</a:t>
            </a:r>
          </a:p>
        </p:txBody>
      </p:sp>
      <p:sp>
        <p:nvSpPr>
          <p:cNvPr id="10" name="Shape 10"/>
          <p:cNvSpPr/>
          <p:nvPr/>
        </p:nvSpPr>
        <p:spPr>
          <a:xfrm>
            <a:off x="1050000" y="1500000"/>
            <a:ext cx="4700000" cy="3300000"/>
          </a:xfrm>
          <a:prstGeom prst="roundRect">
            <a:avLst/>
          </a:prstGeom>
          <a:solidFill>
            <a:srgbClr val="FFFFFF"/>
          </a:solidFill>
          <a:ln w="14000">
            <a:solidFill>
              <a:srgbClr val="2563EB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900" b="1">
                <a:solidFill>
                  <a:srgbClr val="111827"/>
                </a:solidFill>
              </a:rPr>
              <a:t>Result =</a:t>
            </a:r>
          </a:p>
          <a:p>
            <a:pPr algn="ctr"/>
            <a:r>
              <a:rPr lang="zh-CN" sz="1900" b="1">
                <a:solidFill>
                  <a:srgbClr val="111827"/>
                </a:solidFill>
              </a:rPr>
              <a:t>(C_i*, score*, θ*, s*, Δx*, Δy*)</a:t>
            </a:r>
          </a:p>
        </p:txBody>
      </p:sp>
      <p:sp>
        <p:nvSpPr>
          <p:cNvPr id="20" name="Bullets 20"/>
          <p:cNvSpPr txBox="1"/>
          <p:nvPr/>
        </p:nvSpPr>
        <p:spPr>
          <a:xfrm>
            <a:off x="6500000" y="1580000"/>
            <a:ext cx="4300000" cy="2200000"/>
          </a:xfrm>
          <a:prstGeom prst="rect">
            <a:avLst/>
          </a:prstGeom>
          <a:noFill/>
        </p:spPr>
        <p:txBody>
          <a:bodyPr wrap="square"/>
          <a:lstStyle/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C_i*：最佳候选晶圆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score*：最佳 masked similarity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θ*：最佳旋转角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s*：最佳缩放比例</a:t>
            </a:r>
          </a:p>
          <a:p>
            <a:pPr marL="260000" indent="-180000">
              <a:buChar char="•"/>
              <a:defRPr sz="1600">
                <a:solidFill>
                  <a:srgbClr val="334155"/>
                </a:solidFill>
              </a:defRPr>
            </a:pPr>
            <a:r>
              <a:rPr lang="zh-CN" sz="1600">
                <a:solidFill>
                  <a:srgbClr val="334155"/>
                </a:solidFill>
              </a:rPr>
              <a:t>Δx*, Δy*：最佳平移</a:t>
            </a:r>
          </a:p>
        </p:txBody>
      </p:sp>
      <p:sp>
        <p:nvSpPr>
          <p:cNvPr id="30" name="Shape 30"/>
          <p:cNvSpPr/>
          <p:nvPr/>
        </p:nvSpPr>
        <p:spPr>
          <a:xfrm>
            <a:off x="6450000" y="4200000"/>
            <a:ext cx="4400000" cy="760000"/>
          </a:xfrm>
          <a:prstGeom prst="roundRect">
            <a:avLst/>
          </a:prstGeom>
          <a:solidFill>
            <a:srgbClr val="D1FAE5"/>
          </a:solidFill>
          <a:ln w="14000">
            <a:solidFill>
              <a:srgbClr val="059669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450" b="1">
                <a:solidFill>
                  <a:srgbClr val="111827"/>
                </a:solidFill>
              </a:rPr>
              <a:t>用于解释：candidate 是否真的覆盖了 R 的主要缺陷区域，同时是否产生多余 leakage。</a:t>
            </a:r>
          </a:p>
        </p:txBody>
      </p:sp>
      <p:sp>
        <p:nvSpPr>
          <p:cNvPr id="31" name="Shape 31"/>
          <p:cNvSpPr/>
          <p:nvPr/>
        </p:nvSpPr>
        <p:spPr>
          <a:xfrm>
            <a:off x="1850000" y="5400000"/>
            <a:ext cx="8400000" cy="500000"/>
          </a:xfrm>
          <a:prstGeom prst="roundRect">
            <a:avLst/>
          </a:prstGeom>
          <a:solidFill>
            <a:srgbClr val="FEE2E2"/>
          </a:solidFill>
          <a:ln w="14000">
            <a:solidFill>
              <a:srgbClr val="DC2626"/>
            </a:solidFill>
          </a:ln>
        </p:spPr>
        <p:txBody>
          <a:bodyPr anchor="mid" wrap="square" lIns="90000" rIns="90000"/>
          <a:lstStyle/>
          <a:p>
            <a:pPr algn="ctr"/>
            <a:r>
              <a:rPr lang="zh-CN" sz="1500" b="1">
                <a:solidFill>
                  <a:srgbClr val="111827"/>
                </a:solidFill>
              </a:rPr>
              <a:t>一句话：在所有候选和允许的几何变换中，找 masked similarity 最大的那一个。</a:t>
            </a:r>
          </a:p>
        </p:txBody>
      </p:sp>
      <p:sp>
        <p:nvSpPr>
          <p:cNvPr id="9905" name="Text 9905"/>
          <p:cNvSpPr txBox="1"/>
          <p:nvPr/>
        </p:nvSpPr>
        <p:spPr>
          <a:xfrm>
            <a:off x="620000" y="6460000"/>
            <a:ext cx="62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zh-CN" sz="1050">
                <a:solidFill>
                  <a:srgbClr val="94A3B8"/>
                </a:solidFill>
              </a:rPr>
              <a:t>Single-wafer Matching Problem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59669"/>
      </a:accent2>
      <a:accent3>
        <a:srgbClr val="EA580C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OpenCode</Application>
  <PresentationFormat>On-screen Show (16:9)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WBM-WDM Problem Modeling</dc:title>
  <dc:creator>OpenCode</dc:creator>
  <cp:lastModifiedBy>OpenCode</cp:lastModifiedBy>
  <dcterms:created xsi:type="dcterms:W3CDTF">2026-06-16T08:43:12.909810+00:00</dcterms:created>
  <dcterms:modified xsi:type="dcterms:W3CDTF">2026-06-16T08:43:12.909810+00:00</dcterms:modified>
</cp:coreProperties>
</file>