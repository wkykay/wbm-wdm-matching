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12192000" cy="6858000" type="screen4x3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 w="14000">
            <a:solidFill>
              <a:srgbClr val="0F172A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3" name="Shape 2"/>
          <p:cNvSpPr/>
          <p:nvPr/>
        </p:nvSpPr>
        <p:spPr>
          <a:xfrm>
            <a:off x="7600000" y="-760000"/>
            <a:ext cx="4400000" cy="4400000"/>
          </a:xfrm>
          <a:prstGeom prst="ellipse">
            <a:avLst/>
          </a:prstGeom>
          <a:solidFill>
            <a:srgbClr val="1D4ED8"/>
          </a:solidFill>
          <a:ln w="14000">
            <a:solidFill>
              <a:srgbClr val="1D4ED8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4" name="Shape 3"/>
          <p:cNvSpPr/>
          <p:nvPr/>
        </p:nvSpPr>
        <p:spPr>
          <a:xfrm>
            <a:off x="8450000" y="3200000"/>
            <a:ext cx="2850000" cy="2850000"/>
          </a:xfrm>
          <a:prstGeom prst="ellipse">
            <a:avLst/>
          </a:prstGeom>
          <a:solidFill>
            <a:srgbClr val="059669"/>
          </a:solidFill>
          <a:ln w="14000">
            <a:solidFill>
              <a:srgbClr val="059669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5" name="Text 4"/>
          <p:cNvSpPr txBox="1"/>
          <p:nvPr/>
        </p:nvSpPr>
        <p:spPr>
          <a:xfrm>
            <a:off x="760000" y="760000"/>
            <a:ext cx="9100000" cy="7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3600" b="1">
                <a:solidFill>
                  <a:srgbClr val="FFFFFF"/>
                </a:solidFill>
              </a:rPr>
              <a:t>WBM-WDM 匹配处理方案</a:t>
            </a:r>
            <a:endParaRPr lang="zh-CN" sz="3600" b="1">
              <a:solidFill>
                <a:srgbClr val="FFFFFF"/>
              </a:solidFill>
            </a:endParaRPr>
          </a:p>
        </p:txBody>
      </p:sp>
      <p:sp>
        <p:nvSpPr>
          <p:cNvPr id="6" name="Text 5"/>
          <p:cNvSpPr txBox="1"/>
          <p:nvPr/>
        </p:nvSpPr>
        <p:spPr>
          <a:xfrm>
            <a:off x="800000" y="1510000"/>
            <a:ext cx="930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1750">
                <a:solidFill>
                  <a:srgbClr val="CBD5E1"/>
                </a:solidFill>
              </a:rPr>
              <a:t>从 KLARF / WBM 输入到 Mapper、Representation 与 Similarity 的可解释基线</a:t>
            </a:r>
            <a:endParaRPr lang="zh-CN" sz="1750">
              <a:solidFill>
                <a:srgbClr val="CBD5E1"/>
              </a:solidFill>
            </a:endParaRPr>
          </a:p>
        </p:txBody>
      </p:sp>
      <p:sp>
        <p:nvSpPr>
          <p:cNvPr id="10" name="Shape 10"/>
          <p:cNvSpPr/>
          <p:nvPr/>
        </p:nvSpPr>
        <p:spPr>
          <a:xfrm>
            <a:off x="900000" y="3450000"/>
            <a:ext cx="2050000" cy="880000"/>
          </a:xfrm>
          <a:prstGeom prst="roundRect">
            <a:avLst/>
          </a:prstGeom>
          <a:solidFill>
            <a:srgbClr val="FFFFFF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>
            <a:pPr algn="ctr"/>
            <a:r>
              <a:rPr lang="zh-CN" sz="1450" b="1">
                <a:solidFill>
                  <a:srgbClr val="111827"/>
                </a:solidFill>
              </a:rPr>
              <a:t>IO</a:t>
            </a:r>
            <a:endParaRPr lang="zh-CN" sz="1450" b="1">
              <a:solidFill>
                <a:srgbClr val="111827"/>
              </a:solidFill>
            </a:endParaRPr>
          </a:p>
          <a:p>
            <a:pPr algn="ctr"/>
            <a:r>
              <a:rPr lang="zh-CN" sz="1450" b="1">
                <a:solidFill>
                  <a:srgbClr val="111827"/>
                </a:solidFill>
              </a:rPr>
              <a:t>读入 KLARF/WBM</a:t>
            </a:r>
            <a:endParaRPr lang="zh-CN" sz="1450" b="1">
              <a:solidFill>
                <a:srgbClr val="111827"/>
              </a:solidFill>
            </a:endParaRPr>
          </a:p>
        </p:txBody>
      </p:sp>
      <p:cxnSp>
        <p:nvCxnSpPr>
          <p:cNvPr id="30" name="Connector 30"/>
          <p:cNvCxnSpPr/>
          <p:nvPr/>
        </p:nvCxnSpPr>
        <p:spPr>
          <a:xfrm>
            <a:off x="2950000" y="3890000"/>
            <a:ext cx="430000" cy="1"/>
          </a:xfrm>
          <a:prstGeom prst="line">
            <a:avLst/>
          </a:prstGeom>
          <a:ln w="18000">
            <a:solidFill>
              <a:srgbClr val="CBD5E1"/>
            </a:solidFill>
            <a:tailEnd type="triangle"/>
          </a:ln>
        </p:spPr>
      </p:cxnSp>
      <p:sp>
        <p:nvSpPr>
          <p:cNvPr id="11" name="Shape 11"/>
          <p:cNvSpPr/>
          <p:nvPr/>
        </p:nvSpPr>
        <p:spPr>
          <a:xfrm>
            <a:off x="3500000" y="3450000"/>
            <a:ext cx="2050000" cy="880000"/>
          </a:xfrm>
          <a:prstGeom prst="roundRect">
            <a:avLst/>
          </a:prstGeom>
          <a:solidFill>
            <a:srgbClr val="FFFFFF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>
            <a:pPr algn="ctr"/>
            <a:r>
              <a:rPr lang="zh-CN" sz="1450" b="1">
                <a:solidFill>
                  <a:srgbClr val="111827"/>
                </a:solidFill>
              </a:rPr>
              <a:t>Mapper</a:t>
            </a:r>
            <a:endParaRPr lang="zh-CN" sz="1450" b="1">
              <a:solidFill>
                <a:srgbClr val="111827"/>
              </a:solidFill>
            </a:endParaRPr>
          </a:p>
          <a:p>
            <a:pPr algn="ctr"/>
            <a:r>
              <a:rPr lang="zh-CN" sz="1450" b="1">
                <a:solidFill>
                  <a:srgbClr val="111827"/>
                </a:solidFill>
              </a:rPr>
              <a:t>坐标到网格</a:t>
            </a:r>
            <a:endParaRPr lang="zh-CN" sz="1450" b="1">
              <a:solidFill>
                <a:srgbClr val="111827"/>
              </a:solidFill>
            </a:endParaRPr>
          </a:p>
        </p:txBody>
      </p:sp>
      <p:cxnSp>
        <p:nvCxnSpPr>
          <p:cNvPr id="31" name="Connector 31"/>
          <p:cNvCxnSpPr/>
          <p:nvPr/>
        </p:nvCxnSpPr>
        <p:spPr>
          <a:xfrm>
            <a:off x="5550000" y="3890000"/>
            <a:ext cx="430000" cy="1"/>
          </a:xfrm>
          <a:prstGeom prst="line">
            <a:avLst/>
          </a:prstGeom>
          <a:ln w="18000">
            <a:solidFill>
              <a:srgbClr val="CBD5E1"/>
            </a:solidFill>
            <a:tailEnd type="triangle"/>
          </a:ln>
        </p:spPr>
      </p:cxnSp>
      <p:sp>
        <p:nvSpPr>
          <p:cNvPr id="12" name="Shape 12"/>
          <p:cNvSpPr/>
          <p:nvPr/>
        </p:nvSpPr>
        <p:spPr>
          <a:xfrm>
            <a:off x="6100000" y="3450000"/>
            <a:ext cx="2050000" cy="880000"/>
          </a:xfrm>
          <a:prstGeom prst="roundRect">
            <a:avLst/>
          </a:prstGeom>
          <a:solidFill>
            <a:srgbClr val="FFFFFF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>
            <a:pPr algn="ctr"/>
            <a:r>
              <a:rPr lang="zh-CN" sz="1450" b="1">
                <a:solidFill>
                  <a:srgbClr val="111827"/>
                </a:solidFill>
              </a:rPr>
              <a:t>Representation</a:t>
            </a:r>
            <a:endParaRPr lang="zh-CN" sz="1450" b="1">
              <a:solidFill>
                <a:srgbClr val="111827"/>
              </a:solidFill>
            </a:endParaRPr>
          </a:p>
          <a:p>
            <a:pPr algn="ctr"/>
            <a:r>
              <a:rPr lang="zh-CN" sz="1450" b="1">
                <a:solidFill>
                  <a:srgbClr val="111827"/>
                </a:solidFill>
              </a:rPr>
              <a:t>网格表达</a:t>
            </a:r>
            <a:endParaRPr lang="zh-CN" sz="1450" b="1">
              <a:solidFill>
                <a:srgbClr val="111827"/>
              </a:solidFill>
            </a:endParaRPr>
          </a:p>
        </p:txBody>
      </p:sp>
      <p:cxnSp>
        <p:nvCxnSpPr>
          <p:cNvPr id="32" name="Connector 32"/>
          <p:cNvCxnSpPr/>
          <p:nvPr/>
        </p:nvCxnSpPr>
        <p:spPr>
          <a:xfrm>
            <a:off x="8150000" y="3890000"/>
            <a:ext cx="430000" cy="1"/>
          </a:xfrm>
          <a:prstGeom prst="line">
            <a:avLst/>
          </a:prstGeom>
          <a:ln w="18000">
            <a:solidFill>
              <a:srgbClr val="CBD5E1"/>
            </a:solidFill>
            <a:tailEnd type="triangle"/>
          </a:ln>
        </p:spPr>
      </p:cxnSp>
      <p:sp>
        <p:nvSpPr>
          <p:cNvPr id="13" name="Shape 13"/>
          <p:cNvSpPr/>
          <p:nvPr/>
        </p:nvSpPr>
        <p:spPr>
          <a:xfrm>
            <a:off x="8700000" y="3450000"/>
            <a:ext cx="2050000" cy="880000"/>
          </a:xfrm>
          <a:prstGeom prst="roundRect">
            <a:avLst/>
          </a:prstGeom>
          <a:solidFill>
            <a:srgbClr val="FFFFFF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>
            <a:pPr algn="ctr"/>
            <a:r>
              <a:rPr lang="zh-CN" sz="1450" b="1">
                <a:solidFill>
                  <a:srgbClr val="111827"/>
                </a:solidFill>
              </a:rPr>
              <a:t>Similarity</a:t>
            </a:r>
            <a:endParaRPr lang="zh-CN" sz="1450" b="1">
              <a:solidFill>
                <a:srgbClr val="111827"/>
              </a:solidFill>
            </a:endParaRPr>
          </a:p>
          <a:p>
            <a:pPr algn="ctr"/>
            <a:r>
              <a:rPr lang="zh-CN" sz="1450" b="1">
                <a:solidFill>
                  <a:srgbClr val="111827"/>
                </a:solidFill>
              </a:rPr>
              <a:t>排序评分</a:t>
            </a:r>
            <a:endParaRPr lang="zh-CN" sz="1450" b="1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14000">
            <a:solidFill>
              <a:srgbClr val="F8FAFC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3" name="Text 2"/>
          <p:cNvSpPr txBox="1"/>
          <p:nvPr/>
        </p:nvSpPr>
        <p:spPr>
          <a:xfrm>
            <a:off x="620000" y="300000"/>
            <a:ext cx="9200000" cy="5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3000" b="1">
                <a:solidFill>
                  <a:srgbClr val="111827"/>
                </a:solidFill>
              </a:rPr>
              <a:t>1. 端到端处理流程</a:t>
            </a:r>
            <a:endParaRPr lang="zh-CN" sz="3000" b="1">
              <a:solidFill>
                <a:srgbClr val="111827"/>
              </a:solidFill>
            </a:endParaRPr>
          </a:p>
        </p:txBody>
      </p:sp>
      <p:sp>
        <p:nvSpPr>
          <p:cNvPr id="4" name="Text 3"/>
          <p:cNvSpPr txBox="1"/>
          <p:nvPr/>
        </p:nvSpPr>
        <p:spPr>
          <a:xfrm>
            <a:off x="640000" y="830000"/>
            <a:ext cx="98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1400">
                <a:solidFill>
                  <a:srgbClr val="64748B"/>
                </a:solidFill>
              </a:rPr>
              <a:t>主线是先统一空间网格，再在同一份 count/status 基础上切换表达与评分。</a:t>
            </a:r>
            <a:endParaRPr lang="zh-CN" sz="1400">
              <a:solidFill>
                <a:srgbClr val="64748B"/>
              </a:solidFill>
            </a:endParaRPr>
          </a:p>
        </p:txBody>
      </p:sp>
      <p:sp>
        <p:nvSpPr>
          <p:cNvPr id="20" name="Shape 20"/>
          <p:cNvSpPr/>
          <p:nvPr/>
        </p:nvSpPr>
        <p:spPr>
          <a:xfrm>
            <a:off x="600000" y="1900000"/>
            <a:ext cx="1650000" cy="1180000"/>
          </a:xfrm>
          <a:prstGeom prst="roundRect">
            <a:avLst/>
          </a:prstGeom>
          <a:solidFill>
            <a:srgbClr val="FFEDD5"/>
          </a:solidFill>
          <a:ln w="14000">
            <a:solidFill>
              <a:srgbClr val="EA580C"/>
            </a:solidFill>
          </a:ln>
        </p:spPr>
        <p:txBody>
          <a:bodyPr wrap="square" lIns="90000" rIns="90000" anchor="ctr"/>
          <a:lstStyle/>
          <a:p>
            <a:pPr algn="ctr"/>
            <a:r>
              <a:rPr lang="zh-CN" sz="1350" b="1">
                <a:solidFill>
                  <a:srgbClr val="111827"/>
                </a:solidFill>
              </a:rPr>
              <a:t>输入</a:t>
            </a:r>
            <a:endParaRPr lang="zh-CN" sz="1350" b="1">
              <a:solidFill>
                <a:srgbClr val="111827"/>
              </a:solidFill>
            </a:endParaRPr>
          </a:p>
          <a:p>
            <a:pPr algn="ctr"/>
            <a:r>
              <a:rPr lang="zh-CN" sz="1350" b="1">
                <a:solidFill>
                  <a:srgbClr val="111827"/>
                </a:solidFill>
              </a:rPr>
              <a:t>KLARF DefectList</a:t>
            </a:r>
            <a:endParaRPr lang="zh-CN" sz="1350" b="1">
              <a:solidFill>
                <a:srgbClr val="111827"/>
              </a:solidFill>
            </a:endParaRPr>
          </a:p>
          <a:p>
            <a:pPr algn="ctr"/>
            <a:r>
              <a:rPr lang="zh-CN" sz="1350" b="1">
                <a:solidFill>
                  <a:srgbClr val="111827"/>
                </a:solidFill>
              </a:rPr>
              <a:t>WBM PNG / HxW</a:t>
            </a:r>
            <a:endParaRPr lang="zh-CN" sz="1350" b="1">
              <a:solidFill>
                <a:srgbClr val="111827"/>
              </a:solidFill>
            </a:endParaRPr>
          </a:p>
        </p:txBody>
      </p:sp>
      <p:cxnSp>
        <p:nvCxnSpPr>
          <p:cNvPr id="40" name="Connector 40"/>
          <p:cNvCxnSpPr/>
          <p:nvPr/>
        </p:nvCxnSpPr>
        <p:spPr>
          <a:xfrm>
            <a:off x="2250000" y="2490000"/>
            <a:ext cx="430000" cy="1"/>
          </a:xfrm>
          <a:prstGeom prst="line">
            <a:avLst/>
          </a:prstGeom>
          <a:ln w="18000">
            <a:solidFill>
              <a:srgbClr val="94A3B8"/>
            </a:solidFill>
            <a:tailEnd type="triangle"/>
          </a:ln>
        </p:spPr>
      </p:cxnSp>
      <p:sp>
        <p:nvSpPr>
          <p:cNvPr id="21" name="Shape 21"/>
          <p:cNvSpPr/>
          <p:nvPr/>
        </p:nvSpPr>
        <p:spPr>
          <a:xfrm>
            <a:off x="2800000" y="1900000"/>
            <a:ext cx="1650000" cy="1180000"/>
          </a:xfrm>
          <a:prstGeom prst="roundRect">
            <a:avLst/>
          </a:prstGeom>
          <a:solidFill>
            <a:srgbClr val="DBEAFE"/>
          </a:solidFill>
          <a:ln w="14000">
            <a:solidFill>
              <a:srgbClr val="2563EB"/>
            </a:solidFill>
          </a:ln>
        </p:spPr>
        <p:txBody>
          <a:bodyPr wrap="square" lIns="90000" rIns="90000" anchor="ctr"/>
          <a:lstStyle/>
          <a:p>
            <a:pPr algn="ctr"/>
            <a:r>
              <a:rPr lang="zh-CN" sz="1350" b="1">
                <a:solidFill>
                  <a:srgbClr val="111827"/>
                </a:solidFill>
              </a:rPr>
              <a:t>IO</a:t>
            </a:r>
            <a:endParaRPr lang="zh-CN" sz="1350" b="1">
              <a:solidFill>
                <a:srgbClr val="111827"/>
              </a:solidFill>
            </a:endParaRPr>
          </a:p>
          <a:p>
            <a:pPr algn="ctr"/>
            <a:r>
              <a:rPr lang="zh-CN" sz="1350" b="1">
                <a:solidFill>
                  <a:srgbClr val="111827"/>
                </a:solidFill>
              </a:rPr>
              <a:t>解析缺陷表</a:t>
            </a:r>
            <a:endParaRPr lang="zh-CN" sz="1350" b="1">
              <a:solidFill>
                <a:srgbClr val="111827"/>
              </a:solidFill>
            </a:endParaRPr>
          </a:p>
          <a:p>
            <a:pPr algn="ctr"/>
            <a:r>
              <a:rPr lang="zh-CN" sz="1350" b="1">
                <a:solidFill>
                  <a:srgbClr val="111827"/>
                </a:solidFill>
              </a:rPr>
              <a:t>读取目标尺寸</a:t>
            </a:r>
            <a:endParaRPr lang="zh-CN" sz="1350" b="1">
              <a:solidFill>
                <a:srgbClr val="111827"/>
              </a:solidFill>
            </a:endParaRPr>
          </a:p>
        </p:txBody>
      </p:sp>
      <p:cxnSp>
        <p:nvCxnSpPr>
          <p:cNvPr id="41" name="Connector 41"/>
          <p:cNvCxnSpPr/>
          <p:nvPr/>
        </p:nvCxnSpPr>
        <p:spPr>
          <a:xfrm>
            <a:off x="4450000" y="2490000"/>
            <a:ext cx="430000" cy="1"/>
          </a:xfrm>
          <a:prstGeom prst="line">
            <a:avLst/>
          </a:prstGeom>
          <a:ln w="18000">
            <a:solidFill>
              <a:srgbClr val="94A3B8"/>
            </a:solidFill>
            <a:tailEnd type="triangle"/>
          </a:ln>
        </p:spPr>
      </p:cxnSp>
      <p:sp>
        <p:nvSpPr>
          <p:cNvPr id="22" name="Shape 22"/>
          <p:cNvSpPr/>
          <p:nvPr/>
        </p:nvSpPr>
        <p:spPr>
          <a:xfrm>
            <a:off x="5000000" y="1900000"/>
            <a:ext cx="1650000" cy="1180000"/>
          </a:xfrm>
          <a:prstGeom prst="roundRect">
            <a:avLst/>
          </a:prstGeom>
          <a:solidFill>
            <a:srgbClr val="D1FAE5"/>
          </a:solidFill>
          <a:ln w="14000">
            <a:solidFill>
              <a:srgbClr val="059669"/>
            </a:solidFill>
          </a:ln>
        </p:spPr>
        <p:txBody>
          <a:bodyPr wrap="square" lIns="90000" rIns="90000" anchor="ctr"/>
          <a:lstStyle/>
          <a:p>
            <a:pPr algn="ctr"/>
            <a:r>
              <a:rPr lang="zh-CN" sz="1350" b="1">
                <a:solidFill>
                  <a:srgbClr val="111827"/>
                </a:solidFill>
              </a:rPr>
              <a:t>Mapper</a:t>
            </a:r>
            <a:endParaRPr lang="zh-CN" sz="1350" b="1">
              <a:solidFill>
                <a:srgbClr val="111827"/>
              </a:solidFill>
            </a:endParaRPr>
          </a:p>
          <a:p>
            <a:pPr algn="ctr"/>
            <a:r>
              <a:rPr lang="zh-CN" sz="1350" b="1">
                <a:solidFill>
                  <a:srgbClr val="111827"/>
                </a:solidFill>
              </a:rPr>
              <a:t>坐标缩放</a:t>
            </a:r>
            <a:endParaRPr lang="zh-CN" sz="1350" b="1">
              <a:solidFill>
                <a:srgbClr val="111827"/>
              </a:solidFill>
            </a:endParaRPr>
          </a:p>
          <a:p>
            <a:pPr algn="ctr"/>
            <a:r>
              <a:rPr lang="zh-CN" sz="1350" b="1">
                <a:solidFill>
                  <a:srgbClr val="111827"/>
                </a:solidFill>
              </a:rPr>
              <a:t>生成 count/status</a:t>
            </a:r>
            <a:endParaRPr lang="zh-CN" sz="1350" b="1">
              <a:solidFill>
                <a:srgbClr val="111827"/>
              </a:solidFill>
            </a:endParaRPr>
          </a:p>
        </p:txBody>
      </p:sp>
      <p:cxnSp>
        <p:nvCxnSpPr>
          <p:cNvPr id="42" name="Connector 42"/>
          <p:cNvCxnSpPr/>
          <p:nvPr/>
        </p:nvCxnSpPr>
        <p:spPr>
          <a:xfrm>
            <a:off x="6650000" y="2490000"/>
            <a:ext cx="430000" cy="1"/>
          </a:xfrm>
          <a:prstGeom prst="line">
            <a:avLst/>
          </a:prstGeom>
          <a:ln w="18000">
            <a:solidFill>
              <a:srgbClr val="94A3B8"/>
            </a:solidFill>
            <a:tailEnd type="triangle"/>
          </a:ln>
        </p:spPr>
      </p:cxnSp>
      <p:sp>
        <p:nvSpPr>
          <p:cNvPr id="23" name="Shape 23"/>
          <p:cNvSpPr/>
          <p:nvPr/>
        </p:nvSpPr>
        <p:spPr>
          <a:xfrm>
            <a:off x="7200000" y="1900000"/>
            <a:ext cx="1650000" cy="1180000"/>
          </a:xfrm>
          <a:prstGeom prst="roundRect">
            <a:avLst/>
          </a:prstGeom>
          <a:solidFill>
            <a:srgbClr val="EDE9FE"/>
          </a:solidFill>
          <a:ln w="14000">
            <a:solidFill>
              <a:srgbClr val="7C3AED"/>
            </a:solidFill>
          </a:ln>
        </p:spPr>
        <p:txBody>
          <a:bodyPr wrap="square" lIns="90000" rIns="90000" anchor="ctr"/>
          <a:lstStyle/>
          <a:p>
            <a:pPr algn="ctr"/>
            <a:r>
              <a:rPr lang="zh-CN" sz="1350" b="1">
                <a:solidFill>
                  <a:srgbClr val="111827"/>
                </a:solidFill>
              </a:rPr>
              <a:t>Representation</a:t>
            </a:r>
            <a:endParaRPr lang="zh-CN" sz="1350" b="1">
              <a:solidFill>
                <a:srgbClr val="111827"/>
              </a:solidFill>
            </a:endParaRPr>
          </a:p>
          <a:p>
            <a:pPr algn="ctr"/>
            <a:r>
              <a:rPr lang="zh-CN" sz="1350" b="1">
                <a:solidFill>
                  <a:srgbClr val="111827"/>
                </a:solidFill>
              </a:rPr>
              <a:t>binary/count/density</a:t>
            </a:r>
            <a:endParaRPr lang="zh-CN" sz="1350" b="1">
              <a:solidFill>
                <a:srgbClr val="111827"/>
              </a:solidFill>
            </a:endParaRPr>
          </a:p>
          <a:p>
            <a:pPr algn="ctr"/>
            <a:r>
              <a:rPr lang="zh-CN" sz="1350" b="1">
                <a:solidFill>
                  <a:srgbClr val="111827"/>
                </a:solidFill>
              </a:rPr>
              <a:t>soft/mountain</a:t>
            </a:r>
            <a:endParaRPr lang="zh-CN" sz="1350" b="1">
              <a:solidFill>
                <a:srgbClr val="111827"/>
              </a:solidFill>
            </a:endParaRPr>
          </a:p>
        </p:txBody>
      </p:sp>
      <p:cxnSp>
        <p:nvCxnSpPr>
          <p:cNvPr id="43" name="Connector 43"/>
          <p:cNvCxnSpPr/>
          <p:nvPr/>
        </p:nvCxnSpPr>
        <p:spPr>
          <a:xfrm>
            <a:off x="8850000" y="2490000"/>
            <a:ext cx="430000" cy="1"/>
          </a:xfrm>
          <a:prstGeom prst="line">
            <a:avLst/>
          </a:prstGeom>
          <a:ln w="18000">
            <a:solidFill>
              <a:srgbClr val="94A3B8"/>
            </a:solidFill>
            <a:tailEnd type="triangle"/>
          </a:ln>
        </p:spPr>
      </p:cxnSp>
      <p:sp>
        <p:nvSpPr>
          <p:cNvPr id="24" name="Shape 24"/>
          <p:cNvSpPr/>
          <p:nvPr/>
        </p:nvSpPr>
        <p:spPr>
          <a:xfrm>
            <a:off x="9400000" y="1900000"/>
            <a:ext cx="1650000" cy="1180000"/>
          </a:xfrm>
          <a:prstGeom prst="roundRect">
            <a:avLst/>
          </a:prstGeom>
          <a:solidFill>
            <a:srgbClr val="FEE2E2"/>
          </a:solidFill>
          <a:ln w="14000">
            <a:solidFill>
              <a:srgbClr val="DC2626"/>
            </a:solidFill>
          </a:ln>
        </p:spPr>
        <p:txBody>
          <a:bodyPr wrap="square" lIns="90000" rIns="90000" anchor="ctr"/>
          <a:lstStyle/>
          <a:p>
            <a:pPr algn="ctr"/>
            <a:r>
              <a:rPr lang="zh-CN" sz="1350" b="1">
                <a:solidFill>
                  <a:srgbClr val="111827"/>
                </a:solidFill>
              </a:rPr>
              <a:t>Similarity</a:t>
            </a:r>
            <a:endParaRPr lang="zh-CN" sz="1350" b="1">
              <a:solidFill>
                <a:srgbClr val="111827"/>
              </a:solidFill>
            </a:endParaRPr>
          </a:p>
          <a:p>
            <a:pPr algn="ctr"/>
            <a:r>
              <a:rPr lang="zh-CN" sz="1350" b="1">
                <a:solidFill>
                  <a:srgbClr val="111827"/>
                </a:solidFill>
              </a:rPr>
              <a:t>mask by WBM</a:t>
            </a:r>
            <a:endParaRPr lang="zh-CN" sz="1350" b="1">
              <a:solidFill>
                <a:srgbClr val="111827"/>
              </a:solidFill>
            </a:endParaRPr>
          </a:p>
          <a:p>
            <a:pPr algn="ctr"/>
            <a:r>
              <a:rPr lang="zh-CN" sz="1350" b="1">
                <a:solidFill>
                  <a:srgbClr val="111827"/>
                </a:solidFill>
              </a:rPr>
              <a:t>soft scoring</a:t>
            </a:r>
            <a:endParaRPr lang="zh-CN" sz="1350" b="1">
              <a:solidFill>
                <a:srgbClr val="111827"/>
              </a:solidFill>
            </a:endParaRPr>
          </a:p>
        </p:txBody>
      </p:sp>
      <p:sp>
        <p:nvSpPr>
          <p:cNvPr id="9901" name="Text 9901"/>
          <p:cNvSpPr txBox="1"/>
          <p:nvPr/>
        </p:nvSpPr>
        <p:spPr>
          <a:xfrm>
            <a:off x="620000" y="6460000"/>
            <a:ext cx="60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1050">
                <a:solidFill>
                  <a:srgbClr val="94A3B8"/>
                </a:solidFill>
              </a:rPr>
              <a:t>WBM-WDM Matching Method | match 模块</a:t>
            </a:r>
            <a:endParaRPr lang="zh-CN" sz="1050">
              <a:solidFill>
                <a:srgbClr val="94A3B8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2"/>
          <p:cNvSpPr txBox="1"/>
          <p:nvPr/>
        </p:nvSpPr>
        <p:spPr>
          <a:xfrm>
            <a:off x="619760" y="299720"/>
            <a:ext cx="11276965" cy="5200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altLang="zh-CN" sz="3000" b="1">
                <a:solidFill>
                  <a:srgbClr val="111827"/>
                </a:solidFill>
              </a:rPr>
              <a:t>2</a:t>
            </a:r>
            <a:r>
              <a:rPr lang="zh-CN" sz="3000" b="1">
                <a:solidFill>
                  <a:srgbClr val="111827"/>
                </a:solidFill>
              </a:rPr>
              <a:t>. Mapper 定义方式</a:t>
            </a:r>
            <a:r>
              <a:rPr lang="en-US" altLang="zh-CN" sz="3000" b="1">
                <a:solidFill>
                  <a:srgbClr val="111827"/>
                </a:solidFill>
              </a:rPr>
              <a:t>： </a:t>
            </a:r>
            <a:r>
              <a:rPr lang="zh-CN" sz="3000" b="1">
                <a:solidFill>
                  <a:srgbClr val="111827"/>
                </a:solidFill>
              </a:rPr>
              <a:t>PhysicalCoordinateGridMapper</a:t>
            </a:r>
            <a:endParaRPr lang="zh-CN" sz="3000" b="1">
              <a:solidFill>
                <a:srgbClr val="111827"/>
              </a:solidFill>
            </a:endParaRPr>
          </a:p>
        </p:txBody>
      </p:sp>
      <p:sp>
        <p:nvSpPr>
          <p:cNvPr id="10" name="Shape 10"/>
          <p:cNvSpPr/>
          <p:nvPr/>
        </p:nvSpPr>
        <p:spPr>
          <a:xfrm>
            <a:off x="620000" y="1380000"/>
            <a:ext cx="3150000" cy="2250000"/>
          </a:xfrm>
          <a:prstGeom prst="roundRect">
            <a:avLst/>
          </a:prstGeom>
          <a:solidFill>
            <a:srgbClr val="FFFFFF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11" name="Shape 11"/>
          <p:cNvSpPr/>
          <p:nvPr/>
        </p:nvSpPr>
        <p:spPr>
          <a:xfrm>
            <a:off x="800000" y="1560000"/>
            <a:ext cx="2790000" cy="430000"/>
          </a:xfrm>
          <a:prstGeom prst="roundRect">
            <a:avLst/>
          </a:prstGeom>
          <a:solidFill>
            <a:srgbClr val="FFEDD5"/>
          </a:solidFill>
          <a:ln w="14000">
            <a:solidFill>
              <a:srgbClr val="EA580C"/>
            </a:solidFill>
          </a:ln>
        </p:spPr>
        <p:txBody>
          <a:bodyPr wrap="square" lIns="90000" rIns="90000" anchor="ctr"/>
          <a:lstStyle/>
          <a:p>
            <a:pPr algn="ctr"/>
            <a:r>
              <a:rPr lang="zh-CN" sz="1500" b="1">
                <a:solidFill>
                  <a:srgbClr val="111827"/>
                </a:solidFill>
              </a:rPr>
              <a:t>输入：物理坐标点</a:t>
            </a:r>
            <a:endParaRPr lang="zh-CN" sz="1500" b="1">
              <a:solidFill>
                <a:srgbClr val="111827"/>
              </a:solidFill>
            </a:endParaRPr>
          </a:p>
        </p:txBody>
      </p:sp>
      <p:sp>
        <p:nvSpPr>
          <p:cNvPr id="12" name="Bullets 12"/>
          <p:cNvSpPr txBox="1"/>
          <p:nvPr/>
        </p:nvSpPr>
        <p:spPr>
          <a:xfrm>
            <a:off x="786765" y="2160270"/>
            <a:ext cx="2808605" cy="1329690"/>
          </a:xfrm>
          <a:prstGeom prst="rect">
            <a:avLst/>
          </a:prstGeom>
          <a:noFill/>
        </p:spPr>
        <p:txBody>
          <a:bodyPr wrap="square"/>
          <a:lstStyle/>
          <a:p>
            <a:pPr marL="259715" indent="-179705">
              <a:buChar char="•"/>
              <a:defRPr sz="1450">
                <a:solidFill>
                  <a:srgbClr val="334155"/>
                </a:solidFill>
              </a:defRPr>
            </a:pPr>
            <a:r>
              <a:rPr lang="zh-CN" sz="1450">
                <a:solidFill>
                  <a:srgbClr val="334155"/>
                </a:solidFill>
              </a:rPr>
              <a:t>组合 die index 与 die 内坐标</a:t>
            </a:r>
            <a:endParaRPr lang="zh-CN" sz="1450">
              <a:solidFill>
                <a:srgbClr val="334155"/>
              </a:solidFill>
            </a:endParaRPr>
          </a:p>
          <a:p>
            <a:pPr marL="259715" indent="-179705">
              <a:buChar char="•"/>
              <a:defRPr sz="1450">
                <a:solidFill>
                  <a:srgbClr val="334155"/>
                </a:solidFill>
              </a:defRPr>
            </a:pPr>
            <a:r>
              <a:rPr lang="zh-CN" sz="1450">
                <a:solidFill>
                  <a:srgbClr val="334155"/>
                </a:solidFill>
              </a:rPr>
              <a:t>用 DiePitch 转成 wafer 平面坐标</a:t>
            </a:r>
            <a:endParaRPr lang="zh-CN" sz="1450">
              <a:solidFill>
                <a:srgbClr val="334155"/>
              </a:solidFill>
            </a:endParaRPr>
          </a:p>
          <a:p>
            <a:pPr marL="259715" indent="-179705">
              <a:buChar char="•"/>
              <a:defRPr sz="1450">
                <a:solidFill>
                  <a:srgbClr val="334155"/>
                </a:solidFill>
              </a:defRPr>
            </a:pPr>
            <a:r>
              <a:rPr lang="zh-CN" sz="1450">
                <a:solidFill>
                  <a:srgbClr val="334155"/>
                </a:solidFill>
              </a:rPr>
              <a:t>同一网格可落入多个缺陷点</a:t>
            </a:r>
            <a:endParaRPr lang="zh-CN" sz="1450">
              <a:solidFill>
                <a:srgbClr val="334155"/>
              </a:solidFill>
            </a:endParaRPr>
          </a:p>
        </p:txBody>
      </p:sp>
      <p:sp>
        <p:nvSpPr>
          <p:cNvPr id="20" name="Shape 20"/>
          <p:cNvSpPr/>
          <p:nvPr/>
        </p:nvSpPr>
        <p:spPr>
          <a:xfrm>
            <a:off x="4450000" y="1380000"/>
            <a:ext cx="3150000" cy="2250000"/>
          </a:xfrm>
          <a:prstGeom prst="roundRect">
            <a:avLst/>
          </a:prstGeom>
          <a:solidFill>
            <a:srgbClr val="FFFFFF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21" name="Shape 21"/>
          <p:cNvSpPr/>
          <p:nvPr/>
        </p:nvSpPr>
        <p:spPr>
          <a:xfrm>
            <a:off x="4630000" y="1560000"/>
            <a:ext cx="2790000" cy="430000"/>
          </a:xfrm>
          <a:prstGeom prst="roundRect">
            <a:avLst/>
          </a:prstGeom>
          <a:solidFill>
            <a:srgbClr val="DBEAFE"/>
          </a:solidFill>
          <a:ln w="14000">
            <a:solidFill>
              <a:srgbClr val="2563EB"/>
            </a:solidFill>
          </a:ln>
        </p:spPr>
        <p:txBody>
          <a:bodyPr wrap="square" lIns="90000" rIns="90000" anchor="ctr"/>
          <a:lstStyle/>
          <a:p>
            <a:pPr algn="ctr"/>
            <a:r>
              <a:rPr lang="zh-CN" sz="1500" b="1">
                <a:solidFill>
                  <a:srgbClr val="111827"/>
                </a:solidFill>
              </a:rPr>
              <a:t>输出：WBM 网格</a:t>
            </a:r>
            <a:endParaRPr lang="zh-CN" sz="1500" b="1">
              <a:solidFill>
                <a:srgbClr val="111827"/>
              </a:solidFill>
            </a:endParaRPr>
          </a:p>
        </p:txBody>
      </p:sp>
      <p:sp>
        <p:nvSpPr>
          <p:cNvPr id="22" name="Bullets 22"/>
          <p:cNvSpPr txBox="1"/>
          <p:nvPr/>
        </p:nvSpPr>
        <p:spPr>
          <a:xfrm>
            <a:off x="4730000" y="2160000"/>
            <a:ext cx="2590000" cy="1330000"/>
          </a:xfrm>
          <a:prstGeom prst="rect">
            <a:avLst/>
          </a:prstGeom>
          <a:noFill/>
        </p:spPr>
        <p:txBody>
          <a:bodyPr wrap="square"/>
          <a:lstStyle/>
          <a:p>
            <a:pPr marL="259715" indent="-179705">
              <a:buChar char="•"/>
              <a:defRPr sz="1450">
                <a:solidFill>
                  <a:srgbClr val="334155"/>
                </a:solidFill>
              </a:defRPr>
            </a:pPr>
            <a:r>
              <a:rPr lang="zh-CN" sz="1450">
                <a:solidFill>
                  <a:srgbClr val="334155"/>
                </a:solidFill>
              </a:rPr>
              <a:t>点映射到固定 HxW 网格</a:t>
            </a:r>
            <a:endParaRPr lang="zh-CN" sz="1450">
              <a:solidFill>
                <a:srgbClr val="334155"/>
              </a:solidFill>
            </a:endParaRPr>
          </a:p>
          <a:p>
            <a:pPr marL="259715" indent="-179705">
              <a:buChar char="•"/>
              <a:defRPr sz="1450">
                <a:solidFill>
                  <a:srgbClr val="334155"/>
                </a:solidFill>
              </a:defRPr>
            </a:pPr>
            <a:r>
              <a:rPr lang="zh-CN" sz="1450">
                <a:solidFill>
                  <a:srgbClr val="334155"/>
                </a:solidFill>
              </a:rPr>
              <a:t>count_map 记录每格点数</a:t>
            </a:r>
            <a:endParaRPr lang="zh-CN" sz="1450">
              <a:solidFill>
                <a:srgbClr val="334155"/>
              </a:solidFill>
            </a:endParaRPr>
          </a:p>
          <a:p>
            <a:pPr marL="259715" indent="-179705">
              <a:buChar char="•"/>
              <a:defRPr sz="1450">
                <a:solidFill>
                  <a:srgbClr val="334155"/>
                </a:solidFill>
              </a:defRPr>
            </a:pPr>
            <a:r>
              <a:rPr lang="zh-CN" sz="1450">
                <a:solidFill>
                  <a:srgbClr val="334155"/>
                </a:solidFill>
              </a:rPr>
              <a:t>status_map 标记晶圆有效区域</a:t>
            </a:r>
            <a:endParaRPr lang="zh-CN" sz="1450">
              <a:solidFill>
                <a:srgbClr val="334155"/>
              </a:solidFill>
            </a:endParaRPr>
          </a:p>
        </p:txBody>
      </p:sp>
      <p:sp>
        <p:nvSpPr>
          <p:cNvPr id="30" name="Shape 30"/>
          <p:cNvSpPr/>
          <p:nvPr/>
        </p:nvSpPr>
        <p:spPr>
          <a:xfrm>
            <a:off x="8280000" y="1380000"/>
            <a:ext cx="3150000" cy="2250000"/>
          </a:xfrm>
          <a:prstGeom prst="roundRect">
            <a:avLst/>
          </a:prstGeom>
          <a:solidFill>
            <a:srgbClr val="FFFFFF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31" name="Shape 31"/>
          <p:cNvSpPr/>
          <p:nvPr/>
        </p:nvSpPr>
        <p:spPr>
          <a:xfrm>
            <a:off x="8460000" y="1560000"/>
            <a:ext cx="2790000" cy="430000"/>
          </a:xfrm>
          <a:prstGeom prst="roundRect">
            <a:avLst/>
          </a:prstGeom>
          <a:solidFill>
            <a:srgbClr val="D1FAE5"/>
          </a:solidFill>
          <a:ln w="14000">
            <a:solidFill>
              <a:srgbClr val="059669"/>
            </a:solidFill>
          </a:ln>
        </p:spPr>
        <p:txBody>
          <a:bodyPr wrap="square" lIns="90000" rIns="90000" anchor="ctr"/>
          <a:lstStyle/>
          <a:p>
            <a:pPr algn="ctr"/>
            <a:r>
              <a:rPr lang="zh-CN" sz="1500" b="1">
                <a:solidFill>
                  <a:srgbClr val="111827"/>
                </a:solidFill>
              </a:rPr>
              <a:t>有效区域</a:t>
            </a:r>
            <a:endParaRPr lang="zh-CN" sz="1500" b="1">
              <a:solidFill>
                <a:srgbClr val="111827"/>
              </a:solidFill>
            </a:endParaRPr>
          </a:p>
        </p:txBody>
      </p:sp>
      <p:sp>
        <p:nvSpPr>
          <p:cNvPr id="32" name="Bullets 32"/>
          <p:cNvSpPr txBox="1"/>
          <p:nvPr/>
        </p:nvSpPr>
        <p:spPr>
          <a:xfrm>
            <a:off x="8560000" y="2160000"/>
            <a:ext cx="2590000" cy="1330000"/>
          </a:xfrm>
          <a:prstGeom prst="rect">
            <a:avLst/>
          </a:prstGeom>
          <a:noFill/>
        </p:spPr>
        <p:txBody>
          <a:bodyPr wrap="square"/>
          <a:lstStyle/>
          <a:p>
            <a:pPr marL="259715" indent="-179705">
              <a:buChar char="•"/>
              <a:defRPr sz="1450">
                <a:solidFill>
                  <a:srgbClr val="334155"/>
                </a:solidFill>
              </a:defRPr>
            </a:pPr>
            <a:r>
              <a:rPr lang="zh-CN" sz="1450">
                <a:solidFill>
                  <a:srgbClr val="334155"/>
                </a:solidFill>
              </a:rPr>
              <a:t>晶圆背景不是整张矩形</a:t>
            </a:r>
            <a:endParaRPr lang="zh-CN" sz="1450">
              <a:solidFill>
                <a:srgbClr val="334155"/>
              </a:solidFill>
            </a:endParaRPr>
          </a:p>
          <a:p>
            <a:pPr marL="259715" indent="-179705">
              <a:buChar char="•"/>
              <a:defRPr sz="1450">
                <a:solidFill>
                  <a:srgbClr val="334155"/>
                </a:solidFill>
              </a:defRPr>
            </a:pPr>
            <a:r>
              <a:rPr lang="zh-CN" sz="1450">
                <a:solidFill>
                  <a:srgbClr val="334155"/>
                </a:solidFill>
              </a:rPr>
              <a:t>圆形 wafer 区域才有意义</a:t>
            </a:r>
            <a:endParaRPr lang="zh-CN" sz="1450">
              <a:solidFill>
                <a:srgbClr val="334155"/>
              </a:solidFill>
            </a:endParaRPr>
          </a:p>
          <a:p>
            <a:pPr marL="259715" indent="-179705">
              <a:buChar char="•"/>
              <a:defRPr sz="1450">
                <a:solidFill>
                  <a:srgbClr val="334155"/>
                </a:solidFill>
              </a:defRPr>
            </a:pPr>
            <a:r>
              <a:rPr lang="zh-CN" sz="1450">
                <a:solidFill>
                  <a:srgbClr val="334155"/>
                </a:solidFill>
              </a:rPr>
              <a:t>背景外区域忽略不参与匹配</a:t>
            </a:r>
            <a:endParaRPr lang="zh-CN" sz="1450">
              <a:solidFill>
                <a:srgbClr val="334155"/>
              </a:solidFill>
            </a:endParaRPr>
          </a:p>
        </p:txBody>
      </p:sp>
      <p:sp>
        <p:nvSpPr>
          <p:cNvPr id="9905" name="Text 9905"/>
          <p:cNvSpPr txBox="1"/>
          <p:nvPr/>
        </p:nvSpPr>
        <p:spPr>
          <a:xfrm>
            <a:off x="620000" y="6460000"/>
            <a:ext cx="60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1050">
                <a:solidFill>
                  <a:srgbClr val="94A3B8"/>
                </a:solidFill>
              </a:rPr>
              <a:t>WBM-WDM Matching Method | match 模块</a:t>
            </a:r>
            <a:endParaRPr lang="zh-CN" sz="1050">
              <a:solidFill>
                <a:srgbClr val="94A3B8"/>
              </a:solidFill>
            </a:endParaRPr>
          </a:p>
        </p:txBody>
      </p:sp>
      <p:graphicFrame>
        <p:nvGraphicFramePr>
          <p:cNvPr id="15" name="表格 14"/>
          <p:cNvGraphicFramePr/>
          <p:nvPr/>
        </p:nvGraphicFramePr>
        <p:xfrm>
          <a:off x="695960" y="4149090"/>
          <a:ext cx="4756785" cy="14452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1230"/>
                <a:gridCol w="951230"/>
                <a:gridCol w="940435"/>
                <a:gridCol w="962660"/>
                <a:gridCol w="951230"/>
              </a:tblGrid>
              <a:tr h="3048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solidFill>
                            <a:schemeClr val="tx1"/>
                          </a:solidFill>
                        </a:rPr>
                        <a:t>defectid</a:t>
                      </a:r>
                      <a:endParaRPr lang="en-US" altLang="zh-CN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solidFill>
                            <a:schemeClr val="tx1"/>
                          </a:solidFill>
                        </a:rPr>
                        <a:t>xrel</a:t>
                      </a:r>
                      <a:endParaRPr lang="en-US" altLang="zh-CN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solidFill>
                            <a:schemeClr val="tx1"/>
                          </a:solidFill>
                        </a:rPr>
                        <a:t>yrel</a:t>
                      </a:r>
                      <a:endParaRPr lang="en-US" altLang="zh-CN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solidFill>
                            <a:schemeClr val="tx1"/>
                          </a:solidFill>
                        </a:rPr>
                        <a:t>xindex</a:t>
                      </a:r>
                      <a:endParaRPr lang="en-US" altLang="zh-CN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solidFill>
                            <a:schemeClr val="tx1"/>
                          </a:solidFill>
                        </a:rPr>
                        <a:t>yindex</a:t>
                      </a:r>
                      <a:endParaRPr lang="en-US" altLang="zh-CN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altLang="zh-CN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solidFill>
                            <a:schemeClr val="tx1"/>
                          </a:solidFill>
                        </a:rPr>
                        <a:t>100</a:t>
                      </a:r>
                      <a:endParaRPr lang="en-US" altLang="zh-CN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solidFill>
                            <a:schemeClr val="tx1"/>
                          </a:solidFill>
                        </a:rPr>
                        <a:t>305</a:t>
                      </a:r>
                      <a:endParaRPr lang="en-US" altLang="zh-CN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altLang="zh-CN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altLang="zh-CN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7973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altLang="zh-CN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solidFill>
                            <a:schemeClr val="tx1"/>
                          </a:solidFill>
                        </a:rPr>
                        <a:t>2001</a:t>
                      </a:r>
                      <a:endParaRPr lang="en-US" altLang="zh-CN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solidFill>
                            <a:schemeClr val="tx1"/>
                          </a:solidFill>
                        </a:rPr>
                        <a:t>400</a:t>
                      </a:r>
                      <a:endParaRPr lang="en-US" altLang="zh-CN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solidFill>
                            <a:schemeClr val="tx1"/>
                          </a:solidFill>
                        </a:rPr>
                        <a:t>-2</a:t>
                      </a:r>
                      <a:endParaRPr lang="en-US" altLang="zh-CN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solidFill>
                            <a:schemeClr val="tx1"/>
                          </a:solidFill>
                        </a:rPr>
                        <a:t>-4</a:t>
                      </a:r>
                      <a:endParaRPr lang="en-US" altLang="zh-CN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7973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solidFill>
                            <a:schemeClr val="tx1"/>
                          </a:solidFill>
                        </a:rPr>
                        <a:t>...</a:t>
                      </a:r>
                      <a:endParaRPr lang="en-US" altLang="zh-CN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solidFill>
                            <a:schemeClr val="tx1"/>
                          </a:solidFill>
                        </a:rPr>
                        <a:t>...</a:t>
                      </a:r>
                      <a:endParaRPr lang="en-US" altLang="zh-CN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solidFill>
                            <a:schemeClr val="tx1"/>
                          </a:solidFill>
                        </a:rPr>
                        <a:t>...</a:t>
                      </a:r>
                      <a:endParaRPr lang="en-US" altLang="zh-CN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solidFill>
                            <a:schemeClr val="tx1"/>
                          </a:solidFill>
                        </a:rPr>
                        <a:t>...</a:t>
                      </a:r>
                      <a:endParaRPr lang="en-US" altLang="zh-CN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solidFill>
                            <a:schemeClr val="tx1"/>
                          </a:solidFill>
                        </a:rPr>
                        <a:t>...</a:t>
                      </a:r>
                      <a:endParaRPr lang="en-US" altLang="zh-CN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5" name="内容占位符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4615" y="4155440"/>
            <a:ext cx="1680845" cy="1485900"/>
          </a:xfrm>
          <a:prstGeom prst="rect">
            <a:avLst/>
          </a:prstGeom>
        </p:spPr>
      </p:pic>
      <p:cxnSp>
        <p:nvCxnSpPr>
          <p:cNvPr id="6" name="直接箭头连接符 5"/>
          <p:cNvCxnSpPr/>
          <p:nvPr/>
        </p:nvCxnSpPr>
        <p:spPr>
          <a:xfrm>
            <a:off x="5630545" y="4867275"/>
            <a:ext cx="681990" cy="1905"/>
          </a:xfrm>
          <a:prstGeom prst="straightConnector1">
            <a:avLst/>
          </a:prstGeom>
          <a:ln w="28575"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" name="直接箭头连接符 7"/>
          <p:cNvCxnSpPr/>
          <p:nvPr/>
        </p:nvCxnSpPr>
        <p:spPr>
          <a:xfrm>
            <a:off x="8285480" y="4876800"/>
            <a:ext cx="681990" cy="1905"/>
          </a:xfrm>
          <a:prstGeom prst="straightConnector1">
            <a:avLst/>
          </a:prstGeom>
          <a:ln w="28575"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9480550" y="4693285"/>
            <a:ext cx="15214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类</a:t>
            </a:r>
            <a:r>
              <a:rPr lang="en-US" altLang="zh-CN"/>
              <a:t>CP M</a:t>
            </a:r>
            <a:r>
              <a:rPr lang="en-US" altLang="zh-CN"/>
              <a:t>ap</a:t>
            </a:r>
            <a:endParaRPr lang="en-US" altLang="zh-CN"/>
          </a:p>
        </p:txBody>
      </p:sp>
      <p:sp>
        <p:nvSpPr>
          <p:cNvPr id="14" name="文本框 13"/>
          <p:cNvSpPr txBox="1"/>
          <p:nvPr/>
        </p:nvSpPr>
        <p:spPr>
          <a:xfrm>
            <a:off x="8328660" y="4498975"/>
            <a:ext cx="7105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？</a:t>
            </a:r>
            <a:endParaRPr lang="en-US" altLang="zh-C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/>
          <p:nvPr/>
        </p:nvSpPr>
        <p:spPr>
          <a:xfrm>
            <a:off x="-24130" y="-27940"/>
            <a:ext cx="12192000" cy="6858000"/>
          </a:xfrm>
          <a:prstGeom prst="rect">
            <a:avLst/>
          </a:prstGeom>
          <a:solidFill>
            <a:srgbClr val="F8FAFC"/>
          </a:solidFill>
          <a:ln w="14000">
            <a:solidFill>
              <a:srgbClr val="F8FAFC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3" name="Text 2"/>
          <p:cNvSpPr txBox="1"/>
          <p:nvPr/>
        </p:nvSpPr>
        <p:spPr>
          <a:xfrm>
            <a:off x="620000" y="300000"/>
            <a:ext cx="9200000" cy="5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altLang="zh-CN" sz="3000" b="1">
                <a:solidFill>
                  <a:srgbClr val="111827"/>
                </a:solidFill>
              </a:rPr>
              <a:t>3</a:t>
            </a:r>
            <a:r>
              <a:rPr lang="zh-CN" sz="3000" b="1">
                <a:solidFill>
                  <a:srgbClr val="111827"/>
                </a:solidFill>
              </a:rPr>
              <a:t>. Representation 定义方式：同一统计，多种表达</a:t>
            </a:r>
            <a:endParaRPr lang="zh-CN" sz="3000" b="1">
              <a:solidFill>
                <a:srgbClr val="111827"/>
              </a:solidFill>
            </a:endParaRPr>
          </a:p>
        </p:txBody>
      </p:sp>
      <p:sp>
        <p:nvSpPr>
          <p:cNvPr id="4" name="Text 3"/>
          <p:cNvSpPr txBox="1"/>
          <p:nvPr/>
        </p:nvSpPr>
        <p:spPr>
          <a:xfrm>
            <a:off x="640000" y="830000"/>
            <a:ext cx="98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1400">
                <a:solidFill>
                  <a:srgbClr val="64748B"/>
                </a:solidFill>
              </a:rPr>
              <a:t>RepresentationBuilder 把 count/status/indices 转成可比较的二维图。</a:t>
            </a:r>
            <a:endParaRPr lang="zh-CN" sz="1400">
              <a:solidFill>
                <a:srgbClr val="64748B"/>
              </a:solidFill>
            </a:endParaRPr>
          </a:p>
        </p:txBody>
      </p:sp>
      <p:sp>
        <p:nvSpPr>
          <p:cNvPr id="10" name="Shape 10"/>
          <p:cNvSpPr/>
          <p:nvPr/>
        </p:nvSpPr>
        <p:spPr>
          <a:xfrm>
            <a:off x="619760" y="1299845"/>
            <a:ext cx="3376930" cy="1847215"/>
          </a:xfrm>
          <a:prstGeom prst="roundRect">
            <a:avLst/>
          </a:prstGeom>
          <a:solidFill>
            <a:srgbClr val="FFFFFF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11" name="Shape 11"/>
          <p:cNvSpPr/>
          <p:nvPr/>
        </p:nvSpPr>
        <p:spPr>
          <a:xfrm>
            <a:off x="800000" y="1480000"/>
            <a:ext cx="3040000" cy="430000"/>
          </a:xfrm>
          <a:prstGeom prst="roundRect">
            <a:avLst/>
          </a:prstGeom>
          <a:solidFill>
            <a:srgbClr val="D1FAE5"/>
          </a:solidFill>
          <a:ln w="14000">
            <a:solidFill>
              <a:srgbClr val="059669"/>
            </a:solidFill>
          </a:ln>
        </p:spPr>
        <p:txBody>
          <a:bodyPr wrap="square" lIns="90000" rIns="90000" anchor="ctr"/>
          <a:lstStyle/>
          <a:p>
            <a:pPr algn="ctr"/>
            <a:r>
              <a:rPr lang="zh-CN" sz="1500" b="1">
                <a:solidFill>
                  <a:srgbClr val="111827"/>
                </a:solidFill>
              </a:rPr>
              <a:t>基础表达</a:t>
            </a:r>
            <a:endParaRPr lang="zh-CN" sz="1500" b="1">
              <a:solidFill>
                <a:srgbClr val="111827"/>
              </a:solidFill>
            </a:endParaRPr>
          </a:p>
        </p:txBody>
      </p:sp>
      <p:sp>
        <p:nvSpPr>
          <p:cNvPr id="12" name="Bullets 12"/>
          <p:cNvSpPr txBox="1"/>
          <p:nvPr/>
        </p:nvSpPr>
        <p:spPr>
          <a:xfrm>
            <a:off x="900000" y="2080000"/>
            <a:ext cx="2840000" cy="780000"/>
          </a:xfrm>
          <a:prstGeom prst="rect">
            <a:avLst/>
          </a:prstGeom>
          <a:noFill/>
        </p:spPr>
        <p:txBody>
          <a:bodyPr wrap="square"/>
          <a:lstStyle/>
          <a:p>
            <a:pPr marL="259715" indent="-179705">
              <a:buChar char="•"/>
              <a:defRPr sz="1450">
                <a:solidFill>
                  <a:srgbClr val="334155"/>
                </a:solidFill>
              </a:defRPr>
            </a:pPr>
            <a:r>
              <a:rPr lang="zh-CN" sz="1450">
                <a:solidFill>
                  <a:srgbClr val="334155"/>
                </a:solidFill>
              </a:rPr>
              <a:t>binary </a:t>
            </a:r>
            <a:endParaRPr lang="zh-CN" sz="1450">
              <a:solidFill>
                <a:srgbClr val="334155"/>
              </a:solidFill>
            </a:endParaRPr>
          </a:p>
          <a:p>
            <a:pPr marL="259715" indent="-179705">
              <a:buChar char="•"/>
              <a:defRPr sz="1450">
                <a:solidFill>
                  <a:srgbClr val="334155"/>
                </a:solidFill>
              </a:defRPr>
            </a:pPr>
            <a:r>
              <a:rPr lang="zh-CN" sz="1450">
                <a:solidFill>
                  <a:srgbClr val="334155"/>
                </a:solidFill>
              </a:rPr>
              <a:t>count</a:t>
            </a:r>
            <a:endParaRPr lang="zh-CN" sz="1450">
              <a:solidFill>
                <a:srgbClr val="334155"/>
              </a:solidFill>
            </a:endParaRPr>
          </a:p>
          <a:p>
            <a:pPr marL="259715" indent="-179705">
              <a:buChar char="•"/>
              <a:defRPr sz="1450">
                <a:solidFill>
                  <a:srgbClr val="334155"/>
                </a:solidFill>
              </a:defRPr>
            </a:pPr>
            <a:r>
              <a:rPr lang="zh-CN" sz="1450">
                <a:solidFill>
                  <a:srgbClr val="334155"/>
                </a:solidFill>
              </a:rPr>
              <a:t>density</a:t>
            </a:r>
            <a:endParaRPr lang="zh-CN" sz="1450">
              <a:solidFill>
                <a:srgbClr val="334155"/>
              </a:solidFill>
            </a:endParaRPr>
          </a:p>
          <a:p>
            <a:pPr marL="259715" indent="-179705">
              <a:buChar char="•"/>
              <a:defRPr sz="1450">
                <a:solidFill>
                  <a:srgbClr val="334155"/>
                </a:solidFill>
              </a:defRPr>
            </a:pPr>
            <a:r>
              <a:rPr lang="zh-CN" sz="1450">
                <a:solidFill>
                  <a:srgbClr val="334155"/>
                </a:solidFill>
              </a:rPr>
              <a:t>three-value 加入邻域弱证据</a:t>
            </a:r>
            <a:endParaRPr lang="zh-CN" sz="1450">
              <a:solidFill>
                <a:srgbClr val="334155"/>
              </a:solidFill>
            </a:endParaRPr>
          </a:p>
        </p:txBody>
      </p:sp>
      <p:sp>
        <p:nvSpPr>
          <p:cNvPr id="20" name="Shape 20"/>
          <p:cNvSpPr/>
          <p:nvPr/>
        </p:nvSpPr>
        <p:spPr>
          <a:xfrm>
            <a:off x="696200" y="3500825"/>
            <a:ext cx="3400000" cy="1700000"/>
          </a:xfrm>
          <a:prstGeom prst="roundRect">
            <a:avLst/>
          </a:prstGeom>
          <a:solidFill>
            <a:srgbClr val="FFFFFF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21" name="Shape 21"/>
          <p:cNvSpPr/>
          <p:nvPr/>
        </p:nvSpPr>
        <p:spPr>
          <a:xfrm>
            <a:off x="899695" y="3644630"/>
            <a:ext cx="3040000" cy="430000"/>
          </a:xfrm>
          <a:prstGeom prst="roundRect">
            <a:avLst/>
          </a:prstGeom>
          <a:solidFill>
            <a:srgbClr val="EDE9FE"/>
          </a:solidFill>
          <a:ln w="14000">
            <a:solidFill>
              <a:srgbClr val="7C3AED"/>
            </a:solidFill>
          </a:ln>
        </p:spPr>
        <p:txBody>
          <a:bodyPr wrap="square" lIns="90000" rIns="90000" anchor="ctr"/>
          <a:lstStyle/>
          <a:p>
            <a:pPr algn="ctr"/>
            <a:r>
              <a:rPr lang="zh-CN" sz="1500" b="1">
                <a:solidFill>
                  <a:srgbClr val="111827"/>
                </a:solidFill>
              </a:rPr>
              <a:t>扩散表达</a:t>
            </a:r>
            <a:endParaRPr lang="zh-CN" sz="1500" b="1">
              <a:solidFill>
                <a:srgbClr val="111827"/>
              </a:solidFill>
            </a:endParaRPr>
          </a:p>
        </p:txBody>
      </p:sp>
      <p:sp>
        <p:nvSpPr>
          <p:cNvPr id="22" name="Bullets 22"/>
          <p:cNvSpPr txBox="1"/>
          <p:nvPr/>
        </p:nvSpPr>
        <p:spPr>
          <a:xfrm>
            <a:off x="912065" y="4305590"/>
            <a:ext cx="2840000" cy="780000"/>
          </a:xfrm>
          <a:prstGeom prst="rect">
            <a:avLst/>
          </a:prstGeom>
          <a:noFill/>
        </p:spPr>
        <p:txBody>
          <a:bodyPr wrap="square"/>
          <a:lstStyle/>
          <a:p>
            <a:pPr marL="259715" indent="-179705">
              <a:buChar char="•"/>
              <a:defRPr sz="1450">
                <a:solidFill>
                  <a:srgbClr val="334155"/>
                </a:solidFill>
              </a:defRPr>
            </a:pPr>
            <a:r>
              <a:rPr lang="zh-CN" sz="1450">
                <a:solidFill>
                  <a:srgbClr val="334155"/>
                </a:solidFill>
              </a:rPr>
              <a:t>soft：density 高斯平滑</a:t>
            </a:r>
            <a:endParaRPr lang="zh-CN" sz="1450">
              <a:solidFill>
                <a:srgbClr val="334155"/>
              </a:solidFill>
            </a:endParaRPr>
          </a:p>
          <a:p>
            <a:pPr marL="259715" indent="-179705">
              <a:buChar char="•"/>
              <a:defRPr sz="1450">
                <a:solidFill>
                  <a:srgbClr val="334155"/>
                </a:solidFill>
              </a:defRPr>
            </a:pPr>
            <a:r>
              <a:rPr lang="zh-CN" sz="1450">
                <a:solidFill>
                  <a:srgbClr val="334155"/>
                </a:solidFill>
              </a:rPr>
              <a:t>mountain：点级高斯峰叠加</a:t>
            </a:r>
            <a:endParaRPr lang="zh-CN" sz="1450">
              <a:solidFill>
                <a:srgbClr val="334155"/>
              </a:solidFill>
            </a:endParaRPr>
          </a:p>
        </p:txBody>
      </p:sp>
      <p:sp>
        <p:nvSpPr>
          <p:cNvPr id="100" name="Shape 100"/>
          <p:cNvSpPr/>
          <p:nvPr/>
        </p:nvSpPr>
        <p:spPr>
          <a:xfrm>
            <a:off x="4480000" y="1430000"/>
            <a:ext cx="1190000" cy="1190000"/>
          </a:xfrm>
          <a:prstGeom prst="roundRect">
            <a:avLst/>
          </a:prstGeom>
          <a:solidFill>
            <a:srgbClr val="FFFFFF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101" name="Shape 101"/>
          <p:cNvSpPr/>
          <p:nvPr/>
        </p:nvSpPr>
        <p:spPr>
          <a:xfrm>
            <a:off x="4550000" y="1500000"/>
            <a:ext cx="201000" cy="201000"/>
          </a:xfrm>
          <a:prstGeom prst="rect">
            <a:avLst/>
          </a:prstGeom>
          <a:solidFill>
            <a:srgbClr val="111827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102" name="Shape 102"/>
          <p:cNvSpPr/>
          <p:nvPr/>
        </p:nvSpPr>
        <p:spPr>
          <a:xfrm>
            <a:off x="4760000" y="1500000"/>
            <a:ext cx="201000" cy="201000"/>
          </a:xfrm>
          <a:prstGeom prst="rect">
            <a:avLst/>
          </a:prstGeom>
          <a:solidFill>
            <a:srgbClr val="111827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103" name="Shape 103"/>
          <p:cNvSpPr/>
          <p:nvPr/>
        </p:nvSpPr>
        <p:spPr>
          <a:xfrm>
            <a:off x="4970000" y="1500000"/>
            <a:ext cx="201000" cy="201000"/>
          </a:xfrm>
          <a:prstGeom prst="rect">
            <a:avLst/>
          </a:prstGeom>
          <a:solidFill>
            <a:srgbClr val="111827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104" name="Shape 104"/>
          <p:cNvSpPr/>
          <p:nvPr/>
        </p:nvSpPr>
        <p:spPr>
          <a:xfrm>
            <a:off x="5180000" y="1500000"/>
            <a:ext cx="201000" cy="201000"/>
          </a:xfrm>
          <a:prstGeom prst="rect">
            <a:avLst/>
          </a:prstGeom>
          <a:solidFill>
            <a:srgbClr val="111827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105" name="Shape 105"/>
          <p:cNvSpPr/>
          <p:nvPr/>
        </p:nvSpPr>
        <p:spPr>
          <a:xfrm>
            <a:off x="5390000" y="1500000"/>
            <a:ext cx="201000" cy="201000"/>
          </a:xfrm>
          <a:prstGeom prst="rect">
            <a:avLst/>
          </a:prstGeom>
          <a:solidFill>
            <a:srgbClr val="111827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106" name="Shape 106"/>
          <p:cNvSpPr/>
          <p:nvPr/>
        </p:nvSpPr>
        <p:spPr>
          <a:xfrm>
            <a:off x="4550000" y="1710000"/>
            <a:ext cx="201000" cy="201000"/>
          </a:xfrm>
          <a:prstGeom prst="rect">
            <a:avLst/>
          </a:prstGeom>
          <a:solidFill>
            <a:srgbClr val="111827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107" name="Shape 107"/>
          <p:cNvSpPr/>
          <p:nvPr/>
        </p:nvSpPr>
        <p:spPr>
          <a:xfrm>
            <a:off x="4760000" y="1710000"/>
            <a:ext cx="201000" cy="201000"/>
          </a:xfrm>
          <a:prstGeom prst="rect">
            <a:avLst/>
          </a:prstGeom>
          <a:solidFill>
            <a:srgbClr val="94A3B8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108" name="Shape 108"/>
          <p:cNvSpPr/>
          <p:nvPr/>
        </p:nvSpPr>
        <p:spPr>
          <a:xfrm>
            <a:off x="4970000" y="1710000"/>
            <a:ext cx="201000" cy="201000"/>
          </a:xfrm>
          <a:prstGeom prst="rect">
            <a:avLst/>
          </a:prstGeom>
          <a:solidFill>
            <a:srgbClr val="111827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109" name="Shape 109"/>
          <p:cNvSpPr/>
          <p:nvPr/>
        </p:nvSpPr>
        <p:spPr>
          <a:xfrm>
            <a:off x="5180000" y="1710000"/>
            <a:ext cx="201000" cy="201000"/>
          </a:xfrm>
          <a:prstGeom prst="rect">
            <a:avLst/>
          </a:prstGeom>
          <a:solidFill>
            <a:srgbClr val="94A3B8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110" name="Shape 110"/>
          <p:cNvSpPr/>
          <p:nvPr/>
        </p:nvSpPr>
        <p:spPr>
          <a:xfrm>
            <a:off x="5390000" y="1710000"/>
            <a:ext cx="201000" cy="201000"/>
          </a:xfrm>
          <a:prstGeom prst="rect">
            <a:avLst/>
          </a:prstGeom>
          <a:solidFill>
            <a:srgbClr val="111827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111" name="Shape 111"/>
          <p:cNvSpPr/>
          <p:nvPr/>
        </p:nvSpPr>
        <p:spPr>
          <a:xfrm>
            <a:off x="4550000" y="1920000"/>
            <a:ext cx="201000" cy="201000"/>
          </a:xfrm>
          <a:prstGeom prst="rect">
            <a:avLst/>
          </a:prstGeom>
          <a:solidFill>
            <a:srgbClr val="111827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112" name="Shape 112"/>
          <p:cNvSpPr/>
          <p:nvPr/>
        </p:nvSpPr>
        <p:spPr>
          <a:xfrm>
            <a:off x="4760000" y="1920000"/>
            <a:ext cx="201000" cy="201000"/>
          </a:xfrm>
          <a:prstGeom prst="rect">
            <a:avLst/>
          </a:prstGeom>
          <a:solidFill>
            <a:srgbClr val="111827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113" name="Shape 113"/>
          <p:cNvSpPr/>
          <p:nvPr/>
        </p:nvSpPr>
        <p:spPr>
          <a:xfrm>
            <a:off x="4970000" y="1920000"/>
            <a:ext cx="201000" cy="201000"/>
          </a:xfrm>
          <a:prstGeom prst="rect">
            <a:avLst/>
          </a:prstGeom>
          <a:solidFill>
            <a:srgbClr val="111827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114" name="Shape 114"/>
          <p:cNvSpPr/>
          <p:nvPr/>
        </p:nvSpPr>
        <p:spPr>
          <a:xfrm>
            <a:off x="5180000" y="1920000"/>
            <a:ext cx="201000" cy="201000"/>
          </a:xfrm>
          <a:prstGeom prst="rect">
            <a:avLst/>
          </a:prstGeom>
          <a:solidFill>
            <a:srgbClr val="111827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115" name="Shape 115"/>
          <p:cNvSpPr/>
          <p:nvPr/>
        </p:nvSpPr>
        <p:spPr>
          <a:xfrm>
            <a:off x="5390000" y="1920000"/>
            <a:ext cx="201000" cy="201000"/>
          </a:xfrm>
          <a:prstGeom prst="rect">
            <a:avLst/>
          </a:prstGeom>
          <a:solidFill>
            <a:srgbClr val="111827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116" name="Shape 116"/>
          <p:cNvSpPr/>
          <p:nvPr/>
        </p:nvSpPr>
        <p:spPr>
          <a:xfrm>
            <a:off x="4550000" y="2130000"/>
            <a:ext cx="201000" cy="201000"/>
          </a:xfrm>
          <a:prstGeom prst="rect">
            <a:avLst/>
          </a:prstGeom>
          <a:solidFill>
            <a:srgbClr val="111827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117" name="Shape 117"/>
          <p:cNvSpPr/>
          <p:nvPr/>
        </p:nvSpPr>
        <p:spPr>
          <a:xfrm>
            <a:off x="4760000" y="2130000"/>
            <a:ext cx="201000" cy="201000"/>
          </a:xfrm>
          <a:prstGeom prst="rect">
            <a:avLst/>
          </a:prstGeom>
          <a:solidFill>
            <a:srgbClr val="94A3B8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118" name="Shape 118"/>
          <p:cNvSpPr/>
          <p:nvPr/>
        </p:nvSpPr>
        <p:spPr>
          <a:xfrm>
            <a:off x="4970000" y="2130000"/>
            <a:ext cx="201000" cy="201000"/>
          </a:xfrm>
          <a:prstGeom prst="rect">
            <a:avLst/>
          </a:prstGeom>
          <a:solidFill>
            <a:srgbClr val="111827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119" name="Shape 119"/>
          <p:cNvSpPr/>
          <p:nvPr/>
        </p:nvSpPr>
        <p:spPr>
          <a:xfrm>
            <a:off x="5180000" y="2130000"/>
            <a:ext cx="201000" cy="201000"/>
          </a:xfrm>
          <a:prstGeom prst="rect">
            <a:avLst/>
          </a:prstGeom>
          <a:solidFill>
            <a:srgbClr val="111827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120" name="Shape 120"/>
          <p:cNvSpPr/>
          <p:nvPr/>
        </p:nvSpPr>
        <p:spPr>
          <a:xfrm>
            <a:off x="5390000" y="2130000"/>
            <a:ext cx="201000" cy="201000"/>
          </a:xfrm>
          <a:prstGeom prst="rect">
            <a:avLst/>
          </a:prstGeom>
          <a:solidFill>
            <a:srgbClr val="111827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121" name="Shape 121"/>
          <p:cNvSpPr/>
          <p:nvPr/>
        </p:nvSpPr>
        <p:spPr>
          <a:xfrm>
            <a:off x="4550000" y="2340000"/>
            <a:ext cx="201000" cy="201000"/>
          </a:xfrm>
          <a:prstGeom prst="rect">
            <a:avLst/>
          </a:prstGeom>
          <a:solidFill>
            <a:srgbClr val="111827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122" name="Shape 122"/>
          <p:cNvSpPr/>
          <p:nvPr/>
        </p:nvSpPr>
        <p:spPr>
          <a:xfrm>
            <a:off x="4760000" y="2340000"/>
            <a:ext cx="201000" cy="201000"/>
          </a:xfrm>
          <a:prstGeom prst="rect">
            <a:avLst/>
          </a:prstGeom>
          <a:solidFill>
            <a:srgbClr val="111827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123" name="Shape 123"/>
          <p:cNvSpPr/>
          <p:nvPr/>
        </p:nvSpPr>
        <p:spPr>
          <a:xfrm>
            <a:off x="4970000" y="2340000"/>
            <a:ext cx="201000" cy="201000"/>
          </a:xfrm>
          <a:prstGeom prst="rect">
            <a:avLst/>
          </a:prstGeom>
          <a:solidFill>
            <a:srgbClr val="111827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124" name="Shape 124"/>
          <p:cNvSpPr/>
          <p:nvPr/>
        </p:nvSpPr>
        <p:spPr>
          <a:xfrm>
            <a:off x="5180000" y="2340000"/>
            <a:ext cx="201000" cy="201000"/>
          </a:xfrm>
          <a:prstGeom prst="rect">
            <a:avLst/>
          </a:prstGeom>
          <a:solidFill>
            <a:srgbClr val="111827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125" name="Shape 125"/>
          <p:cNvSpPr/>
          <p:nvPr/>
        </p:nvSpPr>
        <p:spPr>
          <a:xfrm>
            <a:off x="5390000" y="2340000"/>
            <a:ext cx="201000" cy="201000"/>
          </a:xfrm>
          <a:prstGeom prst="rect">
            <a:avLst/>
          </a:prstGeom>
          <a:solidFill>
            <a:srgbClr val="111827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126" name="Text 126"/>
          <p:cNvSpPr txBox="1"/>
          <p:nvPr/>
        </p:nvSpPr>
        <p:spPr>
          <a:xfrm>
            <a:off x="4430000" y="2650000"/>
            <a:ext cx="129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zh-CN" sz="1150" b="1">
                <a:solidFill>
                  <a:srgbClr val="64748B"/>
                </a:solidFill>
              </a:rPr>
              <a:t>binary</a:t>
            </a:r>
            <a:endParaRPr lang="zh-CN" sz="1150" b="1">
              <a:solidFill>
                <a:srgbClr val="64748B"/>
              </a:solidFill>
            </a:endParaRPr>
          </a:p>
        </p:txBody>
      </p:sp>
      <p:sp>
        <p:nvSpPr>
          <p:cNvPr id="140" name="Shape 140"/>
          <p:cNvSpPr/>
          <p:nvPr/>
        </p:nvSpPr>
        <p:spPr>
          <a:xfrm>
            <a:off x="6730000" y="1430000"/>
            <a:ext cx="1190000" cy="1190000"/>
          </a:xfrm>
          <a:prstGeom prst="roundRect">
            <a:avLst/>
          </a:prstGeom>
          <a:solidFill>
            <a:srgbClr val="FFFFFF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141" name="Shape 141"/>
          <p:cNvSpPr/>
          <p:nvPr/>
        </p:nvSpPr>
        <p:spPr>
          <a:xfrm>
            <a:off x="6800000" y="1500000"/>
            <a:ext cx="201000" cy="201000"/>
          </a:xfrm>
          <a:prstGeom prst="rect">
            <a:avLst/>
          </a:prstGeom>
          <a:solidFill>
            <a:srgbClr val="111827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142" name="Shape 142"/>
          <p:cNvSpPr/>
          <p:nvPr/>
        </p:nvSpPr>
        <p:spPr>
          <a:xfrm>
            <a:off x="7010000" y="1500000"/>
            <a:ext cx="201000" cy="201000"/>
          </a:xfrm>
          <a:prstGeom prst="rect">
            <a:avLst/>
          </a:prstGeom>
          <a:solidFill>
            <a:srgbClr val="111827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143" name="Shape 143"/>
          <p:cNvSpPr/>
          <p:nvPr/>
        </p:nvSpPr>
        <p:spPr>
          <a:xfrm>
            <a:off x="7220000" y="1500000"/>
            <a:ext cx="201000" cy="201000"/>
          </a:xfrm>
          <a:prstGeom prst="rect">
            <a:avLst/>
          </a:prstGeom>
          <a:solidFill>
            <a:srgbClr val="111827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144" name="Shape 144"/>
          <p:cNvSpPr/>
          <p:nvPr/>
        </p:nvSpPr>
        <p:spPr>
          <a:xfrm>
            <a:off x="7430000" y="1500000"/>
            <a:ext cx="201000" cy="201000"/>
          </a:xfrm>
          <a:prstGeom prst="rect">
            <a:avLst/>
          </a:prstGeom>
          <a:solidFill>
            <a:srgbClr val="111827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145" name="Shape 145"/>
          <p:cNvSpPr/>
          <p:nvPr/>
        </p:nvSpPr>
        <p:spPr>
          <a:xfrm>
            <a:off x="7640000" y="1500000"/>
            <a:ext cx="201000" cy="201000"/>
          </a:xfrm>
          <a:prstGeom prst="rect">
            <a:avLst/>
          </a:prstGeom>
          <a:solidFill>
            <a:srgbClr val="111827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146" name="Shape 146"/>
          <p:cNvSpPr/>
          <p:nvPr/>
        </p:nvSpPr>
        <p:spPr>
          <a:xfrm>
            <a:off x="6800000" y="1710000"/>
            <a:ext cx="201000" cy="201000"/>
          </a:xfrm>
          <a:prstGeom prst="rect">
            <a:avLst/>
          </a:prstGeom>
          <a:solidFill>
            <a:srgbClr val="111827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147" name="Shape 147"/>
          <p:cNvSpPr/>
          <p:nvPr/>
        </p:nvSpPr>
        <p:spPr>
          <a:xfrm>
            <a:off x="7010000" y="1710000"/>
            <a:ext cx="201000" cy="201000"/>
          </a:xfrm>
          <a:prstGeom prst="rect">
            <a:avLst/>
          </a:prstGeom>
          <a:solidFill>
            <a:srgbClr val="94A3B8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148" name="Shape 148"/>
          <p:cNvSpPr/>
          <p:nvPr/>
        </p:nvSpPr>
        <p:spPr>
          <a:xfrm>
            <a:off x="7220000" y="1710000"/>
            <a:ext cx="201000" cy="201000"/>
          </a:xfrm>
          <a:prstGeom prst="rect">
            <a:avLst/>
          </a:prstGeom>
          <a:solidFill>
            <a:srgbClr val="111827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149" name="Shape 149"/>
          <p:cNvSpPr/>
          <p:nvPr/>
        </p:nvSpPr>
        <p:spPr>
          <a:xfrm>
            <a:off x="7430000" y="1710000"/>
            <a:ext cx="201000" cy="201000"/>
          </a:xfrm>
          <a:prstGeom prst="rect">
            <a:avLst/>
          </a:prstGeom>
          <a:solidFill>
            <a:srgbClr val="2563EB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150" name="Shape 150"/>
          <p:cNvSpPr/>
          <p:nvPr/>
        </p:nvSpPr>
        <p:spPr>
          <a:xfrm>
            <a:off x="7640000" y="1710000"/>
            <a:ext cx="201000" cy="201000"/>
          </a:xfrm>
          <a:prstGeom prst="rect">
            <a:avLst/>
          </a:prstGeom>
          <a:solidFill>
            <a:srgbClr val="111827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151" name="Shape 151"/>
          <p:cNvSpPr/>
          <p:nvPr/>
        </p:nvSpPr>
        <p:spPr>
          <a:xfrm>
            <a:off x="6800000" y="1920000"/>
            <a:ext cx="201000" cy="201000"/>
          </a:xfrm>
          <a:prstGeom prst="rect">
            <a:avLst/>
          </a:prstGeom>
          <a:solidFill>
            <a:srgbClr val="111827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152" name="Shape 152"/>
          <p:cNvSpPr/>
          <p:nvPr/>
        </p:nvSpPr>
        <p:spPr>
          <a:xfrm>
            <a:off x="7010000" y="1920000"/>
            <a:ext cx="201000" cy="201000"/>
          </a:xfrm>
          <a:prstGeom prst="rect">
            <a:avLst/>
          </a:prstGeom>
          <a:solidFill>
            <a:srgbClr val="111827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153" name="Shape 153"/>
          <p:cNvSpPr/>
          <p:nvPr/>
        </p:nvSpPr>
        <p:spPr>
          <a:xfrm>
            <a:off x="7220000" y="1920000"/>
            <a:ext cx="201000" cy="201000"/>
          </a:xfrm>
          <a:prstGeom prst="rect">
            <a:avLst/>
          </a:prstGeom>
          <a:solidFill>
            <a:srgbClr val="111827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154" name="Shape 154"/>
          <p:cNvSpPr/>
          <p:nvPr/>
        </p:nvSpPr>
        <p:spPr>
          <a:xfrm>
            <a:off x="7430000" y="1920000"/>
            <a:ext cx="201000" cy="201000"/>
          </a:xfrm>
          <a:prstGeom prst="rect">
            <a:avLst/>
          </a:prstGeom>
          <a:solidFill>
            <a:srgbClr val="111827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155" name="Shape 155"/>
          <p:cNvSpPr/>
          <p:nvPr/>
        </p:nvSpPr>
        <p:spPr>
          <a:xfrm>
            <a:off x="7640000" y="1920000"/>
            <a:ext cx="201000" cy="201000"/>
          </a:xfrm>
          <a:prstGeom prst="rect">
            <a:avLst/>
          </a:prstGeom>
          <a:solidFill>
            <a:srgbClr val="111827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156" name="Shape 156"/>
          <p:cNvSpPr/>
          <p:nvPr/>
        </p:nvSpPr>
        <p:spPr>
          <a:xfrm>
            <a:off x="6800000" y="2130000"/>
            <a:ext cx="201000" cy="201000"/>
          </a:xfrm>
          <a:prstGeom prst="rect">
            <a:avLst/>
          </a:prstGeom>
          <a:solidFill>
            <a:srgbClr val="111827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157" name="Shape 157"/>
          <p:cNvSpPr/>
          <p:nvPr/>
        </p:nvSpPr>
        <p:spPr>
          <a:xfrm>
            <a:off x="7010000" y="2130000"/>
            <a:ext cx="201000" cy="201000"/>
          </a:xfrm>
          <a:prstGeom prst="rect">
            <a:avLst/>
          </a:prstGeom>
          <a:solidFill>
            <a:srgbClr val="60A5FA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158" name="Shape 158"/>
          <p:cNvSpPr/>
          <p:nvPr/>
        </p:nvSpPr>
        <p:spPr>
          <a:xfrm>
            <a:off x="7220000" y="2130000"/>
            <a:ext cx="201000" cy="201000"/>
          </a:xfrm>
          <a:prstGeom prst="rect">
            <a:avLst/>
          </a:prstGeom>
          <a:solidFill>
            <a:srgbClr val="111827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159" name="Shape 159"/>
          <p:cNvSpPr/>
          <p:nvPr/>
        </p:nvSpPr>
        <p:spPr>
          <a:xfrm>
            <a:off x="7430000" y="2130000"/>
            <a:ext cx="201000" cy="201000"/>
          </a:xfrm>
          <a:prstGeom prst="rect">
            <a:avLst/>
          </a:prstGeom>
          <a:solidFill>
            <a:srgbClr val="111827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160" name="Shape 160"/>
          <p:cNvSpPr/>
          <p:nvPr/>
        </p:nvSpPr>
        <p:spPr>
          <a:xfrm>
            <a:off x="7640000" y="2130000"/>
            <a:ext cx="201000" cy="201000"/>
          </a:xfrm>
          <a:prstGeom prst="rect">
            <a:avLst/>
          </a:prstGeom>
          <a:solidFill>
            <a:srgbClr val="111827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161" name="Shape 161"/>
          <p:cNvSpPr/>
          <p:nvPr/>
        </p:nvSpPr>
        <p:spPr>
          <a:xfrm>
            <a:off x="6800000" y="2340000"/>
            <a:ext cx="201000" cy="201000"/>
          </a:xfrm>
          <a:prstGeom prst="rect">
            <a:avLst/>
          </a:prstGeom>
          <a:solidFill>
            <a:srgbClr val="111827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162" name="Shape 162"/>
          <p:cNvSpPr/>
          <p:nvPr/>
        </p:nvSpPr>
        <p:spPr>
          <a:xfrm>
            <a:off x="7010000" y="2340000"/>
            <a:ext cx="201000" cy="201000"/>
          </a:xfrm>
          <a:prstGeom prst="rect">
            <a:avLst/>
          </a:prstGeom>
          <a:solidFill>
            <a:srgbClr val="111827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163" name="Shape 163"/>
          <p:cNvSpPr/>
          <p:nvPr/>
        </p:nvSpPr>
        <p:spPr>
          <a:xfrm>
            <a:off x="7220000" y="2340000"/>
            <a:ext cx="201000" cy="201000"/>
          </a:xfrm>
          <a:prstGeom prst="rect">
            <a:avLst/>
          </a:prstGeom>
          <a:solidFill>
            <a:srgbClr val="111827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164" name="Shape 164"/>
          <p:cNvSpPr/>
          <p:nvPr/>
        </p:nvSpPr>
        <p:spPr>
          <a:xfrm>
            <a:off x="7430000" y="2340000"/>
            <a:ext cx="201000" cy="201000"/>
          </a:xfrm>
          <a:prstGeom prst="rect">
            <a:avLst/>
          </a:prstGeom>
          <a:solidFill>
            <a:srgbClr val="111827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165" name="Shape 165"/>
          <p:cNvSpPr/>
          <p:nvPr/>
        </p:nvSpPr>
        <p:spPr>
          <a:xfrm>
            <a:off x="7640000" y="2340000"/>
            <a:ext cx="201000" cy="201000"/>
          </a:xfrm>
          <a:prstGeom prst="rect">
            <a:avLst/>
          </a:prstGeom>
          <a:solidFill>
            <a:srgbClr val="111827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166" name="Text 166"/>
          <p:cNvSpPr txBox="1"/>
          <p:nvPr/>
        </p:nvSpPr>
        <p:spPr>
          <a:xfrm>
            <a:off x="6680000" y="2650000"/>
            <a:ext cx="129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zh-CN" sz="1150" b="1">
                <a:solidFill>
                  <a:srgbClr val="64748B"/>
                </a:solidFill>
              </a:rPr>
              <a:t>count</a:t>
            </a:r>
            <a:endParaRPr lang="zh-CN" sz="1150" b="1">
              <a:solidFill>
                <a:srgbClr val="64748B"/>
              </a:solidFill>
            </a:endParaRPr>
          </a:p>
        </p:txBody>
      </p:sp>
      <p:sp>
        <p:nvSpPr>
          <p:cNvPr id="180" name="Shape 180"/>
          <p:cNvSpPr/>
          <p:nvPr/>
        </p:nvSpPr>
        <p:spPr>
          <a:xfrm>
            <a:off x="8980000" y="1430000"/>
            <a:ext cx="1190000" cy="1190000"/>
          </a:xfrm>
          <a:prstGeom prst="roundRect">
            <a:avLst/>
          </a:prstGeom>
          <a:solidFill>
            <a:srgbClr val="FFFFFF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181" name="Shape 181"/>
          <p:cNvSpPr/>
          <p:nvPr/>
        </p:nvSpPr>
        <p:spPr>
          <a:xfrm>
            <a:off x="9050000" y="1500000"/>
            <a:ext cx="201000" cy="201000"/>
          </a:xfrm>
          <a:prstGeom prst="rect">
            <a:avLst/>
          </a:prstGeom>
          <a:solidFill>
            <a:srgbClr val="111827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182" name="Shape 182"/>
          <p:cNvSpPr/>
          <p:nvPr/>
        </p:nvSpPr>
        <p:spPr>
          <a:xfrm>
            <a:off x="9260000" y="1500000"/>
            <a:ext cx="201000" cy="201000"/>
          </a:xfrm>
          <a:prstGeom prst="rect">
            <a:avLst/>
          </a:prstGeom>
          <a:solidFill>
            <a:srgbClr val="111827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183" name="Shape 183"/>
          <p:cNvSpPr/>
          <p:nvPr/>
        </p:nvSpPr>
        <p:spPr>
          <a:xfrm>
            <a:off x="9470000" y="1500000"/>
            <a:ext cx="201000" cy="201000"/>
          </a:xfrm>
          <a:prstGeom prst="rect">
            <a:avLst/>
          </a:prstGeom>
          <a:solidFill>
            <a:srgbClr val="111827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184" name="Shape 184"/>
          <p:cNvSpPr/>
          <p:nvPr/>
        </p:nvSpPr>
        <p:spPr>
          <a:xfrm>
            <a:off x="9680000" y="1500000"/>
            <a:ext cx="201000" cy="201000"/>
          </a:xfrm>
          <a:prstGeom prst="rect">
            <a:avLst/>
          </a:prstGeom>
          <a:solidFill>
            <a:srgbClr val="111827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185" name="Shape 185"/>
          <p:cNvSpPr/>
          <p:nvPr/>
        </p:nvSpPr>
        <p:spPr>
          <a:xfrm>
            <a:off x="9890000" y="1500000"/>
            <a:ext cx="201000" cy="201000"/>
          </a:xfrm>
          <a:prstGeom prst="rect">
            <a:avLst/>
          </a:prstGeom>
          <a:solidFill>
            <a:srgbClr val="111827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186" name="Shape 186"/>
          <p:cNvSpPr/>
          <p:nvPr/>
        </p:nvSpPr>
        <p:spPr>
          <a:xfrm>
            <a:off x="9050000" y="1710000"/>
            <a:ext cx="201000" cy="201000"/>
          </a:xfrm>
          <a:prstGeom prst="rect">
            <a:avLst/>
          </a:prstGeom>
          <a:solidFill>
            <a:srgbClr val="111827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187" name="Shape 187"/>
          <p:cNvSpPr/>
          <p:nvPr/>
        </p:nvSpPr>
        <p:spPr>
          <a:xfrm>
            <a:off x="9260000" y="1710000"/>
            <a:ext cx="201000" cy="201000"/>
          </a:xfrm>
          <a:prstGeom prst="rect">
            <a:avLst/>
          </a:prstGeom>
          <a:solidFill>
            <a:srgbClr val="059669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188" name="Shape 188"/>
          <p:cNvSpPr/>
          <p:nvPr/>
        </p:nvSpPr>
        <p:spPr>
          <a:xfrm>
            <a:off x="9470000" y="1710000"/>
            <a:ext cx="201000" cy="201000"/>
          </a:xfrm>
          <a:prstGeom prst="rect">
            <a:avLst/>
          </a:prstGeom>
          <a:solidFill>
            <a:srgbClr val="111827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189" name="Shape 189"/>
          <p:cNvSpPr/>
          <p:nvPr/>
        </p:nvSpPr>
        <p:spPr>
          <a:xfrm>
            <a:off x="9680000" y="1710000"/>
            <a:ext cx="201000" cy="201000"/>
          </a:xfrm>
          <a:prstGeom prst="rect">
            <a:avLst/>
          </a:prstGeom>
          <a:solidFill>
            <a:srgbClr val="60A5FA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190" name="Shape 190"/>
          <p:cNvSpPr/>
          <p:nvPr/>
        </p:nvSpPr>
        <p:spPr>
          <a:xfrm>
            <a:off x="9890000" y="1710000"/>
            <a:ext cx="201000" cy="201000"/>
          </a:xfrm>
          <a:prstGeom prst="rect">
            <a:avLst/>
          </a:prstGeom>
          <a:solidFill>
            <a:srgbClr val="111827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191" name="Shape 191"/>
          <p:cNvSpPr/>
          <p:nvPr/>
        </p:nvSpPr>
        <p:spPr>
          <a:xfrm>
            <a:off x="9050000" y="1920000"/>
            <a:ext cx="201000" cy="201000"/>
          </a:xfrm>
          <a:prstGeom prst="rect">
            <a:avLst/>
          </a:prstGeom>
          <a:solidFill>
            <a:srgbClr val="111827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192" name="Shape 192"/>
          <p:cNvSpPr/>
          <p:nvPr/>
        </p:nvSpPr>
        <p:spPr>
          <a:xfrm>
            <a:off x="9260000" y="1920000"/>
            <a:ext cx="201000" cy="201000"/>
          </a:xfrm>
          <a:prstGeom prst="rect">
            <a:avLst/>
          </a:prstGeom>
          <a:solidFill>
            <a:srgbClr val="CBD5E1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193" name="Shape 193"/>
          <p:cNvSpPr/>
          <p:nvPr/>
        </p:nvSpPr>
        <p:spPr>
          <a:xfrm>
            <a:off x="9470000" y="1920000"/>
            <a:ext cx="201000" cy="201000"/>
          </a:xfrm>
          <a:prstGeom prst="rect">
            <a:avLst/>
          </a:prstGeom>
          <a:solidFill>
            <a:srgbClr val="CBD5E1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194" name="Shape 194"/>
          <p:cNvSpPr/>
          <p:nvPr/>
        </p:nvSpPr>
        <p:spPr>
          <a:xfrm>
            <a:off x="9680000" y="1920000"/>
            <a:ext cx="201000" cy="201000"/>
          </a:xfrm>
          <a:prstGeom prst="rect">
            <a:avLst/>
          </a:prstGeom>
          <a:solidFill>
            <a:srgbClr val="CBD5E1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195" name="Shape 195"/>
          <p:cNvSpPr/>
          <p:nvPr/>
        </p:nvSpPr>
        <p:spPr>
          <a:xfrm>
            <a:off x="9890000" y="1920000"/>
            <a:ext cx="201000" cy="201000"/>
          </a:xfrm>
          <a:prstGeom prst="rect">
            <a:avLst/>
          </a:prstGeom>
          <a:solidFill>
            <a:srgbClr val="111827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196" name="Shape 196"/>
          <p:cNvSpPr/>
          <p:nvPr/>
        </p:nvSpPr>
        <p:spPr>
          <a:xfrm>
            <a:off x="9050000" y="2130000"/>
            <a:ext cx="201000" cy="201000"/>
          </a:xfrm>
          <a:prstGeom prst="rect">
            <a:avLst/>
          </a:prstGeom>
          <a:solidFill>
            <a:srgbClr val="111827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197" name="Shape 197"/>
          <p:cNvSpPr/>
          <p:nvPr/>
        </p:nvSpPr>
        <p:spPr>
          <a:xfrm>
            <a:off x="9260000" y="2130000"/>
            <a:ext cx="201000" cy="201000"/>
          </a:xfrm>
          <a:prstGeom prst="rect">
            <a:avLst/>
          </a:prstGeom>
          <a:solidFill>
            <a:srgbClr val="DBEAFE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198" name="Shape 198"/>
          <p:cNvSpPr/>
          <p:nvPr/>
        </p:nvSpPr>
        <p:spPr>
          <a:xfrm>
            <a:off x="9470000" y="2130000"/>
            <a:ext cx="201000" cy="201000"/>
          </a:xfrm>
          <a:prstGeom prst="rect">
            <a:avLst/>
          </a:prstGeom>
          <a:solidFill>
            <a:srgbClr val="CBD5E1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199" name="Shape 199"/>
          <p:cNvSpPr/>
          <p:nvPr/>
        </p:nvSpPr>
        <p:spPr>
          <a:xfrm>
            <a:off x="9680000" y="2130000"/>
            <a:ext cx="201000" cy="201000"/>
          </a:xfrm>
          <a:prstGeom prst="rect">
            <a:avLst/>
          </a:prstGeom>
          <a:solidFill>
            <a:srgbClr val="111827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200" name="Shape 200"/>
          <p:cNvSpPr/>
          <p:nvPr/>
        </p:nvSpPr>
        <p:spPr>
          <a:xfrm>
            <a:off x="9890000" y="2130000"/>
            <a:ext cx="201000" cy="201000"/>
          </a:xfrm>
          <a:prstGeom prst="rect">
            <a:avLst/>
          </a:prstGeom>
          <a:solidFill>
            <a:srgbClr val="111827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201" name="Shape 201"/>
          <p:cNvSpPr/>
          <p:nvPr/>
        </p:nvSpPr>
        <p:spPr>
          <a:xfrm>
            <a:off x="9050000" y="2340000"/>
            <a:ext cx="201000" cy="201000"/>
          </a:xfrm>
          <a:prstGeom prst="rect">
            <a:avLst/>
          </a:prstGeom>
          <a:solidFill>
            <a:srgbClr val="111827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202" name="Shape 202"/>
          <p:cNvSpPr/>
          <p:nvPr/>
        </p:nvSpPr>
        <p:spPr>
          <a:xfrm>
            <a:off x="9260000" y="2340000"/>
            <a:ext cx="201000" cy="201000"/>
          </a:xfrm>
          <a:prstGeom prst="rect">
            <a:avLst/>
          </a:prstGeom>
          <a:solidFill>
            <a:srgbClr val="111827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203" name="Shape 203"/>
          <p:cNvSpPr/>
          <p:nvPr/>
        </p:nvSpPr>
        <p:spPr>
          <a:xfrm>
            <a:off x="9470000" y="2340000"/>
            <a:ext cx="201000" cy="201000"/>
          </a:xfrm>
          <a:prstGeom prst="rect">
            <a:avLst/>
          </a:prstGeom>
          <a:solidFill>
            <a:srgbClr val="111827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204" name="Shape 204"/>
          <p:cNvSpPr/>
          <p:nvPr/>
        </p:nvSpPr>
        <p:spPr>
          <a:xfrm>
            <a:off x="9680000" y="2340000"/>
            <a:ext cx="201000" cy="201000"/>
          </a:xfrm>
          <a:prstGeom prst="rect">
            <a:avLst/>
          </a:prstGeom>
          <a:solidFill>
            <a:srgbClr val="111827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205" name="Shape 205"/>
          <p:cNvSpPr/>
          <p:nvPr/>
        </p:nvSpPr>
        <p:spPr>
          <a:xfrm>
            <a:off x="9890000" y="2340000"/>
            <a:ext cx="201000" cy="201000"/>
          </a:xfrm>
          <a:prstGeom prst="rect">
            <a:avLst/>
          </a:prstGeom>
          <a:solidFill>
            <a:srgbClr val="111827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206" name="Text 206"/>
          <p:cNvSpPr txBox="1"/>
          <p:nvPr/>
        </p:nvSpPr>
        <p:spPr>
          <a:xfrm>
            <a:off x="8930000" y="2650000"/>
            <a:ext cx="129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zh-CN" sz="1150" b="1">
                <a:solidFill>
                  <a:srgbClr val="64748B"/>
                </a:solidFill>
              </a:rPr>
              <a:t>density</a:t>
            </a:r>
            <a:endParaRPr lang="zh-CN" sz="1150" b="1">
              <a:solidFill>
                <a:srgbClr val="64748B"/>
              </a:solidFill>
            </a:endParaRPr>
          </a:p>
        </p:txBody>
      </p:sp>
      <p:sp>
        <p:nvSpPr>
          <p:cNvPr id="220" name="Shape 220"/>
          <p:cNvSpPr/>
          <p:nvPr/>
        </p:nvSpPr>
        <p:spPr>
          <a:xfrm>
            <a:off x="4480000" y="3530000"/>
            <a:ext cx="1190000" cy="1190000"/>
          </a:xfrm>
          <a:prstGeom prst="roundRect">
            <a:avLst/>
          </a:prstGeom>
          <a:solidFill>
            <a:srgbClr val="FFFFFF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221" name="Shape 221"/>
          <p:cNvSpPr/>
          <p:nvPr/>
        </p:nvSpPr>
        <p:spPr>
          <a:xfrm>
            <a:off x="4550000" y="3600000"/>
            <a:ext cx="201000" cy="201000"/>
          </a:xfrm>
          <a:prstGeom prst="rect">
            <a:avLst/>
          </a:prstGeom>
          <a:solidFill>
            <a:srgbClr val="111827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222" name="Shape 222"/>
          <p:cNvSpPr/>
          <p:nvPr/>
        </p:nvSpPr>
        <p:spPr>
          <a:xfrm>
            <a:off x="4760000" y="3600000"/>
            <a:ext cx="201000" cy="201000"/>
          </a:xfrm>
          <a:prstGeom prst="rect">
            <a:avLst/>
          </a:prstGeom>
          <a:solidFill>
            <a:srgbClr val="CBD5E1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223" name="Shape 223"/>
          <p:cNvSpPr/>
          <p:nvPr/>
        </p:nvSpPr>
        <p:spPr>
          <a:xfrm>
            <a:off x="4970000" y="3600000"/>
            <a:ext cx="201000" cy="201000"/>
          </a:xfrm>
          <a:prstGeom prst="rect">
            <a:avLst/>
          </a:prstGeom>
          <a:solidFill>
            <a:srgbClr val="111827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224" name="Shape 224"/>
          <p:cNvSpPr/>
          <p:nvPr/>
        </p:nvSpPr>
        <p:spPr>
          <a:xfrm>
            <a:off x="5180000" y="3600000"/>
            <a:ext cx="201000" cy="201000"/>
          </a:xfrm>
          <a:prstGeom prst="rect">
            <a:avLst/>
          </a:prstGeom>
          <a:solidFill>
            <a:srgbClr val="CBD5E1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225" name="Shape 225"/>
          <p:cNvSpPr/>
          <p:nvPr/>
        </p:nvSpPr>
        <p:spPr>
          <a:xfrm>
            <a:off x="5390000" y="3600000"/>
            <a:ext cx="201000" cy="201000"/>
          </a:xfrm>
          <a:prstGeom prst="rect">
            <a:avLst/>
          </a:prstGeom>
          <a:solidFill>
            <a:srgbClr val="111827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226" name="Shape 226"/>
          <p:cNvSpPr/>
          <p:nvPr/>
        </p:nvSpPr>
        <p:spPr>
          <a:xfrm>
            <a:off x="4550000" y="3810000"/>
            <a:ext cx="201000" cy="201000"/>
          </a:xfrm>
          <a:prstGeom prst="rect">
            <a:avLst/>
          </a:prstGeom>
          <a:solidFill>
            <a:srgbClr val="CBD5E1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227" name="Shape 227"/>
          <p:cNvSpPr/>
          <p:nvPr/>
        </p:nvSpPr>
        <p:spPr>
          <a:xfrm>
            <a:off x="4760000" y="3810000"/>
            <a:ext cx="201000" cy="201000"/>
          </a:xfrm>
          <a:prstGeom prst="rect">
            <a:avLst/>
          </a:prstGeom>
          <a:solidFill>
            <a:srgbClr val="60A5FA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228" name="Shape 228"/>
          <p:cNvSpPr/>
          <p:nvPr/>
        </p:nvSpPr>
        <p:spPr>
          <a:xfrm>
            <a:off x="4970000" y="3810000"/>
            <a:ext cx="201000" cy="201000"/>
          </a:xfrm>
          <a:prstGeom prst="rect">
            <a:avLst/>
          </a:prstGeom>
          <a:solidFill>
            <a:srgbClr val="CBD5E1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229" name="Shape 229"/>
          <p:cNvSpPr/>
          <p:nvPr/>
        </p:nvSpPr>
        <p:spPr>
          <a:xfrm>
            <a:off x="5180000" y="3810000"/>
            <a:ext cx="201000" cy="201000"/>
          </a:xfrm>
          <a:prstGeom prst="rect">
            <a:avLst/>
          </a:prstGeom>
          <a:solidFill>
            <a:srgbClr val="60A5FA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230" name="Shape 230"/>
          <p:cNvSpPr/>
          <p:nvPr/>
        </p:nvSpPr>
        <p:spPr>
          <a:xfrm>
            <a:off x="5390000" y="3810000"/>
            <a:ext cx="201000" cy="201000"/>
          </a:xfrm>
          <a:prstGeom prst="rect">
            <a:avLst/>
          </a:prstGeom>
          <a:solidFill>
            <a:srgbClr val="CBD5E1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231" name="Shape 231"/>
          <p:cNvSpPr/>
          <p:nvPr/>
        </p:nvSpPr>
        <p:spPr>
          <a:xfrm>
            <a:off x="4550000" y="4020000"/>
            <a:ext cx="201000" cy="201000"/>
          </a:xfrm>
          <a:prstGeom prst="rect">
            <a:avLst/>
          </a:prstGeom>
          <a:solidFill>
            <a:srgbClr val="111827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232" name="Shape 232"/>
          <p:cNvSpPr/>
          <p:nvPr/>
        </p:nvSpPr>
        <p:spPr>
          <a:xfrm>
            <a:off x="4760000" y="4020000"/>
            <a:ext cx="201000" cy="201000"/>
          </a:xfrm>
          <a:prstGeom prst="rect">
            <a:avLst/>
          </a:prstGeom>
          <a:solidFill>
            <a:srgbClr val="CBD5E1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233" name="Shape 233"/>
          <p:cNvSpPr/>
          <p:nvPr/>
        </p:nvSpPr>
        <p:spPr>
          <a:xfrm>
            <a:off x="4970000" y="4020000"/>
            <a:ext cx="201000" cy="201000"/>
          </a:xfrm>
          <a:prstGeom prst="rect">
            <a:avLst/>
          </a:prstGeom>
          <a:solidFill>
            <a:srgbClr val="CBD5E1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234" name="Shape 234"/>
          <p:cNvSpPr/>
          <p:nvPr/>
        </p:nvSpPr>
        <p:spPr>
          <a:xfrm>
            <a:off x="5180000" y="4020000"/>
            <a:ext cx="201000" cy="201000"/>
          </a:xfrm>
          <a:prstGeom prst="rect">
            <a:avLst/>
          </a:prstGeom>
          <a:solidFill>
            <a:srgbClr val="CBD5E1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235" name="Shape 235"/>
          <p:cNvSpPr/>
          <p:nvPr/>
        </p:nvSpPr>
        <p:spPr>
          <a:xfrm>
            <a:off x="5390000" y="4020000"/>
            <a:ext cx="201000" cy="201000"/>
          </a:xfrm>
          <a:prstGeom prst="rect">
            <a:avLst/>
          </a:prstGeom>
          <a:solidFill>
            <a:srgbClr val="111827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236" name="Shape 236"/>
          <p:cNvSpPr/>
          <p:nvPr/>
        </p:nvSpPr>
        <p:spPr>
          <a:xfrm>
            <a:off x="4550000" y="4230000"/>
            <a:ext cx="201000" cy="201000"/>
          </a:xfrm>
          <a:prstGeom prst="rect">
            <a:avLst/>
          </a:prstGeom>
          <a:solidFill>
            <a:srgbClr val="CBD5E1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237" name="Shape 237"/>
          <p:cNvSpPr/>
          <p:nvPr/>
        </p:nvSpPr>
        <p:spPr>
          <a:xfrm>
            <a:off x="4760000" y="4230000"/>
            <a:ext cx="201000" cy="201000"/>
          </a:xfrm>
          <a:prstGeom prst="rect">
            <a:avLst/>
          </a:prstGeom>
          <a:solidFill>
            <a:srgbClr val="60A5FA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238" name="Shape 238"/>
          <p:cNvSpPr/>
          <p:nvPr/>
        </p:nvSpPr>
        <p:spPr>
          <a:xfrm>
            <a:off x="4970000" y="4230000"/>
            <a:ext cx="201000" cy="201000"/>
          </a:xfrm>
          <a:prstGeom prst="rect">
            <a:avLst/>
          </a:prstGeom>
          <a:solidFill>
            <a:srgbClr val="CBD5E1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239" name="Shape 239"/>
          <p:cNvSpPr/>
          <p:nvPr/>
        </p:nvSpPr>
        <p:spPr>
          <a:xfrm>
            <a:off x="5180000" y="4230000"/>
            <a:ext cx="201000" cy="201000"/>
          </a:xfrm>
          <a:prstGeom prst="rect">
            <a:avLst/>
          </a:prstGeom>
          <a:solidFill>
            <a:srgbClr val="111827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240" name="Shape 240"/>
          <p:cNvSpPr/>
          <p:nvPr/>
        </p:nvSpPr>
        <p:spPr>
          <a:xfrm>
            <a:off x="5390000" y="4230000"/>
            <a:ext cx="201000" cy="201000"/>
          </a:xfrm>
          <a:prstGeom prst="rect">
            <a:avLst/>
          </a:prstGeom>
          <a:solidFill>
            <a:srgbClr val="111827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241" name="Shape 241"/>
          <p:cNvSpPr/>
          <p:nvPr/>
        </p:nvSpPr>
        <p:spPr>
          <a:xfrm>
            <a:off x="4550000" y="4440000"/>
            <a:ext cx="201000" cy="201000"/>
          </a:xfrm>
          <a:prstGeom prst="rect">
            <a:avLst/>
          </a:prstGeom>
          <a:solidFill>
            <a:srgbClr val="111827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242" name="Shape 242"/>
          <p:cNvSpPr/>
          <p:nvPr/>
        </p:nvSpPr>
        <p:spPr>
          <a:xfrm>
            <a:off x="4760000" y="4440000"/>
            <a:ext cx="201000" cy="201000"/>
          </a:xfrm>
          <a:prstGeom prst="rect">
            <a:avLst/>
          </a:prstGeom>
          <a:solidFill>
            <a:srgbClr val="CBD5E1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243" name="Shape 243"/>
          <p:cNvSpPr/>
          <p:nvPr/>
        </p:nvSpPr>
        <p:spPr>
          <a:xfrm>
            <a:off x="4970000" y="4440000"/>
            <a:ext cx="201000" cy="201000"/>
          </a:xfrm>
          <a:prstGeom prst="rect">
            <a:avLst/>
          </a:prstGeom>
          <a:solidFill>
            <a:srgbClr val="111827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244" name="Shape 244"/>
          <p:cNvSpPr/>
          <p:nvPr/>
        </p:nvSpPr>
        <p:spPr>
          <a:xfrm>
            <a:off x="5180000" y="4440000"/>
            <a:ext cx="201000" cy="201000"/>
          </a:xfrm>
          <a:prstGeom prst="rect">
            <a:avLst/>
          </a:prstGeom>
          <a:solidFill>
            <a:srgbClr val="111827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245" name="Shape 245"/>
          <p:cNvSpPr/>
          <p:nvPr/>
        </p:nvSpPr>
        <p:spPr>
          <a:xfrm>
            <a:off x="5390000" y="4440000"/>
            <a:ext cx="201000" cy="201000"/>
          </a:xfrm>
          <a:prstGeom prst="rect">
            <a:avLst/>
          </a:prstGeom>
          <a:solidFill>
            <a:srgbClr val="111827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246" name="Text 246"/>
          <p:cNvSpPr txBox="1"/>
          <p:nvPr/>
        </p:nvSpPr>
        <p:spPr>
          <a:xfrm>
            <a:off x="4430000" y="4750000"/>
            <a:ext cx="129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zh-CN" sz="1150" b="1">
                <a:solidFill>
                  <a:srgbClr val="64748B"/>
                </a:solidFill>
              </a:rPr>
              <a:t>three-value</a:t>
            </a:r>
            <a:endParaRPr lang="zh-CN" sz="1150" b="1">
              <a:solidFill>
                <a:srgbClr val="64748B"/>
              </a:solidFill>
            </a:endParaRPr>
          </a:p>
        </p:txBody>
      </p:sp>
      <p:sp>
        <p:nvSpPr>
          <p:cNvPr id="260" name="Shape 260"/>
          <p:cNvSpPr/>
          <p:nvPr/>
        </p:nvSpPr>
        <p:spPr>
          <a:xfrm>
            <a:off x="6730000" y="3530000"/>
            <a:ext cx="1190000" cy="1190000"/>
          </a:xfrm>
          <a:prstGeom prst="roundRect">
            <a:avLst/>
          </a:prstGeom>
          <a:solidFill>
            <a:srgbClr val="FFFFFF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261" name="Shape 261"/>
          <p:cNvSpPr/>
          <p:nvPr/>
        </p:nvSpPr>
        <p:spPr>
          <a:xfrm>
            <a:off x="6800000" y="3600000"/>
            <a:ext cx="201000" cy="201000"/>
          </a:xfrm>
          <a:prstGeom prst="rect">
            <a:avLst/>
          </a:prstGeom>
          <a:solidFill>
            <a:srgbClr val="111827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262" name="Shape 262"/>
          <p:cNvSpPr/>
          <p:nvPr/>
        </p:nvSpPr>
        <p:spPr>
          <a:xfrm>
            <a:off x="7010000" y="3600000"/>
            <a:ext cx="201000" cy="201000"/>
          </a:xfrm>
          <a:prstGeom prst="rect">
            <a:avLst/>
          </a:prstGeom>
          <a:solidFill>
            <a:srgbClr val="CBD5E1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263" name="Shape 263"/>
          <p:cNvSpPr/>
          <p:nvPr/>
        </p:nvSpPr>
        <p:spPr>
          <a:xfrm>
            <a:off x="7220000" y="3600000"/>
            <a:ext cx="201000" cy="201000"/>
          </a:xfrm>
          <a:prstGeom prst="rect">
            <a:avLst/>
          </a:prstGeom>
          <a:solidFill>
            <a:srgbClr val="CBD5E1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264" name="Shape 264"/>
          <p:cNvSpPr/>
          <p:nvPr/>
        </p:nvSpPr>
        <p:spPr>
          <a:xfrm>
            <a:off x="7430000" y="3600000"/>
            <a:ext cx="201000" cy="201000"/>
          </a:xfrm>
          <a:prstGeom prst="rect">
            <a:avLst/>
          </a:prstGeom>
          <a:solidFill>
            <a:srgbClr val="CBD5E1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265" name="Shape 265"/>
          <p:cNvSpPr/>
          <p:nvPr/>
        </p:nvSpPr>
        <p:spPr>
          <a:xfrm>
            <a:off x="7640000" y="3600000"/>
            <a:ext cx="201000" cy="201000"/>
          </a:xfrm>
          <a:prstGeom prst="rect">
            <a:avLst/>
          </a:prstGeom>
          <a:solidFill>
            <a:srgbClr val="111827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266" name="Shape 266"/>
          <p:cNvSpPr/>
          <p:nvPr/>
        </p:nvSpPr>
        <p:spPr>
          <a:xfrm>
            <a:off x="6800000" y="3810000"/>
            <a:ext cx="201000" cy="201000"/>
          </a:xfrm>
          <a:prstGeom prst="rect">
            <a:avLst/>
          </a:prstGeom>
          <a:solidFill>
            <a:srgbClr val="CBD5E1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267" name="Shape 267"/>
          <p:cNvSpPr/>
          <p:nvPr/>
        </p:nvSpPr>
        <p:spPr>
          <a:xfrm>
            <a:off x="7010000" y="3810000"/>
            <a:ext cx="201000" cy="201000"/>
          </a:xfrm>
          <a:prstGeom prst="rect">
            <a:avLst/>
          </a:prstGeom>
          <a:solidFill>
            <a:srgbClr val="60A5FA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268" name="Shape 268"/>
          <p:cNvSpPr/>
          <p:nvPr/>
        </p:nvSpPr>
        <p:spPr>
          <a:xfrm>
            <a:off x="7220000" y="3810000"/>
            <a:ext cx="201000" cy="201000"/>
          </a:xfrm>
          <a:prstGeom prst="rect">
            <a:avLst/>
          </a:prstGeom>
          <a:solidFill>
            <a:srgbClr val="94A3B8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269" name="Shape 269"/>
          <p:cNvSpPr/>
          <p:nvPr/>
        </p:nvSpPr>
        <p:spPr>
          <a:xfrm>
            <a:off x="7430000" y="3810000"/>
            <a:ext cx="201000" cy="201000"/>
          </a:xfrm>
          <a:prstGeom prst="rect">
            <a:avLst/>
          </a:prstGeom>
          <a:solidFill>
            <a:srgbClr val="60A5FA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270" name="Shape 270"/>
          <p:cNvSpPr/>
          <p:nvPr/>
        </p:nvSpPr>
        <p:spPr>
          <a:xfrm>
            <a:off x="7640000" y="3810000"/>
            <a:ext cx="201000" cy="201000"/>
          </a:xfrm>
          <a:prstGeom prst="rect">
            <a:avLst/>
          </a:prstGeom>
          <a:solidFill>
            <a:srgbClr val="CBD5E1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271" name="Shape 271"/>
          <p:cNvSpPr/>
          <p:nvPr/>
        </p:nvSpPr>
        <p:spPr>
          <a:xfrm>
            <a:off x="6800000" y="4020000"/>
            <a:ext cx="201000" cy="201000"/>
          </a:xfrm>
          <a:prstGeom prst="rect">
            <a:avLst/>
          </a:prstGeom>
          <a:solidFill>
            <a:srgbClr val="CBD5E1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272" name="Shape 272"/>
          <p:cNvSpPr/>
          <p:nvPr/>
        </p:nvSpPr>
        <p:spPr>
          <a:xfrm>
            <a:off x="7010000" y="4020000"/>
            <a:ext cx="201000" cy="201000"/>
          </a:xfrm>
          <a:prstGeom prst="rect">
            <a:avLst/>
          </a:prstGeom>
          <a:solidFill>
            <a:srgbClr val="94A3B8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273" name="Shape 273"/>
          <p:cNvSpPr/>
          <p:nvPr/>
        </p:nvSpPr>
        <p:spPr>
          <a:xfrm>
            <a:off x="7220000" y="4020000"/>
            <a:ext cx="201000" cy="201000"/>
          </a:xfrm>
          <a:prstGeom prst="rect">
            <a:avLst/>
          </a:prstGeom>
          <a:solidFill>
            <a:srgbClr val="94A3B8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274" name="Shape 274"/>
          <p:cNvSpPr/>
          <p:nvPr/>
        </p:nvSpPr>
        <p:spPr>
          <a:xfrm>
            <a:off x="7430000" y="4020000"/>
            <a:ext cx="201000" cy="201000"/>
          </a:xfrm>
          <a:prstGeom prst="rect">
            <a:avLst/>
          </a:prstGeom>
          <a:solidFill>
            <a:srgbClr val="CBD5E1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275" name="Shape 275"/>
          <p:cNvSpPr/>
          <p:nvPr/>
        </p:nvSpPr>
        <p:spPr>
          <a:xfrm>
            <a:off x="7640000" y="4020000"/>
            <a:ext cx="201000" cy="201000"/>
          </a:xfrm>
          <a:prstGeom prst="rect">
            <a:avLst/>
          </a:prstGeom>
          <a:solidFill>
            <a:srgbClr val="111827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276" name="Shape 276"/>
          <p:cNvSpPr/>
          <p:nvPr/>
        </p:nvSpPr>
        <p:spPr>
          <a:xfrm>
            <a:off x="6800000" y="4230000"/>
            <a:ext cx="201000" cy="201000"/>
          </a:xfrm>
          <a:prstGeom prst="rect">
            <a:avLst/>
          </a:prstGeom>
          <a:solidFill>
            <a:srgbClr val="CBD5E1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277" name="Shape 277"/>
          <p:cNvSpPr/>
          <p:nvPr/>
        </p:nvSpPr>
        <p:spPr>
          <a:xfrm>
            <a:off x="7010000" y="4230000"/>
            <a:ext cx="201000" cy="201000"/>
          </a:xfrm>
          <a:prstGeom prst="rect">
            <a:avLst/>
          </a:prstGeom>
          <a:solidFill>
            <a:srgbClr val="DBEAFE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278" name="Shape 278"/>
          <p:cNvSpPr/>
          <p:nvPr/>
        </p:nvSpPr>
        <p:spPr>
          <a:xfrm>
            <a:off x="7220000" y="4230000"/>
            <a:ext cx="201000" cy="201000"/>
          </a:xfrm>
          <a:prstGeom prst="rect">
            <a:avLst/>
          </a:prstGeom>
          <a:solidFill>
            <a:srgbClr val="94A3B8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279" name="Shape 279"/>
          <p:cNvSpPr/>
          <p:nvPr/>
        </p:nvSpPr>
        <p:spPr>
          <a:xfrm>
            <a:off x="7430000" y="4230000"/>
            <a:ext cx="201000" cy="201000"/>
          </a:xfrm>
          <a:prstGeom prst="rect">
            <a:avLst/>
          </a:prstGeom>
          <a:solidFill>
            <a:srgbClr val="CBD5E1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280" name="Shape 280"/>
          <p:cNvSpPr/>
          <p:nvPr/>
        </p:nvSpPr>
        <p:spPr>
          <a:xfrm>
            <a:off x="7640000" y="4230000"/>
            <a:ext cx="201000" cy="201000"/>
          </a:xfrm>
          <a:prstGeom prst="rect">
            <a:avLst/>
          </a:prstGeom>
          <a:solidFill>
            <a:srgbClr val="111827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281" name="Shape 281"/>
          <p:cNvSpPr/>
          <p:nvPr/>
        </p:nvSpPr>
        <p:spPr>
          <a:xfrm>
            <a:off x="6800000" y="4440000"/>
            <a:ext cx="201000" cy="201000"/>
          </a:xfrm>
          <a:prstGeom prst="rect">
            <a:avLst/>
          </a:prstGeom>
          <a:solidFill>
            <a:srgbClr val="111827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282" name="Shape 282"/>
          <p:cNvSpPr/>
          <p:nvPr/>
        </p:nvSpPr>
        <p:spPr>
          <a:xfrm>
            <a:off x="7010000" y="4440000"/>
            <a:ext cx="201000" cy="201000"/>
          </a:xfrm>
          <a:prstGeom prst="rect">
            <a:avLst/>
          </a:prstGeom>
          <a:solidFill>
            <a:srgbClr val="CBD5E1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283" name="Shape 283"/>
          <p:cNvSpPr/>
          <p:nvPr/>
        </p:nvSpPr>
        <p:spPr>
          <a:xfrm>
            <a:off x="7220000" y="4440000"/>
            <a:ext cx="201000" cy="201000"/>
          </a:xfrm>
          <a:prstGeom prst="rect">
            <a:avLst/>
          </a:prstGeom>
          <a:solidFill>
            <a:srgbClr val="CBD5E1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284" name="Shape 284"/>
          <p:cNvSpPr/>
          <p:nvPr/>
        </p:nvSpPr>
        <p:spPr>
          <a:xfrm>
            <a:off x="7430000" y="4440000"/>
            <a:ext cx="201000" cy="201000"/>
          </a:xfrm>
          <a:prstGeom prst="rect">
            <a:avLst/>
          </a:prstGeom>
          <a:solidFill>
            <a:srgbClr val="111827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285" name="Shape 285"/>
          <p:cNvSpPr/>
          <p:nvPr/>
        </p:nvSpPr>
        <p:spPr>
          <a:xfrm>
            <a:off x="7640000" y="4440000"/>
            <a:ext cx="201000" cy="201000"/>
          </a:xfrm>
          <a:prstGeom prst="rect">
            <a:avLst/>
          </a:prstGeom>
          <a:solidFill>
            <a:srgbClr val="111827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286" name="Text 286"/>
          <p:cNvSpPr txBox="1"/>
          <p:nvPr/>
        </p:nvSpPr>
        <p:spPr>
          <a:xfrm>
            <a:off x="6680000" y="4750000"/>
            <a:ext cx="129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zh-CN" sz="1150" b="1">
                <a:solidFill>
                  <a:srgbClr val="64748B"/>
                </a:solidFill>
              </a:rPr>
              <a:t>soft</a:t>
            </a:r>
            <a:endParaRPr lang="zh-CN" sz="1150" b="1">
              <a:solidFill>
                <a:srgbClr val="64748B"/>
              </a:solidFill>
            </a:endParaRPr>
          </a:p>
        </p:txBody>
      </p:sp>
      <p:sp>
        <p:nvSpPr>
          <p:cNvPr id="300" name="Shape 300"/>
          <p:cNvSpPr/>
          <p:nvPr/>
        </p:nvSpPr>
        <p:spPr>
          <a:xfrm>
            <a:off x="8980000" y="3530000"/>
            <a:ext cx="1190000" cy="1190000"/>
          </a:xfrm>
          <a:prstGeom prst="roundRect">
            <a:avLst/>
          </a:prstGeom>
          <a:solidFill>
            <a:srgbClr val="FFFFFF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301" name="Shape 301"/>
          <p:cNvSpPr/>
          <p:nvPr/>
        </p:nvSpPr>
        <p:spPr>
          <a:xfrm>
            <a:off x="9050000" y="3600000"/>
            <a:ext cx="201000" cy="201000"/>
          </a:xfrm>
          <a:prstGeom prst="rect">
            <a:avLst/>
          </a:prstGeom>
          <a:solidFill>
            <a:srgbClr val="111827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302" name="Shape 302"/>
          <p:cNvSpPr/>
          <p:nvPr/>
        </p:nvSpPr>
        <p:spPr>
          <a:xfrm>
            <a:off x="9260000" y="3600000"/>
            <a:ext cx="201000" cy="201000"/>
          </a:xfrm>
          <a:prstGeom prst="rect">
            <a:avLst/>
          </a:prstGeom>
          <a:solidFill>
            <a:srgbClr val="CBD5E1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303" name="Shape 303"/>
          <p:cNvSpPr/>
          <p:nvPr/>
        </p:nvSpPr>
        <p:spPr>
          <a:xfrm>
            <a:off x="9470000" y="3600000"/>
            <a:ext cx="201000" cy="201000"/>
          </a:xfrm>
          <a:prstGeom prst="rect">
            <a:avLst/>
          </a:prstGeom>
          <a:solidFill>
            <a:srgbClr val="CBD5E1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304" name="Shape 304"/>
          <p:cNvSpPr/>
          <p:nvPr/>
        </p:nvSpPr>
        <p:spPr>
          <a:xfrm>
            <a:off x="9680000" y="3600000"/>
            <a:ext cx="201000" cy="201000"/>
          </a:xfrm>
          <a:prstGeom prst="rect">
            <a:avLst/>
          </a:prstGeom>
          <a:solidFill>
            <a:srgbClr val="94A3B8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305" name="Shape 305"/>
          <p:cNvSpPr/>
          <p:nvPr/>
        </p:nvSpPr>
        <p:spPr>
          <a:xfrm>
            <a:off x="9890000" y="3600000"/>
            <a:ext cx="201000" cy="201000"/>
          </a:xfrm>
          <a:prstGeom prst="rect">
            <a:avLst/>
          </a:prstGeom>
          <a:solidFill>
            <a:srgbClr val="CBD5E1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306" name="Shape 306"/>
          <p:cNvSpPr/>
          <p:nvPr/>
        </p:nvSpPr>
        <p:spPr>
          <a:xfrm>
            <a:off x="9050000" y="3810000"/>
            <a:ext cx="201000" cy="201000"/>
          </a:xfrm>
          <a:prstGeom prst="rect">
            <a:avLst/>
          </a:prstGeom>
          <a:solidFill>
            <a:srgbClr val="CBD5E1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307" name="Shape 307"/>
          <p:cNvSpPr/>
          <p:nvPr/>
        </p:nvSpPr>
        <p:spPr>
          <a:xfrm>
            <a:off x="9260000" y="3810000"/>
            <a:ext cx="201000" cy="201000"/>
          </a:xfrm>
          <a:prstGeom prst="rect">
            <a:avLst/>
          </a:prstGeom>
          <a:solidFill>
            <a:srgbClr val="60A5FA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308" name="Shape 308"/>
          <p:cNvSpPr/>
          <p:nvPr/>
        </p:nvSpPr>
        <p:spPr>
          <a:xfrm>
            <a:off x="9470000" y="3810000"/>
            <a:ext cx="201000" cy="201000"/>
          </a:xfrm>
          <a:prstGeom prst="rect">
            <a:avLst/>
          </a:prstGeom>
          <a:solidFill>
            <a:srgbClr val="94A3B8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309" name="Shape 309"/>
          <p:cNvSpPr/>
          <p:nvPr/>
        </p:nvSpPr>
        <p:spPr>
          <a:xfrm>
            <a:off x="9680000" y="3810000"/>
            <a:ext cx="201000" cy="201000"/>
          </a:xfrm>
          <a:prstGeom prst="rect">
            <a:avLst/>
          </a:prstGeom>
          <a:solidFill>
            <a:srgbClr val="DBEAFE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310" name="Shape 310"/>
          <p:cNvSpPr/>
          <p:nvPr/>
        </p:nvSpPr>
        <p:spPr>
          <a:xfrm>
            <a:off x="9890000" y="3810000"/>
            <a:ext cx="201000" cy="201000"/>
          </a:xfrm>
          <a:prstGeom prst="rect">
            <a:avLst/>
          </a:prstGeom>
          <a:solidFill>
            <a:srgbClr val="CBD5E1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311" name="Shape 311"/>
          <p:cNvSpPr/>
          <p:nvPr/>
        </p:nvSpPr>
        <p:spPr>
          <a:xfrm>
            <a:off x="9050000" y="4020000"/>
            <a:ext cx="201000" cy="201000"/>
          </a:xfrm>
          <a:prstGeom prst="rect">
            <a:avLst/>
          </a:prstGeom>
          <a:solidFill>
            <a:srgbClr val="CBD5E1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312" name="Shape 312"/>
          <p:cNvSpPr/>
          <p:nvPr/>
        </p:nvSpPr>
        <p:spPr>
          <a:xfrm>
            <a:off x="9260000" y="4020000"/>
            <a:ext cx="201000" cy="201000"/>
          </a:xfrm>
          <a:prstGeom prst="rect">
            <a:avLst/>
          </a:prstGeom>
          <a:solidFill>
            <a:srgbClr val="94A3B8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313" name="Shape 313"/>
          <p:cNvSpPr/>
          <p:nvPr/>
        </p:nvSpPr>
        <p:spPr>
          <a:xfrm>
            <a:off x="9470000" y="4020000"/>
            <a:ext cx="201000" cy="201000"/>
          </a:xfrm>
          <a:prstGeom prst="rect">
            <a:avLst/>
          </a:prstGeom>
          <a:solidFill>
            <a:srgbClr val="94A3B8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314" name="Shape 314"/>
          <p:cNvSpPr/>
          <p:nvPr/>
        </p:nvSpPr>
        <p:spPr>
          <a:xfrm>
            <a:off x="9680000" y="4020000"/>
            <a:ext cx="201000" cy="201000"/>
          </a:xfrm>
          <a:prstGeom prst="rect">
            <a:avLst/>
          </a:prstGeom>
          <a:solidFill>
            <a:srgbClr val="94A3B8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315" name="Shape 315"/>
          <p:cNvSpPr/>
          <p:nvPr/>
        </p:nvSpPr>
        <p:spPr>
          <a:xfrm>
            <a:off x="9890000" y="4020000"/>
            <a:ext cx="201000" cy="201000"/>
          </a:xfrm>
          <a:prstGeom prst="rect">
            <a:avLst/>
          </a:prstGeom>
          <a:solidFill>
            <a:srgbClr val="CBD5E1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316" name="Shape 316"/>
          <p:cNvSpPr/>
          <p:nvPr/>
        </p:nvSpPr>
        <p:spPr>
          <a:xfrm>
            <a:off x="9050000" y="4230000"/>
            <a:ext cx="201000" cy="201000"/>
          </a:xfrm>
          <a:prstGeom prst="rect">
            <a:avLst/>
          </a:prstGeom>
          <a:solidFill>
            <a:srgbClr val="94A3B8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317" name="Shape 317"/>
          <p:cNvSpPr/>
          <p:nvPr/>
        </p:nvSpPr>
        <p:spPr>
          <a:xfrm>
            <a:off x="9260000" y="4230000"/>
            <a:ext cx="201000" cy="201000"/>
          </a:xfrm>
          <a:prstGeom prst="rect">
            <a:avLst/>
          </a:prstGeom>
          <a:solidFill>
            <a:srgbClr val="DBEAFE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318" name="Shape 318"/>
          <p:cNvSpPr/>
          <p:nvPr/>
        </p:nvSpPr>
        <p:spPr>
          <a:xfrm>
            <a:off x="9470000" y="4230000"/>
            <a:ext cx="201000" cy="201000"/>
          </a:xfrm>
          <a:prstGeom prst="rect">
            <a:avLst/>
          </a:prstGeom>
          <a:solidFill>
            <a:srgbClr val="94A3B8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319" name="Shape 319"/>
          <p:cNvSpPr/>
          <p:nvPr/>
        </p:nvSpPr>
        <p:spPr>
          <a:xfrm>
            <a:off x="9680000" y="4230000"/>
            <a:ext cx="201000" cy="201000"/>
          </a:xfrm>
          <a:prstGeom prst="rect">
            <a:avLst/>
          </a:prstGeom>
          <a:solidFill>
            <a:srgbClr val="CBD5E1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320" name="Shape 320"/>
          <p:cNvSpPr/>
          <p:nvPr/>
        </p:nvSpPr>
        <p:spPr>
          <a:xfrm>
            <a:off x="9890000" y="4230000"/>
            <a:ext cx="201000" cy="201000"/>
          </a:xfrm>
          <a:prstGeom prst="rect">
            <a:avLst/>
          </a:prstGeom>
          <a:solidFill>
            <a:srgbClr val="111827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321" name="Shape 321"/>
          <p:cNvSpPr/>
          <p:nvPr/>
        </p:nvSpPr>
        <p:spPr>
          <a:xfrm>
            <a:off x="9050000" y="4440000"/>
            <a:ext cx="201000" cy="201000"/>
          </a:xfrm>
          <a:prstGeom prst="rect">
            <a:avLst/>
          </a:prstGeom>
          <a:solidFill>
            <a:srgbClr val="CBD5E1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322" name="Shape 322"/>
          <p:cNvSpPr/>
          <p:nvPr/>
        </p:nvSpPr>
        <p:spPr>
          <a:xfrm>
            <a:off x="9260000" y="4440000"/>
            <a:ext cx="201000" cy="201000"/>
          </a:xfrm>
          <a:prstGeom prst="rect">
            <a:avLst/>
          </a:prstGeom>
          <a:solidFill>
            <a:srgbClr val="94A3B8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323" name="Shape 323"/>
          <p:cNvSpPr/>
          <p:nvPr/>
        </p:nvSpPr>
        <p:spPr>
          <a:xfrm>
            <a:off x="9470000" y="4440000"/>
            <a:ext cx="201000" cy="201000"/>
          </a:xfrm>
          <a:prstGeom prst="rect">
            <a:avLst/>
          </a:prstGeom>
          <a:solidFill>
            <a:srgbClr val="CBD5E1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324" name="Shape 324"/>
          <p:cNvSpPr/>
          <p:nvPr/>
        </p:nvSpPr>
        <p:spPr>
          <a:xfrm>
            <a:off x="9680000" y="4440000"/>
            <a:ext cx="201000" cy="201000"/>
          </a:xfrm>
          <a:prstGeom prst="rect">
            <a:avLst/>
          </a:prstGeom>
          <a:solidFill>
            <a:srgbClr val="111827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325" name="Shape 325"/>
          <p:cNvSpPr/>
          <p:nvPr/>
        </p:nvSpPr>
        <p:spPr>
          <a:xfrm>
            <a:off x="9890000" y="4440000"/>
            <a:ext cx="201000" cy="201000"/>
          </a:xfrm>
          <a:prstGeom prst="rect">
            <a:avLst/>
          </a:prstGeom>
          <a:solidFill>
            <a:srgbClr val="111827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326" name="Text 326"/>
          <p:cNvSpPr txBox="1"/>
          <p:nvPr/>
        </p:nvSpPr>
        <p:spPr>
          <a:xfrm>
            <a:off x="8930000" y="4750000"/>
            <a:ext cx="129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zh-CN" sz="1150" b="1">
                <a:solidFill>
                  <a:srgbClr val="64748B"/>
                </a:solidFill>
              </a:rPr>
              <a:t>mountain</a:t>
            </a:r>
            <a:endParaRPr lang="zh-CN" sz="1150" b="1">
              <a:solidFill>
                <a:srgbClr val="64748B"/>
              </a:solidFill>
            </a:endParaRPr>
          </a:p>
        </p:txBody>
      </p:sp>
      <p:sp>
        <p:nvSpPr>
          <p:cNvPr id="380" name="Shape 380"/>
          <p:cNvSpPr/>
          <p:nvPr/>
        </p:nvSpPr>
        <p:spPr>
          <a:xfrm>
            <a:off x="4550000" y="5540000"/>
            <a:ext cx="6800000" cy="460000"/>
          </a:xfrm>
          <a:prstGeom prst="roundRect">
            <a:avLst/>
          </a:prstGeom>
          <a:solidFill>
            <a:srgbClr val="DBEAFE"/>
          </a:solidFill>
          <a:ln w="14000">
            <a:solidFill>
              <a:srgbClr val="2563EB"/>
            </a:solidFill>
          </a:ln>
        </p:spPr>
        <p:txBody>
          <a:bodyPr wrap="square" lIns="90000" rIns="90000" anchor="ctr"/>
          <a:lstStyle/>
          <a:p>
            <a:pPr algn="ctr"/>
            <a:r>
              <a:rPr lang="zh-CN" sz="1300" b="1">
                <a:solidFill>
                  <a:srgbClr val="111827"/>
                </a:solidFill>
              </a:rPr>
              <a:t>示意颜色：黑=背景/无质量，灰=弱证据，亮色=高缺陷质量；实际数值仍由 numpy map 保存。</a:t>
            </a:r>
            <a:endParaRPr lang="zh-CN" sz="1300" b="1">
              <a:solidFill>
                <a:srgbClr val="111827"/>
              </a:solidFill>
            </a:endParaRPr>
          </a:p>
        </p:txBody>
      </p:sp>
      <p:sp>
        <p:nvSpPr>
          <p:cNvPr id="9906" name="Text 9906"/>
          <p:cNvSpPr txBox="1"/>
          <p:nvPr/>
        </p:nvSpPr>
        <p:spPr>
          <a:xfrm>
            <a:off x="620000" y="6460000"/>
            <a:ext cx="60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1050">
                <a:solidFill>
                  <a:srgbClr val="94A3B8"/>
                </a:solidFill>
              </a:rPr>
              <a:t>WBM-WDM Matching Method | match 模块</a:t>
            </a:r>
            <a:endParaRPr lang="zh-CN" sz="1050">
              <a:solidFill>
                <a:srgbClr val="94A3B8"/>
              </a:solidFill>
            </a:endParaRPr>
          </a:p>
        </p:txBody>
      </p:sp>
      <p:sp>
        <p:nvSpPr>
          <p:cNvPr id="5" name="圆角矩形 4"/>
          <p:cNvSpPr/>
          <p:nvPr/>
        </p:nvSpPr>
        <p:spPr>
          <a:xfrm>
            <a:off x="6528435" y="3357245"/>
            <a:ext cx="3888105" cy="1727835"/>
          </a:xfrm>
          <a:prstGeom prst="roundRect">
            <a:avLst/>
          </a:prstGeom>
          <a:ln>
            <a:solidFill>
              <a:srgbClr val="7030A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14000">
            <a:solidFill>
              <a:srgbClr val="F8FAFC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3" name="Text 2"/>
          <p:cNvSpPr txBox="1"/>
          <p:nvPr/>
        </p:nvSpPr>
        <p:spPr>
          <a:xfrm>
            <a:off x="620000" y="300000"/>
            <a:ext cx="9200000" cy="5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altLang="zh-CN" sz="3000" b="1">
                <a:solidFill>
                  <a:srgbClr val="111827"/>
                </a:solidFill>
              </a:rPr>
              <a:t>4</a:t>
            </a:r>
            <a:r>
              <a:rPr lang="zh-CN" sz="3000" b="1">
                <a:solidFill>
                  <a:srgbClr val="111827"/>
                </a:solidFill>
              </a:rPr>
              <a:t>. Representation 选择建议</a:t>
            </a:r>
            <a:endParaRPr lang="zh-CN" sz="3000" b="1">
              <a:solidFill>
                <a:srgbClr val="111827"/>
              </a:solidFill>
            </a:endParaRPr>
          </a:p>
        </p:txBody>
      </p:sp>
      <p:sp>
        <p:nvSpPr>
          <p:cNvPr id="4" name="Text 3"/>
          <p:cNvSpPr txBox="1"/>
          <p:nvPr/>
        </p:nvSpPr>
        <p:spPr>
          <a:xfrm>
            <a:off x="640000" y="830000"/>
            <a:ext cx="98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1400">
                <a:solidFill>
                  <a:srgbClr val="64748B"/>
                </a:solidFill>
              </a:rPr>
              <a:t>选择表达时要明确希望匹配的是点存在、缺陷强度，还是空间扩散后的形状。</a:t>
            </a:r>
            <a:endParaRPr lang="zh-CN" sz="1400">
              <a:solidFill>
                <a:srgbClr val="64748B"/>
              </a:solidFill>
            </a:endParaRPr>
          </a:p>
        </p:txBody>
      </p:sp>
      <p:sp>
        <p:nvSpPr>
          <p:cNvPr id="10" name="Shape 10"/>
          <p:cNvSpPr/>
          <p:nvPr/>
        </p:nvSpPr>
        <p:spPr>
          <a:xfrm>
            <a:off x="900000" y="1380000"/>
            <a:ext cx="10400000" cy="430000"/>
          </a:xfrm>
          <a:prstGeom prst="roundRect">
            <a:avLst/>
          </a:prstGeom>
          <a:solidFill>
            <a:srgbClr val="DBEAFE"/>
          </a:solidFill>
          <a:ln w="14000">
            <a:solidFill>
              <a:srgbClr val="2563EB"/>
            </a:solidFill>
          </a:ln>
        </p:spPr>
        <p:txBody>
          <a:bodyPr wrap="square" lIns="90000" rIns="90000" anchor="ctr"/>
          <a:lstStyle/>
          <a:p>
            <a:pPr algn="ctr"/>
            <a:r>
              <a:rPr lang="zh-CN" sz="1450" b="1">
                <a:solidFill>
                  <a:srgbClr val="111827"/>
                </a:solidFill>
              </a:rPr>
              <a:t>表达        语义重点                         使用倾向</a:t>
            </a:r>
            <a:endParaRPr lang="zh-CN" sz="1450" b="1">
              <a:solidFill>
                <a:srgbClr val="111827"/>
              </a:solidFill>
            </a:endParaRPr>
          </a:p>
        </p:txBody>
      </p:sp>
      <p:sp>
        <p:nvSpPr>
          <p:cNvPr id="20" name="Shape 20"/>
          <p:cNvSpPr/>
          <p:nvPr/>
        </p:nvSpPr>
        <p:spPr>
          <a:xfrm>
            <a:off x="900000" y="1980000"/>
            <a:ext cx="2200000" cy="430000"/>
          </a:xfrm>
          <a:prstGeom prst="roundRect">
            <a:avLst/>
          </a:prstGeom>
          <a:solidFill>
            <a:srgbClr val="FFFFFF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>
            <a:pPr algn="ctr"/>
            <a:r>
              <a:rPr lang="zh-CN" sz="1350" b="1">
                <a:solidFill>
                  <a:srgbClr val="111827"/>
                </a:solidFill>
              </a:rPr>
              <a:t>binary</a:t>
            </a:r>
            <a:endParaRPr lang="zh-CN" sz="1350" b="1">
              <a:solidFill>
                <a:srgbClr val="111827"/>
              </a:solidFill>
            </a:endParaRPr>
          </a:p>
        </p:txBody>
      </p:sp>
      <p:sp>
        <p:nvSpPr>
          <p:cNvPr id="40" name="Shape 40"/>
          <p:cNvSpPr/>
          <p:nvPr/>
        </p:nvSpPr>
        <p:spPr>
          <a:xfrm>
            <a:off x="3150000" y="1980000"/>
            <a:ext cx="3450000" cy="430000"/>
          </a:xfrm>
          <a:prstGeom prst="roundRect">
            <a:avLst/>
          </a:prstGeom>
          <a:solidFill>
            <a:srgbClr val="FFFFFF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>
            <a:pPr algn="ctr"/>
            <a:r>
              <a:rPr lang="zh-CN" sz="1300">
                <a:solidFill>
                  <a:srgbClr val="111827"/>
                </a:solidFill>
              </a:rPr>
              <a:t>是否有缺陷</a:t>
            </a:r>
            <a:endParaRPr lang="zh-CN" sz="1300">
              <a:solidFill>
                <a:srgbClr val="111827"/>
              </a:solidFill>
            </a:endParaRPr>
          </a:p>
        </p:txBody>
      </p:sp>
      <p:sp>
        <p:nvSpPr>
          <p:cNvPr id="60" name="Shape 60"/>
          <p:cNvSpPr/>
          <p:nvPr/>
        </p:nvSpPr>
        <p:spPr>
          <a:xfrm>
            <a:off x="6600000" y="1980000"/>
            <a:ext cx="4700000" cy="430000"/>
          </a:xfrm>
          <a:prstGeom prst="roundRect">
            <a:avLst/>
          </a:prstGeom>
          <a:solidFill>
            <a:srgbClr val="FFFFFF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>
            <a:pPr algn="ctr"/>
            <a:r>
              <a:rPr lang="zh-CN" sz="1300">
                <a:solidFill>
                  <a:srgbClr val="111827"/>
                </a:solidFill>
              </a:rPr>
              <a:t>最稳健，丢失强度信息</a:t>
            </a:r>
            <a:endParaRPr lang="zh-CN" sz="1300">
              <a:solidFill>
                <a:srgbClr val="111827"/>
              </a:solidFill>
            </a:endParaRPr>
          </a:p>
        </p:txBody>
      </p:sp>
      <p:sp>
        <p:nvSpPr>
          <p:cNvPr id="21" name="Shape 21"/>
          <p:cNvSpPr/>
          <p:nvPr/>
        </p:nvSpPr>
        <p:spPr>
          <a:xfrm>
            <a:off x="900000" y="2540000"/>
            <a:ext cx="2200000" cy="430000"/>
          </a:xfrm>
          <a:prstGeom prst="roundRect">
            <a:avLst/>
          </a:prstGeom>
          <a:solidFill>
            <a:srgbClr val="F1F5F9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>
            <a:pPr algn="ctr"/>
            <a:r>
              <a:rPr lang="zh-CN" sz="1350" b="1">
                <a:solidFill>
                  <a:srgbClr val="111827"/>
                </a:solidFill>
              </a:rPr>
              <a:t>count</a:t>
            </a:r>
            <a:endParaRPr lang="zh-CN" sz="1350" b="1">
              <a:solidFill>
                <a:srgbClr val="111827"/>
              </a:solidFill>
            </a:endParaRPr>
          </a:p>
        </p:txBody>
      </p:sp>
      <p:sp>
        <p:nvSpPr>
          <p:cNvPr id="41" name="Shape 41"/>
          <p:cNvSpPr/>
          <p:nvPr/>
        </p:nvSpPr>
        <p:spPr>
          <a:xfrm>
            <a:off x="3150000" y="2540000"/>
            <a:ext cx="3450000" cy="430000"/>
          </a:xfrm>
          <a:prstGeom prst="roundRect">
            <a:avLst/>
          </a:prstGeom>
          <a:solidFill>
            <a:srgbClr val="F1F5F9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>
            <a:pPr algn="ctr"/>
            <a:r>
              <a:rPr lang="zh-CN" sz="1300">
                <a:solidFill>
                  <a:srgbClr val="111827"/>
                </a:solidFill>
              </a:rPr>
              <a:t>缺陷数量强度</a:t>
            </a:r>
            <a:endParaRPr lang="zh-CN" sz="1300">
              <a:solidFill>
                <a:srgbClr val="111827"/>
              </a:solidFill>
            </a:endParaRPr>
          </a:p>
        </p:txBody>
      </p:sp>
      <p:sp>
        <p:nvSpPr>
          <p:cNvPr id="61" name="Shape 61"/>
          <p:cNvSpPr/>
          <p:nvPr/>
        </p:nvSpPr>
        <p:spPr>
          <a:xfrm>
            <a:off x="6600000" y="2540000"/>
            <a:ext cx="4700000" cy="430000"/>
          </a:xfrm>
          <a:prstGeom prst="roundRect">
            <a:avLst/>
          </a:prstGeom>
          <a:solidFill>
            <a:srgbClr val="F1F5F9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>
            <a:pPr algn="ctr"/>
            <a:r>
              <a:rPr lang="zh-CN" sz="1300">
                <a:solidFill>
                  <a:srgbClr val="111827"/>
                </a:solidFill>
              </a:rPr>
              <a:t>适合原始数量可信的场景</a:t>
            </a:r>
            <a:endParaRPr lang="zh-CN" sz="1300">
              <a:solidFill>
                <a:srgbClr val="111827"/>
              </a:solidFill>
            </a:endParaRPr>
          </a:p>
        </p:txBody>
      </p:sp>
      <p:sp>
        <p:nvSpPr>
          <p:cNvPr id="22" name="Shape 22"/>
          <p:cNvSpPr/>
          <p:nvPr/>
        </p:nvSpPr>
        <p:spPr>
          <a:xfrm>
            <a:off x="900000" y="3100000"/>
            <a:ext cx="2200000" cy="430000"/>
          </a:xfrm>
          <a:prstGeom prst="roundRect">
            <a:avLst/>
          </a:prstGeom>
          <a:solidFill>
            <a:srgbClr val="FFFFFF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>
            <a:pPr algn="ctr"/>
            <a:r>
              <a:rPr lang="zh-CN" sz="1350" b="1">
                <a:solidFill>
                  <a:srgbClr val="111827"/>
                </a:solidFill>
              </a:rPr>
              <a:t>density</a:t>
            </a:r>
            <a:endParaRPr lang="zh-CN" sz="1350" b="1">
              <a:solidFill>
                <a:srgbClr val="111827"/>
              </a:solidFill>
            </a:endParaRPr>
          </a:p>
        </p:txBody>
      </p:sp>
      <p:sp>
        <p:nvSpPr>
          <p:cNvPr id="42" name="Shape 42"/>
          <p:cNvSpPr/>
          <p:nvPr/>
        </p:nvSpPr>
        <p:spPr>
          <a:xfrm>
            <a:off x="3150000" y="3100000"/>
            <a:ext cx="3450000" cy="430000"/>
          </a:xfrm>
          <a:prstGeom prst="roundRect">
            <a:avLst/>
          </a:prstGeom>
          <a:solidFill>
            <a:srgbClr val="FFFFFF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>
            <a:pPr algn="ctr"/>
            <a:r>
              <a:rPr lang="zh-CN" sz="1300">
                <a:solidFill>
                  <a:srgbClr val="111827"/>
                </a:solidFill>
              </a:rPr>
              <a:t>归一化分布</a:t>
            </a:r>
            <a:endParaRPr lang="zh-CN" sz="1300">
              <a:solidFill>
                <a:srgbClr val="111827"/>
              </a:solidFill>
            </a:endParaRPr>
          </a:p>
        </p:txBody>
      </p:sp>
      <p:sp>
        <p:nvSpPr>
          <p:cNvPr id="62" name="Shape 62"/>
          <p:cNvSpPr/>
          <p:nvPr/>
        </p:nvSpPr>
        <p:spPr>
          <a:xfrm>
            <a:off x="6600000" y="3100000"/>
            <a:ext cx="4700000" cy="430000"/>
          </a:xfrm>
          <a:prstGeom prst="roundRect">
            <a:avLst/>
          </a:prstGeom>
          <a:solidFill>
            <a:srgbClr val="FFFFFF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>
            <a:pPr algn="ctr"/>
            <a:r>
              <a:rPr lang="zh-CN" sz="1300">
                <a:solidFill>
                  <a:srgbClr val="111827"/>
                </a:solidFill>
              </a:rPr>
              <a:t>适合比较整体空间质量分布</a:t>
            </a:r>
            <a:endParaRPr lang="zh-CN" sz="1300">
              <a:solidFill>
                <a:srgbClr val="111827"/>
              </a:solidFill>
            </a:endParaRPr>
          </a:p>
        </p:txBody>
      </p:sp>
      <p:sp>
        <p:nvSpPr>
          <p:cNvPr id="23" name="Shape 23"/>
          <p:cNvSpPr/>
          <p:nvPr/>
        </p:nvSpPr>
        <p:spPr>
          <a:xfrm>
            <a:off x="900000" y="3660000"/>
            <a:ext cx="2200000" cy="430000"/>
          </a:xfrm>
          <a:prstGeom prst="roundRect">
            <a:avLst/>
          </a:prstGeom>
          <a:solidFill>
            <a:srgbClr val="F1F5F9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>
            <a:pPr algn="ctr"/>
            <a:r>
              <a:rPr lang="zh-CN" sz="1350" b="1">
                <a:solidFill>
                  <a:srgbClr val="111827"/>
                </a:solidFill>
              </a:rPr>
              <a:t>soft</a:t>
            </a:r>
            <a:endParaRPr lang="zh-CN" sz="1350" b="1">
              <a:solidFill>
                <a:srgbClr val="111827"/>
              </a:solidFill>
            </a:endParaRPr>
          </a:p>
        </p:txBody>
      </p:sp>
      <p:sp>
        <p:nvSpPr>
          <p:cNvPr id="43" name="Shape 43"/>
          <p:cNvSpPr/>
          <p:nvPr/>
        </p:nvSpPr>
        <p:spPr>
          <a:xfrm>
            <a:off x="3150000" y="3660000"/>
            <a:ext cx="3450000" cy="430000"/>
          </a:xfrm>
          <a:prstGeom prst="roundRect">
            <a:avLst/>
          </a:prstGeom>
          <a:solidFill>
            <a:srgbClr val="F1F5F9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>
            <a:pPr algn="ctr"/>
            <a:r>
              <a:rPr lang="zh-CN" sz="1300">
                <a:solidFill>
                  <a:srgbClr val="111827"/>
                </a:solidFill>
              </a:rPr>
              <a:t>平滑密度</a:t>
            </a:r>
            <a:endParaRPr lang="zh-CN" sz="1300">
              <a:solidFill>
                <a:srgbClr val="111827"/>
              </a:solidFill>
            </a:endParaRPr>
          </a:p>
        </p:txBody>
      </p:sp>
      <p:sp>
        <p:nvSpPr>
          <p:cNvPr id="63" name="Shape 63"/>
          <p:cNvSpPr/>
          <p:nvPr/>
        </p:nvSpPr>
        <p:spPr>
          <a:xfrm>
            <a:off x="6600000" y="3660000"/>
            <a:ext cx="4700000" cy="430000"/>
          </a:xfrm>
          <a:prstGeom prst="roundRect">
            <a:avLst/>
          </a:prstGeom>
          <a:solidFill>
            <a:srgbClr val="F1F5F9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>
            <a:pPr algn="ctr"/>
            <a:r>
              <a:rPr lang="zh-CN" sz="1300">
                <a:solidFill>
                  <a:srgbClr val="111827"/>
                </a:solidFill>
              </a:rPr>
              <a:t>对轻微错位更宽容</a:t>
            </a:r>
            <a:endParaRPr lang="zh-CN" sz="1300">
              <a:solidFill>
                <a:srgbClr val="111827"/>
              </a:solidFill>
            </a:endParaRPr>
          </a:p>
        </p:txBody>
      </p:sp>
      <p:sp>
        <p:nvSpPr>
          <p:cNvPr id="24" name="Shape 24"/>
          <p:cNvSpPr/>
          <p:nvPr/>
        </p:nvSpPr>
        <p:spPr>
          <a:xfrm>
            <a:off x="900000" y="4220000"/>
            <a:ext cx="2200000" cy="430000"/>
          </a:xfrm>
          <a:prstGeom prst="roundRect">
            <a:avLst/>
          </a:prstGeom>
          <a:solidFill>
            <a:srgbClr val="FFFFFF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>
            <a:pPr algn="ctr"/>
            <a:r>
              <a:rPr lang="zh-CN" sz="1350" b="1">
                <a:solidFill>
                  <a:srgbClr val="111827"/>
                </a:solidFill>
              </a:rPr>
              <a:t>mountain</a:t>
            </a:r>
            <a:endParaRPr lang="zh-CN" sz="1350" b="1">
              <a:solidFill>
                <a:srgbClr val="111827"/>
              </a:solidFill>
            </a:endParaRPr>
          </a:p>
        </p:txBody>
      </p:sp>
      <p:sp>
        <p:nvSpPr>
          <p:cNvPr id="44" name="Shape 44"/>
          <p:cNvSpPr/>
          <p:nvPr/>
        </p:nvSpPr>
        <p:spPr>
          <a:xfrm>
            <a:off x="3150000" y="4220000"/>
            <a:ext cx="3450000" cy="430000"/>
          </a:xfrm>
          <a:prstGeom prst="roundRect">
            <a:avLst/>
          </a:prstGeom>
          <a:solidFill>
            <a:srgbClr val="FFFFFF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>
            <a:pPr algn="ctr"/>
            <a:r>
              <a:rPr lang="zh-CN" sz="1300">
                <a:solidFill>
                  <a:srgbClr val="111827"/>
                </a:solidFill>
              </a:rPr>
              <a:t>点级高斯地形</a:t>
            </a:r>
            <a:endParaRPr lang="zh-CN" sz="1300">
              <a:solidFill>
                <a:srgbClr val="111827"/>
              </a:solidFill>
            </a:endParaRPr>
          </a:p>
        </p:txBody>
      </p:sp>
      <p:sp>
        <p:nvSpPr>
          <p:cNvPr id="64" name="Shape 64"/>
          <p:cNvSpPr/>
          <p:nvPr/>
        </p:nvSpPr>
        <p:spPr>
          <a:xfrm>
            <a:off x="6600000" y="4220000"/>
            <a:ext cx="4700000" cy="430000"/>
          </a:xfrm>
          <a:prstGeom prst="roundRect">
            <a:avLst/>
          </a:prstGeom>
          <a:solidFill>
            <a:srgbClr val="FFFFFF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>
            <a:pPr algn="ctr"/>
            <a:r>
              <a:rPr lang="zh-CN" sz="1300">
                <a:solidFill>
                  <a:srgbClr val="111827"/>
                </a:solidFill>
              </a:rPr>
              <a:t>强调每个缺陷点的局部影响</a:t>
            </a:r>
            <a:endParaRPr lang="zh-CN" sz="1300">
              <a:solidFill>
                <a:srgbClr val="111827"/>
              </a:solidFill>
            </a:endParaRPr>
          </a:p>
        </p:txBody>
      </p:sp>
      <p:sp>
        <p:nvSpPr>
          <p:cNvPr id="25" name="Shape 25"/>
          <p:cNvSpPr/>
          <p:nvPr/>
        </p:nvSpPr>
        <p:spPr>
          <a:xfrm>
            <a:off x="900000" y="4780000"/>
            <a:ext cx="2200000" cy="430000"/>
          </a:xfrm>
          <a:prstGeom prst="roundRect">
            <a:avLst/>
          </a:prstGeom>
          <a:solidFill>
            <a:srgbClr val="F1F5F9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>
            <a:pPr algn="ctr"/>
            <a:r>
              <a:rPr lang="zh-CN" sz="1350" b="1">
                <a:solidFill>
                  <a:srgbClr val="111827"/>
                </a:solidFill>
              </a:rPr>
              <a:t>three-value</a:t>
            </a:r>
            <a:endParaRPr lang="zh-CN" sz="1350" b="1">
              <a:solidFill>
                <a:srgbClr val="111827"/>
              </a:solidFill>
            </a:endParaRPr>
          </a:p>
        </p:txBody>
      </p:sp>
      <p:sp>
        <p:nvSpPr>
          <p:cNvPr id="45" name="Shape 45"/>
          <p:cNvSpPr/>
          <p:nvPr/>
        </p:nvSpPr>
        <p:spPr>
          <a:xfrm>
            <a:off x="3150000" y="4780000"/>
            <a:ext cx="3450000" cy="430000"/>
          </a:xfrm>
          <a:prstGeom prst="roundRect">
            <a:avLst/>
          </a:prstGeom>
          <a:solidFill>
            <a:srgbClr val="F1F5F9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>
            <a:pPr algn="ctr"/>
            <a:r>
              <a:rPr lang="zh-CN" sz="1300">
                <a:solidFill>
                  <a:srgbClr val="111827"/>
                </a:solidFill>
              </a:rPr>
              <a:t>强/弱/邻域证据</a:t>
            </a:r>
            <a:endParaRPr lang="zh-CN" sz="1300">
              <a:solidFill>
                <a:srgbClr val="111827"/>
              </a:solidFill>
            </a:endParaRPr>
          </a:p>
        </p:txBody>
      </p:sp>
      <p:sp>
        <p:nvSpPr>
          <p:cNvPr id="65" name="Shape 65"/>
          <p:cNvSpPr/>
          <p:nvPr/>
        </p:nvSpPr>
        <p:spPr>
          <a:xfrm>
            <a:off x="6600000" y="4780000"/>
            <a:ext cx="4700000" cy="430000"/>
          </a:xfrm>
          <a:prstGeom prst="roundRect">
            <a:avLst/>
          </a:prstGeom>
          <a:solidFill>
            <a:srgbClr val="F1F5F9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>
            <a:pPr algn="ctr"/>
            <a:r>
              <a:rPr lang="zh-CN" sz="1300">
                <a:solidFill>
                  <a:srgbClr val="111827"/>
                </a:solidFill>
              </a:rPr>
              <a:t>兼顾稀疏点和邻域支持</a:t>
            </a:r>
            <a:endParaRPr lang="zh-CN" sz="1300">
              <a:solidFill>
                <a:srgbClr val="111827"/>
              </a:solidFill>
            </a:endParaRPr>
          </a:p>
        </p:txBody>
      </p:sp>
      <p:sp>
        <p:nvSpPr>
          <p:cNvPr id="9907" name="Text 9907"/>
          <p:cNvSpPr txBox="1"/>
          <p:nvPr/>
        </p:nvSpPr>
        <p:spPr>
          <a:xfrm>
            <a:off x="620000" y="6460000"/>
            <a:ext cx="60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1050">
                <a:solidFill>
                  <a:srgbClr val="94A3B8"/>
                </a:solidFill>
              </a:rPr>
              <a:t>WBM-WDM Matching Method | match 模块</a:t>
            </a:r>
            <a:endParaRPr lang="zh-CN" sz="1050">
              <a:solidFill>
                <a:srgbClr val="94A3B8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14000">
            <a:solidFill>
              <a:srgbClr val="F8FAFC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3" name="Text 2"/>
          <p:cNvSpPr txBox="1"/>
          <p:nvPr/>
        </p:nvSpPr>
        <p:spPr>
          <a:xfrm>
            <a:off x="620000" y="300000"/>
            <a:ext cx="9200000" cy="5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altLang="zh-CN" sz="3000" b="1">
                <a:solidFill>
                  <a:srgbClr val="111827"/>
                </a:solidFill>
              </a:rPr>
              <a:t>5</a:t>
            </a:r>
            <a:r>
              <a:rPr lang="zh-CN" sz="3000" b="1">
                <a:solidFill>
                  <a:srgbClr val="111827"/>
                </a:solidFill>
              </a:rPr>
              <a:t>. Similarity 分数：从硬交集到 Soft/Fuzzy</a:t>
            </a:r>
            <a:endParaRPr lang="zh-CN" sz="3000" b="1">
              <a:solidFill>
                <a:srgbClr val="111827"/>
              </a:solidFill>
            </a:endParaRPr>
          </a:p>
        </p:txBody>
      </p:sp>
      <p:sp>
        <p:nvSpPr>
          <p:cNvPr id="4" name="Text 3"/>
          <p:cNvSpPr txBox="1"/>
          <p:nvPr/>
        </p:nvSpPr>
        <p:spPr>
          <a:xfrm>
            <a:off x="640000" y="830000"/>
            <a:ext cx="98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1400">
                <a:solidFill>
                  <a:srgbClr val="64748B"/>
                </a:solidFill>
              </a:rPr>
              <a:t>非二值表达下，交集用 min(a,b)，并集用 max(a,b)，覆盖和泄漏用质量比例解释。</a:t>
            </a:r>
            <a:endParaRPr lang="zh-CN" sz="1400">
              <a:solidFill>
                <a:srgbClr val="64748B"/>
              </a:solidFill>
            </a:endParaRPr>
          </a:p>
        </p:txBody>
      </p:sp>
      <p:sp>
        <p:nvSpPr>
          <p:cNvPr id="20" name="Shape 20"/>
          <p:cNvSpPr/>
          <p:nvPr/>
        </p:nvSpPr>
        <p:spPr>
          <a:xfrm>
            <a:off x="850000" y="1580000"/>
            <a:ext cx="1020000" cy="1020000"/>
          </a:xfrm>
          <a:prstGeom prst="roundRect">
            <a:avLst/>
          </a:prstGeom>
          <a:solidFill>
            <a:srgbClr val="FFFFFF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21" name="Shape 21"/>
          <p:cNvSpPr/>
          <p:nvPr/>
        </p:nvSpPr>
        <p:spPr>
          <a:xfrm>
            <a:off x="920000" y="1650000"/>
            <a:ext cx="211000" cy="211000"/>
          </a:xfrm>
          <a:prstGeom prst="rect">
            <a:avLst/>
          </a:prstGeom>
          <a:solidFill>
            <a:srgbClr val="111827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22" name="Shape 22"/>
          <p:cNvSpPr/>
          <p:nvPr/>
        </p:nvSpPr>
        <p:spPr>
          <a:xfrm>
            <a:off x="1140000" y="1650000"/>
            <a:ext cx="211000" cy="211000"/>
          </a:xfrm>
          <a:prstGeom prst="rect">
            <a:avLst/>
          </a:prstGeom>
          <a:solidFill>
            <a:srgbClr val="111827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23" name="Shape 23"/>
          <p:cNvSpPr/>
          <p:nvPr/>
        </p:nvSpPr>
        <p:spPr>
          <a:xfrm>
            <a:off x="1360000" y="1650000"/>
            <a:ext cx="211000" cy="211000"/>
          </a:xfrm>
          <a:prstGeom prst="rect">
            <a:avLst/>
          </a:prstGeom>
          <a:solidFill>
            <a:srgbClr val="111827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24" name="Shape 24"/>
          <p:cNvSpPr/>
          <p:nvPr/>
        </p:nvSpPr>
        <p:spPr>
          <a:xfrm>
            <a:off x="1580000" y="1650000"/>
            <a:ext cx="211000" cy="211000"/>
          </a:xfrm>
          <a:prstGeom prst="rect">
            <a:avLst/>
          </a:prstGeom>
          <a:solidFill>
            <a:srgbClr val="111827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25" name="Shape 25"/>
          <p:cNvSpPr/>
          <p:nvPr/>
        </p:nvSpPr>
        <p:spPr>
          <a:xfrm>
            <a:off x="920000" y="1870000"/>
            <a:ext cx="211000" cy="211000"/>
          </a:xfrm>
          <a:prstGeom prst="rect">
            <a:avLst/>
          </a:prstGeom>
          <a:solidFill>
            <a:srgbClr val="111827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26" name="Shape 26"/>
          <p:cNvSpPr/>
          <p:nvPr/>
        </p:nvSpPr>
        <p:spPr>
          <a:xfrm>
            <a:off x="1140000" y="1870000"/>
            <a:ext cx="211000" cy="211000"/>
          </a:xfrm>
          <a:prstGeom prst="rect">
            <a:avLst/>
          </a:prstGeom>
          <a:solidFill>
            <a:srgbClr val="DBEAFE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27" name="Shape 27"/>
          <p:cNvSpPr/>
          <p:nvPr/>
        </p:nvSpPr>
        <p:spPr>
          <a:xfrm>
            <a:off x="1360000" y="1870000"/>
            <a:ext cx="211000" cy="211000"/>
          </a:xfrm>
          <a:prstGeom prst="rect">
            <a:avLst/>
          </a:prstGeom>
          <a:solidFill>
            <a:srgbClr val="94A3B8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28" name="Shape 28"/>
          <p:cNvSpPr/>
          <p:nvPr/>
        </p:nvSpPr>
        <p:spPr>
          <a:xfrm>
            <a:off x="1580000" y="1870000"/>
            <a:ext cx="211000" cy="211000"/>
          </a:xfrm>
          <a:prstGeom prst="rect">
            <a:avLst/>
          </a:prstGeom>
          <a:solidFill>
            <a:srgbClr val="111827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29" name="Shape 29"/>
          <p:cNvSpPr/>
          <p:nvPr/>
        </p:nvSpPr>
        <p:spPr>
          <a:xfrm>
            <a:off x="920000" y="2090000"/>
            <a:ext cx="211000" cy="211000"/>
          </a:xfrm>
          <a:prstGeom prst="rect">
            <a:avLst/>
          </a:prstGeom>
          <a:solidFill>
            <a:srgbClr val="111827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30" name="Shape 30"/>
          <p:cNvSpPr/>
          <p:nvPr/>
        </p:nvSpPr>
        <p:spPr>
          <a:xfrm>
            <a:off x="1140000" y="2090000"/>
            <a:ext cx="211000" cy="211000"/>
          </a:xfrm>
          <a:prstGeom prst="rect">
            <a:avLst/>
          </a:prstGeom>
          <a:solidFill>
            <a:srgbClr val="CBD5E1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31" name="Shape 31"/>
          <p:cNvSpPr/>
          <p:nvPr/>
        </p:nvSpPr>
        <p:spPr>
          <a:xfrm>
            <a:off x="1360000" y="2090000"/>
            <a:ext cx="211000" cy="211000"/>
          </a:xfrm>
          <a:prstGeom prst="rect">
            <a:avLst/>
          </a:prstGeom>
          <a:solidFill>
            <a:srgbClr val="2563EB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32" name="Shape 32"/>
          <p:cNvSpPr/>
          <p:nvPr/>
        </p:nvSpPr>
        <p:spPr>
          <a:xfrm>
            <a:off x="1580000" y="2090000"/>
            <a:ext cx="211000" cy="211000"/>
          </a:xfrm>
          <a:prstGeom prst="rect">
            <a:avLst/>
          </a:prstGeom>
          <a:solidFill>
            <a:srgbClr val="111827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33" name="Shape 33"/>
          <p:cNvSpPr/>
          <p:nvPr/>
        </p:nvSpPr>
        <p:spPr>
          <a:xfrm>
            <a:off x="920000" y="2310000"/>
            <a:ext cx="211000" cy="211000"/>
          </a:xfrm>
          <a:prstGeom prst="rect">
            <a:avLst/>
          </a:prstGeom>
          <a:solidFill>
            <a:srgbClr val="111827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34" name="Shape 34"/>
          <p:cNvSpPr/>
          <p:nvPr/>
        </p:nvSpPr>
        <p:spPr>
          <a:xfrm>
            <a:off x="1140000" y="2310000"/>
            <a:ext cx="211000" cy="211000"/>
          </a:xfrm>
          <a:prstGeom prst="rect">
            <a:avLst/>
          </a:prstGeom>
          <a:solidFill>
            <a:srgbClr val="111827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35" name="Shape 35"/>
          <p:cNvSpPr/>
          <p:nvPr/>
        </p:nvSpPr>
        <p:spPr>
          <a:xfrm>
            <a:off x="1360000" y="2310000"/>
            <a:ext cx="211000" cy="211000"/>
          </a:xfrm>
          <a:prstGeom prst="rect">
            <a:avLst/>
          </a:prstGeom>
          <a:solidFill>
            <a:srgbClr val="111827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36" name="Shape 36"/>
          <p:cNvSpPr/>
          <p:nvPr/>
        </p:nvSpPr>
        <p:spPr>
          <a:xfrm>
            <a:off x="1580000" y="2310000"/>
            <a:ext cx="211000" cy="211000"/>
          </a:xfrm>
          <a:prstGeom prst="rect">
            <a:avLst/>
          </a:prstGeom>
          <a:solidFill>
            <a:srgbClr val="111827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37" name="Text 37"/>
          <p:cNvSpPr txBox="1"/>
          <p:nvPr/>
        </p:nvSpPr>
        <p:spPr>
          <a:xfrm>
            <a:off x="800000" y="2630000"/>
            <a:ext cx="112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zh-CN" sz="1150" b="1">
                <a:solidFill>
                  <a:srgbClr val="64748B"/>
                </a:solidFill>
              </a:rPr>
              <a:t>a = WBM 表达</a:t>
            </a:r>
            <a:endParaRPr lang="zh-CN" sz="1150" b="1">
              <a:solidFill>
                <a:srgbClr val="64748B"/>
              </a:solidFill>
            </a:endParaRPr>
          </a:p>
        </p:txBody>
      </p:sp>
      <p:sp>
        <p:nvSpPr>
          <p:cNvPr id="38" name="Text 38"/>
          <p:cNvSpPr txBox="1"/>
          <p:nvPr/>
        </p:nvSpPr>
        <p:spPr>
          <a:xfrm>
            <a:off x="2300000" y="2120000"/>
            <a:ext cx="36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zh-CN" sz="2600" b="1">
                <a:solidFill>
                  <a:srgbClr val="64748B"/>
                </a:solidFill>
              </a:rPr>
              <a:t>+</a:t>
            </a:r>
            <a:endParaRPr lang="zh-CN" sz="2600" b="1">
              <a:solidFill>
                <a:srgbClr val="64748B"/>
              </a:solidFill>
            </a:endParaRPr>
          </a:p>
        </p:txBody>
      </p:sp>
      <p:sp>
        <p:nvSpPr>
          <p:cNvPr id="39" name="Shape 39"/>
          <p:cNvSpPr/>
          <p:nvPr/>
        </p:nvSpPr>
        <p:spPr>
          <a:xfrm>
            <a:off x="2780000" y="1580000"/>
            <a:ext cx="1020000" cy="1020000"/>
          </a:xfrm>
          <a:prstGeom prst="roundRect">
            <a:avLst/>
          </a:prstGeom>
          <a:solidFill>
            <a:srgbClr val="FFFFFF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40" name="Shape 40"/>
          <p:cNvSpPr/>
          <p:nvPr/>
        </p:nvSpPr>
        <p:spPr>
          <a:xfrm>
            <a:off x="2850000" y="1650000"/>
            <a:ext cx="211000" cy="211000"/>
          </a:xfrm>
          <a:prstGeom prst="rect">
            <a:avLst/>
          </a:prstGeom>
          <a:solidFill>
            <a:srgbClr val="111827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41" name="Shape 41"/>
          <p:cNvSpPr/>
          <p:nvPr/>
        </p:nvSpPr>
        <p:spPr>
          <a:xfrm>
            <a:off x="3070000" y="1650000"/>
            <a:ext cx="211000" cy="211000"/>
          </a:xfrm>
          <a:prstGeom prst="rect">
            <a:avLst/>
          </a:prstGeom>
          <a:solidFill>
            <a:srgbClr val="111827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42" name="Shape 42"/>
          <p:cNvSpPr/>
          <p:nvPr/>
        </p:nvSpPr>
        <p:spPr>
          <a:xfrm>
            <a:off x="3290000" y="1650000"/>
            <a:ext cx="211000" cy="211000"/>
          </a:xfrm>
          <a:prstGeom prst="rect">
            <a:avLst/>
          </a:prstGeom>
          <a:solidFill>
            <a:srgbClr val="111827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43" name="Shape 43"/>
          <p:cNvSpPr/>
          <p:nvPr/>
        </p:nvSpPr>
        <p:spPr>
          <a:xfrm>
            <a:off x="3510000" y="1650000"/>
            <a:ext cx="211000" cy="211000"/>
          </a:xfrm>
          <a:prstGeom prst="rect">
            <a:avLst/>
          </a:prstGeom>
          <a:solidFill>
            <a:srgbClr val="111827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44" name="Shape 44"/>
          <p:cNvSpPr/>
          <p:nvPr/>
        </p:nvSpPr>
        <p:spPr>
          <a:xfrm>
            <a:off x="2850000" y="1870000"/>
            <a:ext cx="211000" cy="211000"/>
          </a:xfrm>
          <a:prstGeom prst="rect">
            <a:avLst/>
          </a:prstGeom>
          <a:solidFill>
            <a:srgbClr val="111827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45" name="Shape 45"/>
          <p:cNvSpPr/>
          <p:nvPr/>
        </p:nvSpPr>
        <p:spPr>
          <a:xfrm>
            <a:off x="3070000" y="1870000"/>
            <a:ext cx="211000" cy="211000"/>
          </a:xfrm>
          <a:prstGeom prst="rect">
            <a:avLst/>
          </a:prstGeom>
          <a:solidFill>
            <a:srgbClr val="60A5FA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46" name="Shape 46"/>
          <p:cNvSpPr/>
          <p:nvPr/>
        </p:nvSpPr>
        <p:spPr>
          <a:xfrm>
            <a:off x="3290000" y="1870000"/>
            <a:ext cx="211000" cy="211000"/>
          </a:xfrm>
          <a:prstGeom prst="rect">
            <a:avLst/>
          </a:prstGeom>
          <a:solidFill>
            <a:srgbClr val="CBD5E1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47" name="Shape 47"/>
          <p:cNvSpPr/>
          <p:nvPr/>
        </p:nvSpPr>
        <p:spPr>
          <a:xfrm>
            <a:off x="3510000" y="1870000"/>
            <a:ext cx="211000" cy="211000"/>
          </a:xfrm>
          <a:prstGeom prst="rect">
            <a:avLst/>
          </a:prstGeom>
          <a:solidFill>
            <a:srgbClr val="111827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48" name="Shape 48"/>
          <p:cNvSpPr/>
          <p:nvPr/>
        </p:nvSpPr>
        <p:spPr>
          <a:xfrm>
            <a:off x="2850000" y="2090000"/>
            <a:ext cx="211000" cy="211000"/>
          </a:xfrm>
          <a:prstGeom prst="rect">
            <a:avLst/>
          </a:prstGeom>
          <a:solidFill>
            <a:srgbClr val="111827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49" name="Shape 49"/>
          <p:cNvSpPr/>
          <p:nvPr/>
        </p:nvSpPr>
        <p:spPr>
          <a:xfrm>
            <a:off x="3070000" y="2090000"/>
            <a:ext cx="211000" cy="211000"/>
          </a:xfrm>
          <a:prstGeom prst="rect">
            <a:avLst/>
          </a:prstGeom>
          <a:solidFill>
            <a:srgbClr val="94A3B8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50" name="Shape 50"/>
          <p:cNvSpPr/>
          <p:nvPr/>
        </p:nvSpPr>
        <p:spPr>
          <a:xfrm>
            <a:off x="3290000" y="2090000"/>
            <a:ext cx="211000" cy="211000"/>
          </a:xfrm>
          <a:prstGeom prst="rect">
            <a:avLst/>
          </a:prstGeom>
          <a:solidFill>
            <a:srgbClr val="DBEAFE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51" name="Shape 51"/>
          <p:cNvSpPr/>
          <p:nvPr/>
        </p:nvSpPr>
        <p:spPr>
          <a:xfrm>
            <a:off x="3510000" y="2090000"/>
            <a:ext cx="211000" cy="211000"/>
          </a:xfrm>
          <a:prstGeom prst="rect">
            <a:avLst/>
          </a:prstGeom>
          <a:solidFill>
            <a:srgbClr val="111827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52" name="Shape 52"/>
          <p:cNvSpPr/>
          <p:nvPr/>
        </p:nvSpPr>
        <p:spPr>
          <a:xfrm>
            <a:off x="2850000" y="2310000"/>
            <a:ext cx="211000" cy="211000"/>
          </a:xfrm>
          <a:prstGeom prst="rect">
            <a:avLst/>
          </a:prstGeom>
          <a:solidFill>
            <a:srgbClr val="111827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53" name="Shape 53"/>
          <p:cNvSpPr/>
          <p:nvPr/>
        </p:nvSpPr>
        <p:spPr>
          <a:xfrm>
            <a:off x="3070000" y="2310000"/>
            <a:ext cx="211000" cy="211000"/>
          </a:xfrm>
          <a:prstGeom prst="rect">
            <a:avLst/>
          </a:prstGeom>
          <a:solidFill>
            <a:srgbClr val="111827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54" name="Shape 54"/>
          <p:cNvSpPr/>
          <p:nvPr/>
        </p:nvSpPr>
        <p:spPr>
          <a:xfrm>
            <a:off x="3290000" y="2310000"/>
            <a:ext cx="211000" cy="211000"/>
          </a:xfrm>
          <a:prstGeom prst="rect">
            <a:avLst/>
          </a:prstGeom>
          <a:solidFill>
            <a:srgbClr val="111827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55" name="Shape 55"/>
          <p:cNvSpPr/>
          <p:nvPr/>
        </p:nvSpPr>
        <p:spPr>
          <a:xfrm>
            <a:off x="3510000" y="2310000"/>
            <a:ext cx="211000" cy="211000"/>
          </a:xfrm>
          <a:prstGeom prst="rect">
            <a:avLst/>
          </a:prstGeom>
          <a:solidFill>
            <a:srgbClr val="111827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56" name="Text 56"/>
          <p:cNvSpPr txBox="1"/>
          <p:nvPr/>
        </p:nvSpPr>
        <p:spPr>
          <a:xfrm>
            <a:off x="2730000" y="2630000"/>
            <a:ext cx="112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zh-CN" sz="1150" b="1">
                <a:solidFill>
                  <a:srgbClr val="64748B"/>
                </a:solidFill>
              </a:rPr>
              <a:t>b = WDM 表达</a:t>
            </a:r>
            <a:endParaRPr lang="zh-CN" sz="1150" b="1">
              <a:solidFill>
                <a:srgbClr val="64748B"/>
              </a:solidFill>
            </a:endParaRPr>
          </a:p>
        </p:txBody>
      </p:sp>
      <p:cxnSp>
        <p:nvCxnSpPr>
          <p:cNvPr id="57" name="Connector 57"/>
          <p:cNvCxnSpPr/>
          <p:nvPr/>
        </p:nvCxnSpPr>
        <p:spPr>
          <a:xfrm>
            <a:off x="4250000" y="2120000"/>
            <a:ext cx="950000" cy="1"/>
          </a:xfrm>
          <a:prstGeom prst="line">
            <a:avLst/>
          </a:prstGeom>
          <a:ln w="22000">
            <a:solidFill>
              <a:srgbClr val="7C3AED"/>
            </a:solidFill>
            <a:tailEnd type="triangle"/>
          </a:ln>
        </p:spPr>
      </p:cxnSp>
      <p:sp>
        <p:nvSpPr>
          <p:cNvPr id="58" name="Shape 58"/>
          <p:cNvSpPr/>
          <p:nvPr/>
        </p:nvSpPr>
        <p:spPr>
          <a:xfrm>
            <a:off x="5410000" y="1380000"/>
            <a:ext cx="900000" cy="900000"/>
          </a:xfrm>
          <a:prstGeom prst="roundRect">
            <a:avLst/>
          </a:prstGeom>
          <a:solidFill>
            <a:srgbClr val="FFFFFF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59" name="Shape 59"/>
          <p:cNvSpPr/>
          <p:nvPr/>
        </p:nvSpPr>
        <p:spPr>
          <a:xfrm>
            <a:off x="5480000" y="1450000"/>
            <a:ext cx="181000" cy="181000"/>
          </a:xfrm>
          <a:prstGeom prst="rect">
            <a:avLst/>
          </a:prstGeom>
          <a:solidFill>
            <a:srgbClr val="111827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60" name="Shape 60"/>
          <p:cNvSpPr/>
          <p:nvPr/>
        </p:nvSpPr>
        <p:spPr>
          <a:xfrm>
            <a:off x="5670000" y="1450000"/>
            <a:ext cx="181000" cy="181000"/>
          </a:xfrm>
          <a:prstGeom prst="rect">
            <a:avLst/>
          </a:prstGeom>
          <a:solidFill>
            <a:srgbClr val="111827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61" name="Shape 61"/>
          <p:cNvSpPr/>
          <p:nvPr/>
        </p:nvSpPr>
        <p:spPr>
          <a:xfrm>
            <a:off x="5860000" y="1450000"/>
            <a:ext cx="181000" cy="181000"/>
          </a:xfrm>
          <a:prstGeom prst="rect">
            <a:avLst/>
          </a:prstGeom>
          <a:solidFill>
            <a:srgbClr val="111827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62" name="Shape 62"/>
          <p:cNvSpPr/>
          <p:nvPr/>
        </p:nvSpPr>
        <p:spPr>
          <a:xfrm>
            <a:off x="6050000" y="1450000"/>
            <a:ext cx="181000" cy="181000"/>
          </a:xfrm>
          <a:prstGeom prst="rect">
            <a:avLst/>
          </a:prstGeom>
          <a:solidFill>
            <a:srgbClr val="111827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63" name="Shape 63"/>
          <p:cNvSpPr/>
          <p:nvPr/>
        </p:nvSpPr>
        <p:spPr>
          <a:xfrm>
            <a:off x="5480000" y="1640000"/>
            <a:ext cx="181000" cy="181000"/>
          </a:xfrm>
          <a:prstGeom prst="rect">
            <a:avLst/>
          </a:prstGeom>
          <a:solidFill>
            <a:srgbClr val="111827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64" name="Shape 64"/>
          <p:cNvSpPr/>
          <p:nvPr/>
        </p:nvSpPr>
        <p:spPr>
          <a:xfrm>
            <a:off x="5670000" y="1640000"/>
            <a:ext cx="181000" cy="181000"/>
          </a:xfrm>
          <a:prstGeom prst="rect">
            <a:avLst/>
          </a:prstGeom>
          <a:solidFill>
            <a:srgbClr val="60A5FA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65" name="Shape 65"/>
          <p:cNvSpPr/>
          <p:nvPr/>
        </p:nvSpPr>
        <p:spPr>
          <a:xfrm>
            <a:off x="5860000" y="1640000"/>
            <a:ext cx="181000" cy="181000"/>
          </a:xfrm>
          <a:prstGeom prst="rect">
            <a:avLst/>
          </a:prstGeom>
          <a:solidFill>
            <a:srgbClr val="CBD5E1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66" name="Shape 66"/>
          <p:cNvSpPr/>
          <p:nvPr/>
        </p:nvSpPr>
        <p:spPr>
          <a:xfrm>
            <a:off x="6050000" y="1640000"/>
            <a:ext cx="181000" cy="181000"/>
          </a:xfrm>
          <a:prstGeom prst="rect">
            <a:avLst/>
          </a:prstGeom>
          <a:solidFill>
            <a:srgbClr val="111827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67" name="Shape 67"/>
          <p:cNvSpPr/>
          <p:nvPr/>
        </p:nvSpPr>
        <p:spPr>
          <a:xfrm>
            <a:off x="5480000" y="1830000"/>
            <a:ext cx="181000" cy="181000"/>
          </a:xfrm>
          <a:prstGeom prst="rect">
            <a:avLst/>
          </a:prstGeom>
          <a:solidFill>
            <a:srgbClr val="111827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68" name="Shape 68"/>
          <p:cNvSpPr/>
          <p:nvPr/>
        </p:nvSpPr>
        <p:spPr>
          <a:xfrm>
            <a:off x="5670000" y="1830000"/>
            <a:ext cx="181000" cy="181000"/>
          </a:xfrm>
          <a:prstGeom prst="rect">
            <a:avLst/>
          </a:prstGeom>
          <a:solidFill>
            <a:srgbClr val="CBD5E1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69" name="Shape 69"/>
          <p:cNvSpPr/>
          <p:nvPr/>
        </p:nvSpPr>
        <p:spPr>
          <a:xfrm>
            <a:off x="5860000" y="1830000"/>
            <a:ext cx="181000" cy="181000"/>
          </a:xfrm>
          <a:prstGeom prst="rect">
            <a:avLst/>
          </a:prstGeom>
          <a:solidFill>
            <a:srgbClr val="7C3AED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70" name="Shape 70"/>
          <p:cNvSpPr/>
          <p:nvPr/>
        </p:nvSpPr>
        <p:spPr>
          <a:xfrm>
            <a:off x="6050000" y="1830000"/>
            <a:ext cx="181000" cy="181000"/>
          </a:xfrm>
          <a:prstGeom prst="rect">
            <a:avLst/>
          </a:prstGeom>
          <a:solidFill>
            <a:srgbClr val="111827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71" name="Shape 71"/>
          <p:cNvSpPr/>
          <p:nvPr/>
        </p:nvSpPr>
        <p:spPr>
          <a:xfrm>
            <a:off x="5480000" y="2020000"/>
            <a:ext cx="181000" cy="181000"/>
          </a:xfrm>
          <a:prstGeom prst="rect">
            <a:avLst/>
          </a:prstGeom>
          <a:solidFill>
            <a:srgbClr val="111827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72" name="Shape 72"/>
          <p:cNvSpPr/>
          <p:nvPr/>
        </p:nvSpPr>
        <p:spPr>
          <a:xfrm>
            <a:off x="5670000" y="2020000"/>
            <a:ext cx="181000" cy="181000"/>
          </a:xfrm>
          <a:prstGeom prst="rect">
            <a:avLst/>
          </a:prstGeom>
          <a:solidFill>
            <a:srgbClr val="111827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73" name="Shape 73"/>
          <p:cNvSpPr/>
          <p:nvPr/>
        </p:nvSpPr>
        <p:spPr>
          <a:xfrm>
            <a:off x="5860000" y="2020000"/>
            <a:ext cx="181000" cy="181000"/>
          </a:xfrm>
          <a:prstGeom prst="rect">
            <a:avLst/>
          </a:prstGeom>
          <a:solidFill>
            <a:srgbClr val="111827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74" name="Shape 74"/>
          <p:cNvSpPr/>
          <p:nvPr/>
        </p:nvSpPr>
        <p:spPr>
          <a:xfrm>
            <a:off x="6050000" y="2020000"/>
            <a:ext cx="181000" cy="181000"/>
          </a:xfrm>
          <a:prstGeom prst="rect">
            <a:avLst/>
          </a:prstGeom>
          <a:solidFill>
            <a:srgbClr val="111827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75" name="Text 75"/>
          <p:cNvSpPr txBox="1"/>
          <p:nvPr/>
        </p:nvSpPr>
        <p:spPr>
          <a:xfrm>
            <a:off x="5360000" y="2310000"/>
            <a:ext cx="10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zh-CN" sz="1150" b="1">
                <a:solidFill>
                  <a:srgbClr val="64748B"/>
                </a:solidFill>
              </a:rPr>
              <a:t>soft 交集：min(a,b)</a:t>
            </a:r>
            <a:endParaRPr lang="zh-CN" sz="1150" b="1">
              <a:solidFill>
                <a:srgbClr val="64748B"/>
              </a:solidFill>
            </a:endParaRPr>
          </a:p>
        </p:txBody>
      </p:sp>
      <p:sp>
        <p:nvSpPr>
          <p:cNvPr id="77" name="Shape 77"/>
          <p:cNvSpPr/>
          <p:nvPr/>
        </p:nvSpPr>
        <p:spPr>
          <a:xfrm>
            <a:off x="7280000" y="1380000"/>
            <a:ext cx="900000" cy="900000"/>
          </a:xfrm>
          <a:prstGeom prst="roundRect">
            <a:avLst/>
          </a:prstGeom>
          <a:solidFill>
            <a:srgbClr val="FFFFFF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78" name="Shape 78"/>
          <p:cNvSpPr/>
          <p:nvPr/>
        </p:nvSpPr>
        <p:spPr>
          <a:xfrm>
            <a:off x="7350000" y="1450000"/>
            <a:ext cx="181000" cy="181000"/>
          </a:xfrm>
          <a:prstGeom prst="rect">
            <a:avLst/>
          </a:prstGeom>
          <a:solidFill>
            <a:srgbClr val="111827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79" name="Shape 79"/>
          <p:cNvSpPr/>
          <p:nvPr/>
        </p:nvSpPr>
        <p:spPr>
          <a:xfrm>
            <a:off x="7540000" y="1450000"/>
            <a:ext cx="181000" cy="181000"/>
          </a:xfrm>
          <a:prstGeom prst="rect">
            <a:avLst/>
          </a:prstGeom>
          <a:solidFill>
            <a:srgbClr val="111827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80" name="Shape 80"/>
          <p:cNvSpPr/>
          <p:nvPr/>
        </p:nvSpPr>
        <p:spPr>
          <a:xfrm>
            <a:off x="7730000" y="1450000"/>
            <a:ext cx="181000" cy="181000"/>
          </a:xfrm>
          <a:prstGeom prst="rect">
            <a:avLst/>
          </a:prstGeom>
          <a:solidFill>
            <a:srgbClr val="111827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81" name="Shape 81"/>
          <p:cNvSpPr/>
          <p:nvPr/>
        </p:nvSpPr>
        <p:spPr>
          <a:xfrm>
            <a:off x="7920000" y="1450000"/>
            <a:ext cx="181000" cy="181000"/>
          </a:xfrm>
          <a:prstGeom prst="rect">
            <a:avLst/>
          </a:prstGeom>
          <a:solidFill>
            <a:srgbClr val="111827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82" name="Shape 82"/>
          <p:cNvSpPr/>
          <p:nvPr/>
        </p:nvSpPr>
        <p:spPr>
          <a:xfrm>
            <a:off x="7350000" y="1640000"/>
            <a:ext cx="181000" cy="181000"/>
          </a:xfrm>
          <a:prstGeom prst="rect">
            <a:avLst/>
          </a:prstGeom>
          <a:solidFill>
            <a:srgbClr val="111827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83" name="Shape 83"/>
          <p:cNvSpPr/>
          <p:nvPr/>
        </p:nvSpPr>
        <p:spPr>
          <a:xfrm>
            <a:off x="7540000" y="1640000"/>
            <a:ext cx="181000" cy="181000"/>
          </a:xfrm>
          <a:prstGeom prst="rect">
            <a:avLst/>
          </a:prstGeom>
          <a:solidFill>
            <a:srgbClr val="DBEAFE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84" name="Shape 84"/>
          <p:cNvSpPr/>
          <p:nvPr/>
        </p:nvSpPr>
        <p:spPr>
          <a:xfrm>
            <a:off x="7730000" y="1640000"/>
            <a:ext cx="181000" cy="181000"/>
          </a:xfrm>
          <a:prstGeom prst="rect">
            <a:avLst/>
          </a:prstGeom>
          <a:solidFill>
            <a:srgbClr val="94A3B8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85" name="Shape 85"/>
          <p:cNvSpPr/>
          <p:nvPr/>
        </p:nvSpPr>
        <p:spPr>
          <a:xfrm>
            <a:off x="7920000" y="1640000"/>
            <a:ext cx="181000" cy="181000"/>
          </a:xfrm>
          <a:prstGeom prst="rect">
            <a:avLst/>
          </a:prstGeom>
          <a:solidFill>
            <a:srgbClr val="111827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86" name="Shape 86"/>
          <p:cNvSpPr/>
          <p:nvPr/>
        </p:nvSpPr>
        <p:spPr>
          <a:xfrm>
            <a:off x="7350000" y="1830000"/>
            <a:ext cx="181000" cy="181000"/>
          </a:xfrm>
          <a:prstGeom prst="rect">
            <a:avLst/>
          </a:prstGeom>
          <a:solidFill>
            <a:srgbClr val="111827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87" name="Shape 87"/>
          <p:cNvSpPr/>
          <p:nvPr/>
        </p:nvSpPr>
        <p:spPr>
          <a:xfrm>
            <a:off x="7540000" y="1830000"/>
            <a:ext cx="181000" cy="181000"/>
          </a:xfrm>
          <a:prstGeom prst="rect">
            <a:avLst/>
          </a:prstGeom>
          <a:solidFill>
            <a:srgbClr val="94A3B8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88" name="Shape 88"/>
          <p:cNvSpPr/>
          <p:nvPr/>
        </p:nvSpPr>
        <p:spPr>
          <a:xfrm>
            <a:off x="7730000" y="1830000"/>
            <a:ext cx="181000" cy="181000"/>
          </a:xfrm>
          <a:prstGeom prst="rect">
            <a:avLst/>
          </a:prstGeom>
          <a:solidFill>
            <a:srgbClr val="DBEAFE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89" name="Shape 89"/>
          <p:cNvSpPr/>
          <p:nvPr/>
        </p:nvSpPr>
        <p:spPr>
          <a:xfrm>
            <a:off x="7920000" y="1830000"/>
            <a:ext cx="181000" cy="181000"/>
          </a:xfrm>
          <a:prstGeom prst="rect">
            <a:avLst/>
          </a:prstGeom>
          <a:solidFill>
            <a:srgbClr val="111827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90" name="Shape 90"/>
          <p:cNvSpPr/>
          <p:nvPr/>
        </p:nvSpPr>
        <p:spPr>
          <a:xfrm>
            <a:off x="7350000" y="2020000"/>
            <a:ext cx="181000" cy="181000"/>
          </a:xfrm>
          <a:prstGeom prst="rect">
            <a:avLst/>
          </a:prstGeom>
          <a:solidFill>
            <a:srgbClr val="111827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91" name="Shape 91"/>
          <p:cNvSpPr/>
          <p:nvPr/>
        </p:nvSpPr>
        <p:spPr>
          <a:xfrm>
            <a:off x="7540000" y="2020000"/>
            <a:ext cx="181000" cy="181000"/>
          </a:xfrm>
          <a:prstGeom prst="rect">
            <a:avLst/>
          </a:prstGeom>
          <a:solidFill>
            <a:srgbClr val="111827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92" name="Shape 92"/>
          <p:cNvSpPr/>
          <p:nvPr/>
        </p:nvSpPr>
        <p:spPr>
          <a:xfrm>
            <a:off x="7730000" y="2020000"/>
            <a:ext cx="181000" cy="181000"/>
          </a:xfrm>
          <a:prstGeom prst="rect">
            <a:avLst/>
          </a:prstGeom>
          <a:solidFill>
            <a:srgbClr val="111827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93" name="Shape 93"/>
          <p:cNvSpPr/>
          <p:nvPr/>
        </p:nvSpPr>
        <p:spPr>
          <a:xfrm>
            <a:off x="7920000" y="2020000"/>
            <a:ext cx="181000" cy="181000"/>
          </a:xfrm>
          <a:prstGeom prst="rect">
            <a:avLst/>
          </a:prstGeom>
          <a:solidFill>
            <a:srgbClr val="111827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94" name="Text 94"/>
          <p:cNvSpPr txBox="1"/>
          <p:nvPr/>
        </p:nvSpPr>
        <p:spPr>
          <a:xfrm>
            <a:off x="7230000" y="2310000"/>
            <a:ext cx="10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zh-CN" sz="1150" b="1">
                <a:solidFill>
                  <a:srgbClr val="64748B"/>
                </a:solidFill>
              </a:rPr>
              <a:t>soft 并集：max(a,b)</a:t>
            </a:r>
            <a:endParaRPr lang="zh-CN" sz="1150" b="1">
              <a:solidFill>
                <a:srgbClr val="64748B"/>
              </a:solidFill>
            </a:endParaRPr>
          </a:p>
        </p:txBody>
      </p:sp>
      <p:sp>
        <p:nvSpPr>
          <p:cNvPr id="95" name="Shape 95"/>
          <p:cNvSpPr/>
          <p:nvPr/>
        </p:nvSpPr>
        <p:spPr>
          <a:xfrm>
            <a:off x="9150000" y="1600000"/>
            <a:ext cx="2100000" cy="820000"/>
          </a:xfrm>
          <a:prstGeom prst="roundRect">
            <a:avLst/>
          </a:prstGeom>
          <a:solidFill>
            <a:srgbClr val="DBEAFE"/>
          </a:solidFill>
          <a:ln w="14000">
            <a:solidFill>
              <a:srgbClr val="2563EB"/>
            </a:solidFill>
          </a:ln>
        </p:spPr>
        <p:txBody>
          <a:bodyPr wrap="square" lIns="90000" rIns="90000" anchor="ctr"/>
          <a:lstStyle/>
          <a:p>
            <a:pPr algn="ctr"/>
            <a:r>
              <a:rPr lang="zh-CN" sz="1350" b="1">
                <a:solidFill>
                  <a:srgbClr val="111827"/>
                </a:solidFill>
              </a:rPr>
              <a:t>先按 WBM status</a:t>
            </a:r>
            <a:endParaRPr lang="zh-CN" sz="1350" b="1">
              <a:solidFill>
                <a:srgbClr val="111827"/>
              </a:solidFill>
            </a:endParaRPr>
          </a:p>
          <a:p>
            <a:pPr algn="ctr"/>
            <a:r>
              <a:rPr lang="zh-CN" sz="1350" b="1">
                <a:solidFill>
                  <a:srgbClr val="111827"/>
                </a:solidFill>
              </a:rPr>
              <a:t>裁剪有效区域</a:t>
            </a:r>
            <a:endParaRPr lang="zh-CN" sz="1350" b="1">
              <a:solidFill>
                <a:srgbClr val="111827"/>
              </a:solidFill>
            </a:endParaRPr>
          </a:p>
        </p:txBody>
      </p:sp>
      <p:sp>
        <p:nvSpPr>
          <p:cNvPr id="200" name="Shape 200"/>
          <p:cNvSpPr/>
          <p:nvPr/>
        </p:nvSpPr>
        <p:spPr>
          <a:xfrm>
            <a:off x="820000" y="4000000"/>
            <a:ext cx="2500000" cy="1040000"/>
          </a:xfrm>
          <a:prstGeom prst="roundRect">
            <a:avLst/>
          </a:prstGeom>
          <a:solidFill>
            <a:srgbClr val="FFFFFF"/>
          </a:solidFill>
          <a:ln w="14000">
            <a:solidFill>
              <a:srgbClr val="7C3AED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201" name="Text 201"/>
          <p:cNvSpPr txBox="1"/>
          <p:nvPr/>
        </p:nvSpPr>
        <p:spPr>
          <a:xfrm>
            <a:off x="1000000" y="4130000"/>
            <a:ext cx="2140000" cy="2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zh-CN" sz="1350" b="1">
                <a:solidFill>
                  <a:srgbClr val="7C3AED"/>
                </a:solidFill>
              </a:rPr>
              <a:t>Soft Dice</a:t>
            </a:r>
            <a:endParaRPr lang="zh-CN" sz="1350" b="1">
              <a:solidFill>
                <a:srgbClr val="7C3AED"/>
              </a:solidFill>
            </a:endParaRPr>
          </a:p>
        </p:txBody>
      </p:sp>
      <p:sp>
        <p:nvSpPr>
          <p:cNvPr id="202" name="Text 202"/>
          <p:cNvSpPr txBox="1"/>
          <p:nvPr/>
        </p:nvSpPr>
        <p:spPr>
          <a:xfrm>
            <a:off x="1000000" y="4490000"/>
            <a:ext cx="214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zh-CN" sz="1250" b="1">
                <a:solidFill>
                  <a:srgbClr val="111827"/>
                </a:solidFill>
              </a:rPr>
              <a:t>2Σmin / (Σa + Σb)</a:t>
            </a:r>
            <a:endParaRPr lang="zh-CN" sz="1250" b="1">
              <a:solidFill>
                <a:srgbClr val="111827"/>
              </a:solidFill>
            </a:endParaRPr>
          </a:p>
        </p:txBody>
      </p:sp>
      <p:sp>
        <p:nvSpPr>
          <p:cNvPr id="203" name="Shape 203"/>
          <p:cNvSpPr/>
          <p:nvPr/>
        </p:nvSpPr>
        <p:spPr>
          <a:xfrm>
            <a:off x="1080000" y="4780000"/>
            <a:ext cx="1980000" cy="90000"/>
          </a:xfrm>
          <a:prstGeom prst="rect">
            <a:avLst/>
          </a:prstGeom>
          <a:solidFill>
            <a:srgbClr val="EDE9FE"/>
          </a:solidFill>
          <a:ln w="14000">
            <a:solidFill>
              <a:srgbClr val="EDE9FE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210" name="Shape 210"/>
          <p:cNvSpPr/>
          <p:nvPr/>
        </p:nvSpPr>
        <p:spPr>
          <a:xfrm>
            <a:off x="3550000" y="4000000"/>
            <a:ext cx="2500000" cy="1040000"/>
          </a:xfrm>
          <a:prstGeom prst="roundRect">
            <a:avLst/>
          </a:prstGeom>
          <a:solidFill>
            <a:srgbClr val="FFFFFF"/>
          </a:solidFill>
          <a:ln w="14000">
            <a:solidFill>
              <a:srgbClr val="EA580C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211" name="Text 211"/>
          <p:cNvSpPr txBox="1"/>
          <p:nvPr/>
        </p:nvSpPr>
        <p:spPr>
          <a:xfrm>
            <a:off x="3730000" y="4130000"/>
            <a:ext cx="2140000" cy="2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zh-CN" sz="1350" b="1">
                <a:solidFill>
                  <a:srgbClr val="EA580C"/>
                </a:solidFill>
              </a:rPr>
              <a:t>Soft IoU</a:t>
            </a:r>
            <a:endParaRPr lang="zh-CN" sz="1350" b="1">
              <a:solidFill>
                <a:srgbClr val="EA580C"/>
              </a:solidFill>
            </a:endParaRPr>
          </a:p>
        </p:txBody>
      </p:sp>
      <p:sp>
        <p:nvSpPr>
          <p:cNvPr id="212" name="Text 212"/>
          <p:cNvSpPr txBox="1"/>
          <p:nvPr/>
        </p:nvSpPr>
        <p:spPr>
          <a:xfrm>
            <a:off x="3730000" y="4490000"/>
            <a:ext cx="214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zh-CN" sz="1250" b="1">
                <a:solidFill>
                  <a:srgbClr val="111827"/>
                </a:solidFill>
              </a:rPr>
              <a:t>Σmin / Σmax</a:t>
            </a:r>
            <a:endParaRPr lang="zh-CN" sz="1250" b="1">
              <a:solidFill>
                <a:srgbClr val="111827"/>
              </a:solidFill>
            </a:endParaRPr>
          </a:p>
        </p:txBody>
      </p:sp>
      <p:sp>
        <p:nvSpPr>
          <p:cNvPr id="213" name="Shape 213"/>
          <p:cNvSpPr/>
          <p:nvPr/>
        </p:nvSpPr>
        <p:spPr>
          <a:xfrm>
            <a:off x="3810000" y="4780000"/>
            <a:ext cx="1980000" cy="90000"/>
          </a:xfrm>
          <a:prstGeom prst="rect">
            <a:avLst/>
          </a:prstGeom>
          <a:solidFill>
            <a:srgbClr val="FFEDD5"/>
          </a:solidFill>
          <a:ln w="14000">
            <a:solidFill>
              <a:srgbClr val="FFEDD5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220" name="Shape 220"/>
          <p:cNvSpPr/>
          <p:nvPr/>
        </p:nvSpPr>
        <p:spPr>
          <a:xfrm>
            <a:off x="6280000" y="4000000"/>
            <a:ext cx="2500000" cy="1040000"/>
          </a:xfrm>
          <a:prstGeom prst="roundRect">
            <a:avLst/>
          </a:prstGeom>
          <a:solidFill>
            <a:srgbClr val="FFFFFF"/>
          </a:solidFill>
          <a:ln w="14000">
            <a:solidFill>
              <a:srgbClr val="059669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221" name="Text 221"/>
          <p:cNvSpPr txBox="1"/>
          <p:nvPr/>
        </p:nvSpPr>
        <p:spPr>
          <a:xfrm>
            <a:off x="6460000" y="4130000"/>
            <a:ext cx="2140000" cy="2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zh-CN" sz="1350" b="1">
                <a:solidFill>
                  <a:srgbClr val="059669"/>
                </a:solidFill>
              </a:rPr>
              <a:t>Coverage</a:t>
            </a:r>
            <a:endParaRPr lang="zh-CN" sz="1350" b="1">
              <a:solidFill>
                <a:srgbClr val="059669"/>
              </a:solidFill>
            </a:endParaRPr>
          </a:p>
        </p:txBody>
      </p:sp>
      <p:sp>
        <p:nvSpPr>
          <p:cNvPr id="222" name="Text 222"/>
          <p:cNvSpPr txBox="1"/>
          <p:nvPr/>
        </p:nvSpPr>
        <p:spPr>
          <a:xfrm>
            <a:off x="6460000" y="4490000"/>
            <a:ext cx="214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zh-CN" sz="1250" b="1">
                <a:solidFill>
                  <a:srgbClr val="111827"/>
                </a:solidFill>
              </a:rPr>
              <a:t>Σmin / Σa</a:t>
            </a:r>
            <a:endParaRPr lang="zh-CN" sz="1250" b="1">
              <a:solidFill>
                <a:srgbClr val="111827"/>
              </a:solidFill>
            </a:endParaRPr>
          </a:p>
        </p:txBody>
      </p:sp>
      <p:sp>
        <p:nvSpPr>
          <p:cNvPr id="223" name="Shape 223"/>
          <p:cNvSpPr/>
          <p:nvPr/>
        </p:nvSpPr>
        <p:spPr>
          <a:xfrm>
            <a:off x="6540000" y="4780000"/>
            <a:ext cx="1980000" cy="90000"/>
          </a:xfrm>
          <a:prstGeom prst="rect">
            <a:avLst/>
          </a:prstGeom>
          <a:solidFill>
            <a:srgbClr val="D1FAE5"/>
          </a:solidFill>
          <a:ln w="14000">
            <a:solidFill>
              <a:srgbClr val="D1FAE5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230" name="Shape 230"/>
          <p:cNvSpPr/>
          <p:nvPr/>
        </p:nvSpPr>
        <p:spPr>
          <a:xfrm>
            <a:off x="9010000" y="4000000"/>
            <a:ext cx="2500000" cy="1040000"/>
          </a:xfrm>
          <a:prstGeom prst="roundRect">
            <a:avLst/>
          </a:prstGeom>
          <a:solidFill>
            <a:srgbClr val="FFFFFF"/>
          </a:solidFill>
          <a:ln w="14000">
            <a:solidFill>
              <a:srgbClr val="DC2626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231" name="Text 231"/>
          <p:cNvSpPr txBox="1"/>
          <p:nvPr/>
        </p:nvSpPr>
        <p:spPr>
          <a:xfrm>
            <a:off x="9190000" y="4130000"/>
            <a:ext cx="2140000" cy="2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zh-CN" sz="1350" b="1">
                <a:solidFill>
                  <a:srgbClr val="DC2626"/>
                </a:solidFill>
              </a:rPr>
              <a:t>Leakage</a:t>
            </a:r>
            <a:endParaRPr lang="zh-CN" sz="1350" b="1">
              <a:solidFill>
                <a:srgbClr val="DC2626"/>
              </a:solidFill>
            </a:endParaRPr>
          </a:p>
        </p:txBody>
      </p:sp>
      <p:sp>
        <p:nvSpPr>
          <p:cNvPr id="232" name="Text 232"/>
          <p:cNvSpPr txBox="1"/>
          <p:nvPr/>
        </p:nvSpPr>
        <p:spPr>
          <a:xfrm>
            <a:off x="9190000" y="4490000"/>
            <a:ext cx="214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zh-CN" sz="1250" b="1">
                <a:solidFill>
                  <a:srgbClr val="111827"/>
                </a:solidFill>
              </a:rPr>
              <a:t>(Σb - Σmin) / Σb</a:t>
            </a:r>
            <a:endParaRPr lang="zh-CN" sz="1250" b="1">
              <a:solidFill>
                <a:srgbClr val="111827"/>
              </a:solidFill>
            </a:endParaRPr>
          </a:p>
        </p:txBody>
      </p:sp>
      <p:sp>
        <p:nvSpPr>
          <p:cNvPr id="233" name="Shape 233"/>
          <p:cNvSpPr/>
          <p:nvPr/>
        </p:nvSpPr>
        <p:spPr>
          <a:xfrm>
            <a:off x="9270000" y="4780000"/>
            <a:ext cx="1980000" cy="90000"/>
          </a:xfrm>
          <a:prstGeom prst="rect">
            <a:avLst/>
          </a:prstGeom>
          <a:solidFill>
            <a:srgbClr val="FEE2E2"/>
          </a:solidFill>
          <a:ln w="14000">
            <a:solidFill>
              <a:srgbClr val="FEE2E2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260" name="Shape 260"/>
          <p:cNvSpPr/>
          <p:nvPr/>
        </p:nvSpPr>
        <p:spPr>
          <a:xfrm>
            <a:off x="2350000" y="5480000"/>
            <a:ext cx="7300000" cy="430000"/>
          </a:xfrm>
          <a:prstGeom prst="roundRect">
            <a:avLst/>
          </a:prstGeom>
          <a:solidFill>
            <a:srgbClr val="EDE9FE"/>
          </a:solidFill>
          <a:ln w="14000">
            <a:solidFill>
              <a:srgbClr val="7C3AED"/>
            </a:solidFill>
          </a:ln>
        </p:spPr>
        <p:txBody>
          <a:bodyPr wrap="square" lIns="90000" rIns="90000" anchor="ctr"/>
          <a:lstStyle/>
          <a:p>
            <a:pPr algn="ctr"/>
            <a:r>
              <a:rPr lang="zh-CN" sz="1300" b="1">
                <a:solidFill>
                  <a:srgbClr val="111827"/>
                </a:solidFill>
              </a:rPr>
              <a:t>最终 coverage-leakage = coverage - beta * leakage；binary 图下退化为传统硬匹配。</a:t>
            </a:r>
            <a:endParaRPr lang="zh-CN" sz="1300" b="1">
              <a:solidFill>
                <a:srgbClr val="111827"/>
              </a:solidFill>
            </a:endParaRPr>
          </a:p>
        </p:txBody>
      </p:sp>
      <p:sp>
        <p:nvSpPr>
          <p:cNvPr id="9909" name="Text 9909"/>
          <p:cNvSpPr txBox="1"/>
          <p:nvPr/>
        </p:nvSpPr>
        <p:spPr>
          <a:xfrm>
            <a:off x="620000" y="6460000"/>
            <a:ext cx="60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1050">
                <a:solidFill>
                  <a:srgbClr val="94A3B8"/>
                </a:solidFill>
              </a:rPr>
              <a:t>WBM-WDM Matching Method | match 模块</a:t>
            </a:r>
            <a:endParaRPr lang="zh-CN" sz="1050">
              <a:solidFill>
                <a:srgbClr val="94A3B8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14000">
            <a:solidFill>
              <a:srgbClr val="F8FAFC"/>
            </a:solidFill>
          </a:ln>
        </p:spPr>
        <p:txBody>
          <a:bodyPr wrap="square" lIns="90000" rIns="90000" anchor="ctr"/>
          <a:p/>
        </p:txBody>
      </p:sp>
      <p:sp>
        <p:nvSpPr>
          <p:cNvPr id="3" name="Shape 1"/>
          <p:cNvSpPr/>
          <p:nvPr/>
        </p:nvSpPr>
        <p:spPr>
          <a:xfrm>
            <a:off x="-23495" y="-31115"/>
            <a:ext cx="12238990" cy="6934200"/>
          </a:xfrm>
          <a:prstGeom prst="rect">
            <a:avLst/>
          </a:prstGeom>
          <a:solidFill>
            <a:srgbClr val="F8FAFC"/>
          </a:solidFill>
          <a:ln w="14000">
            <a:solidFill>
              <a:srgbClr val="F8FAFC"/>
            </a:solidFill>
          </a:ln>
        </p:spPr>
        <p:txBody>
          <a:bodyPr wrap="square" lIns="90000" rIns="90000" anchor="ctr"/>
          <a:p/>
        </p:txBody>
      </p:sp>
      <p:sp>
        <p:nvSpPr>
          <p:cNvPr id="10" name="Shape 10"/>
          <p:cNvSpPr/>
          <p:nvPr/>
        </p:nvSpPr>
        <p:spPr>
          <a:xfrm>
            <a:off x="900000" y="1380000"/>
            <a:ext cx="10400000" cy="430000"/>
          </a:xfrm>
          <a:prstGeom prst="roundRect">
            <a:avLst/>
          </a:prstGeom>
          <a:solidFill>
            <a:srgbClr val="DBEAFE"/>
          </a:solidFill>
          <a:ln w="14000">
            <a:solidFill>
              <a:srgbClr val="2563EB"/>
            </a:solidFill>
          </a:ln>
        </p:spPr>
        <p:txBody>
          <a:bodyPr wrap="square" lIns="90000" rIns="90000" anchor="ctr"/>
          <a:p>
            <a:pPr algn="ctr"/>
            <a:r>
              <a:rPr lang="zh-CN" altLang="en-US" sz="1450" b="1">
                <a:solidFill>
                  <a:srgbClr val="111827"/>
                </a:solidFill>
              </a:rPr>
              <a:t>方法</a:t>
            </a:r>
            <a:r>
              <a:rPr lang="en-US" altLang="zh-CN" sz="1450" b="1">
                <a:solidFill>
                  <a:srgbClr val="111827"/>
                </a:solidFill>
              </a:rPr>
              <a:t> | </a:t>
            </a:r>
            <a:r>
              <a:rPr lang="zh-CN" altLang="en-US" sz="1450" b="1">
                <a:solidFill>
                  <a:srgbClr val="111827"/>
                </a:solidFill>
              </a:rPr>
              <a:t>公式</a:t>
            </a:r>
            <a:r>
              <a:rPr lang="en-US" altLang="zh-CN" sz="1450" b="1">
                <a:solidFill>
                  <a:srgbClr val="111827"/>
                </a:solidFill>
              </a:rPr>
              <a:t> | </a:t>
            </a:r>
            <a:r>
              <a:rPr lang="zh-CN" altLang="en-US" sz="1450" b="1">
                <a:solidFill>
                  <a:srgbClr val="111827"/>
                </a:solidFill>
              </a:rPr>
              <a:t>特点</a:t>
            </a:r>
            <a:r>
              <a:rPr lang="en-US" altLang="zh-CN" sz="1450" b="1">
                <a:solidFill>
                  <a:srgbClr val="111827"/>
                </a:solidFill>
              </a:rPr>
              <a:t> </a:t>
            </a:r>
            <a:endParaRPr lang="en-US" altLang="zh-CN" sz="1450" b="1">
              <a:solidFill>
                <a:srgbClr val="111827"/>
              </a:solidFill>
            </a:endParaRPr>
          </a:p>
        </p:txBody>
      </p:sp>
      <p:sp>
        <p:nvSpPr>
          <p:cNvPr id="20" name="Shape 20"/>
          <p:cNvSpPr/>
          <p:nvPr/>
        </p:nvSpPr>
        <p:spPr>
          <a:xfrm>
            <a:off x="900000" y="1980000"/>
            <a:ext cx="2200000" cy="430000"/>
          </a:xfrm>
          <a:prstGeom prst="roundRect">
            <a:avLst/>
          </a:prstGeom>
          <a:solidFill>
            <a:srgbClr val="FFFFFF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p>
            <a:pPr algn="ctr"/>
            <a:r>
              <a:rPr lang="en-US" altLang="zh-CN" sz="1350" b="1">
                <a:solidFill>
                  <a:srgbClr val="111827"/>
                </a:solidFill>
              </a:rPr>
              <a:t>dice</a:t>
            </a:r>
            <a:endParaRPr lang="en-US" altLang="zh-CN" sz="1350" b="1">
              <a:solidFill>
                <a:srgbClr val="111827"/>
              </a:solidFill>
            </a:endParaRPr>
          </a:p>
        </p:txBody>
      </p:sp>
      <p:sp>
        <p:nvSpPr>
          <p:cNvPr id="40" name="Shape 40"/>
          <p:cNvSpPr/>
          <p:nvPr/>
        </p:nvSpPr>
        <p:spPr>
          <a:xfrm>
            <a:off x="3150000" y="1980000"/>
            <a:ext cx="3450000" cy="430000"/>
          </a:xfrm>
          <a:prstGeom prst="roundRect">
            <a:avLst/>
          </a:prstGeom>
          <a:solidFill>
            <a:srgbClr val="FFFFFF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p>
            <a:pPr algn="ctr"/>
            <a:r>
              <a:rPr lang="en-US" altLang="zh-CN" sz="1300">
                <a:solidFill>
                  <a:srgbClr val="111827"/>
                </a:solidFill>
              </a:rPr>
              <a:t>2|A∩B|/(|A|+|B|)</a:t>
            </a:r>
            <a:endParaRPr lang="en-US" altLang="zh-CN" sz="1300">
              <a:solidFill>
                <a:srgbClr val="111827"/>
              </a:solidFill>
            </a:endParaRPr>
          </a:p>
        </p:txBody>
      </p:sp>
      <p:sp>
        <p:nvSpPr>
          <p:cNvPr id="60" name="Shape 60"/>
          <p:cNvSpPr/>
          <p:nvPr/>
        </p:nvSpPr>
        <p:spPr>
          <a:xfrm>
            <a:off x="6600000" y="1980000"/>
            <a:ext cx="4700000" cy="430000"/>
          </a:xfrm>
          <a:prstGeom prst="roundRect">
            <a:avLst/>
          </a:prstGeom>
          <a:solidFill>
            <a:srgbClr val="FFFFFF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p>
            <a:pPr algn="ctr"/>
            <a:r>
              <a:rPr lang="zh-CN" altLang="en-US" sz="1300">
                <a:solidFill>
                  <a:srgbClr val="111827"/>
                </a:solidFill>
              </a:rPr>
              <a:t>二值缺陷重叠</a:t>
            </a:r>
            <a:endParaRPr lang="zh-CN" altLang="en-US" sz="1300">
              <a:solidFill>
                <a:srgbClr val="111827"/>
              </a:solidFill>
            </a:endParaRPr>
          </a:p>
        </p:txBody>
      </p:sp>
      <p:sp>
        <p:nvSpPr>
          <p:cNvPr id="21" name="Shape 21"/>
          <p:cNvSpPr/>
          <p:nvPr/>
        </p:nvSpPr>
        <p:spPr>
          <a:xfrm>
            <a:off x="900000" y="2540000"/>
            <a:ext cx="2200000" cy="430000"/>
          </a:xfrm>
          <a:prstGeom prst="roundRect">
            <a:avLst/>
          </a:prstGeom>
          <a:solidFill>
            <a:srgbClr val="F1F5F9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p>
            <a:pPr algn="ctr"/>
            <a:r>
              <a:rPr lang="en-US" altLang="zh-CN" sz="1350" b="1">
                <a:solidFill>
                  <a:srgbClr val="111827"/>
                </a:solidFill>
              </a:rPr>
              <a:t>iou</a:t>
            </a:r>
            <a:endParaRPr lang="en-US" altLang="zh-CN" sz="1350" b="1">
              <a:solidFill>
                <a:srgbClr val="111827"/>
              </a:solidFill>
            </a:endParaRPr>
          </a:p>
        </p:txBody>
      </p:sp>
      <p:sp>
        <p:nvSpPr>
          <p:cNvPr id="41" name="Shape 41"/>
          <p:cNvSpPr/>
          <p:nvPr/>
        </p:nvSpPr>
        <p:spPr>
          <a:xfrm>
            <a:off x="3150000" y="2540000"/>
            <a:ext cx="3450000" cy="430000"/>
          </a:xfrm>
          <a:prstGeom prst="roundRect">
            <a:avLst/>
          </a:prstGeom>
          <a:solidFill>
            <a:srgbClr val="F1F5F9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p>
            <a:pPr algn="ctr"/>
            <a:r>
              <a:rPr lang="en-US" altLang="zh-CN" sz="1300">
                <a:solidFill>
                  <a:srgbClr val="111827"/>
                </a:solidFill>
              </a:rPr>
              <a:t>|A∩B|/|A∪B|</a:t>
            </a:r>
            <a:endParaRPr lang="en-US" altLang="zh-CN" sz="1300">
              <a:solidFill>
                <a:srgbClr val="111827"/>
              </a:solidFill>
            </a:endParaRPr>
          </a:p>
        </p:txBody>
      </p:sp>
      <p:sp>
        <p:nvSpPr>
          <p:cNvPr id="61" name="Shape 61"/>
          <p:cNvSpPr/>
          <p:nvPr/>
        </p:nvSpPr>
        <p:spPr>
          <a:xfrm>
            <a:off x="6600000" y="2540000"/>
            <a:ext cx="4700000" cy="430000"/>
          </a:xfrm>
          <a:prstGeom prst="roundRect">
            <a:avLst/>
          </a:prstGeom>
          <a:solidFill>
            <a:srgbClr val="F1F5F9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p>
            <a:pPr algn="ctr"/>
            <a:r>
              <a:rPr lang="zh-CN" altLang="en-US" sz="1300">
                <a:solidFill>
                  <a:srgbClr val="111827"/>
                </a:solidFill>
              </a:rPr>
              <a:t>比</a:t>
            </a:r>
            <a:r>
              <a:rPr lang="en-US" altLang="zh-CN" sz="1300">
                <a:solidFill>
                  <a:srgbClr val="111827"/>
                </a:solidFill>
              </a:rPr>
              <a:t> dice </a:t>
            </a:r>
            <a:r>
              <a:rPr lang="zh-CN" altLang="en-US" sz="1300">
                <a:solidFill>
                  <a:srgbClr val="111827"/>
                </a:solidFill>
              </a:rPr>
              <a:t>更严格</a:t>
            </a:r>
            <a:r>
              <a:rPr lang="en-US" altLang="zh-CN" sz="1300">
                <a:solidFill>
                  <a:srgbClr val="111827"/>
                </a:solidFill>
              </a:rPr>
              <a:t>，</a:t>
            </a:r>
            <a:r>
              <a:rPr lang="zh-CN" altLang="en-US" sz="1300">
                <a:solidFill>
                  <a:srgbClr val="111827"/>
                </a:solidFill>
              </a:rPr>
              <a:t>对缺陷数量</a:t>
            </a:r>
            <a:r>
              <a:rPr lang="en-US" altLang="zh-CN" sz="1300">
                <a:solidFill>
                  <a:srgbClr val="111827"/>
                </a:solidFill>
              </a:rPr>
              <a:t>/</a:t>
            </a:r>
            <a:r>
              <a:rPr lang="zh-CN" altLang="en-US" sz="1300">
                <a:solidFill>
                  <a:srgbClr val="111827"/>
                </a:solidFill>
              </a:rPr>
              <a:t>面积差异敏感</a:t>
            </a:r>
            <a:endParaRPr lang="zh-CN" altLang="en-US" sz="1300">
              <a:solidFill>
                <a:srgbClr val="111827"/>
              </a:solidFill>
            </a:endParaRPr>
          </a:p>
        </p:txBody>
      </p:sp>
      <p:sp>
        <p:nvSpPr>
          <p:cNvPr id="22" name="Shape 22"/>
          <p:cNvSpPr/>
          <p:nvPr/>
        </p:nvSpPr>
        <p:spPr>
          <a:xfrm>
            <a:off x="900000" y="3100000"/>
            <a:ext cx="2200000" cy="430000"/>
          </a:xfrm>
          <a:prstGeom prst="roundRect">
            <a:avLst/>
          </a:prstGeom>
          <a:solidFill>
            <a:srgbClr val="FFFFFF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p>
            <a:pPr algn="ctr"/>
            <a:r>
              <a:rPr lang="en-US" altLang="zh-CN" sz="1350" b="1">
                <a:solidFill>
                  <a:srgbClr val="111827"/>
                </a:solidFill>
              </a:rPr>
              <a:t>cosine</a:t>
            </a:r>
            <a:endParaRPr lang="en-US" altLang="zh-CN" sz="1350" b="1">
              <a:solidFill>
                <a:srgbClr val="111827"/>
              </a:solidFill>
            </a:endParaRPr>
          </a:p>
        </p:txBody>
      </p:sp>
      <p:sp>
        <p:nvSpPr>
          <p:cNvPr id="42" name="Shape 42"/>
          <p:cNvSpPr/>
          <p:nvPr/>
        </p:nvSpPr>
        <p:spPr>
          <a:xfrm>
            <a:off x="3150000" y="3100000"/>
            <a:ext cx="3450000" cy="430000"/>
          </a:xfrm>
          <a:prstGeom prst="roundRect">
            <a:avLst/>
          </a:prstGeom>
          <a:solidFill>
            <a:srgbClr val="FFFFFF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p>
            <a:pPr algn="ctr"/>
            <a:r>
              <a:rPr lang="zh-CN" sz="1300">
                <a:solidFill>
                  <a:srgbClr val="111827"/>
                </a:solidFill>
              </a:rPr>
              <a:t>余弦相似度</a:t>
            </a:r>
            <a:r>
              <a:rPr lang="en-US" altLang="zh-CN" sz="1300">
                <a:solidFill>
                  <a:srgbClr val="111827"/>
                </a:solidFill>
              </a:rPr>
              <a:t>cos(θ) = (A · B) / (||A|| * ||B||)</a:t>
            </a:r>
            <a:endParaRPr lang="en-US" altLang="zh-CN" sz="1300">
              <a:solidFill>
                <a:srgbClr val="111827"/>
              </a:solidFill>
            </a:endParaRPr>
          </a:p>
        </p:txBody>
      </p:sp>
      <p:sp>
        <p:nvSpPr>
          <p:cNvPr id="62" name="Shape 62"/>
          <p:cNvSpPr/>
          <p:nvPr/>
        </p:nvSpPr>
        <p:spPr>
          <a:xfrm>
            <a:off x="6600000" y="3100000"/>
            <a:ext cx="4700000" cy="430000"/>
          </a:xfrm>
          <a:prstGeom prst="roundRect">
            <a:avLst/>
          </a:prstGeom>
          <a:solidFill>
            <a:srgbClr val="FFFFFF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p>
            <a:pPr algn="ctr"/>
            <a:r>
              <a:rPr lang="zh-CN" sz="1300">
                <a:solidFill>
                  <a:srgbClr val="111827"/>
                </a:solidFill>
              </a:rPr>
              <a:t>适合比较整体空间质量分布</a:t>
            </a:r>
            <a:r>
              <a:rPr lang="en-US" altLang="zh-CN" sz="1300">
                <a:solidFill>
                  <a:srgbClr val="111827"/>
                </a:solidFill>
              </a:rPr>
              <a:t>,</a:t>
            </a:r>
            <a:r>
              <a:rPr lang="zh-CN" altLang="en-US" sz="1300">
                <a:solidFill>
                  <a:srgbClr val="111827"/>
                </a:solidFill>
              </a:rPr>
              <a:t>关注缺陷分布比例而非绝对数量的场景；可容忍整体强度缩放</a:t>
            </a:r>
            <a:endParaRPr lang="zh-CN" altLang="en-US" sz="1300">
              <a:solidFill>
                <a:srgbClr val="111827"/>
              </a:solidFill>
            </a:endParaRPr>
          </a:p>
        </p:txBody>
      </p:sp>
      <p:sp>
        <p:nvSpPr>
          <p:cNvPr id="23" name="Shape 23"/>
          <p:cNvSpPr/>
          <p:nvPr/>
        </p:nvSpPr>
        <p:spPr>
          <a:xfrm>
            <a:off x="900000" y="3660000"/>
            <a:ext cx="2200000" cy="430000"/>
          </a:xfrm>
          <a:prstGeom prst="roundRect">
            <a:avLst/>
          </a:prstGeom>
          <a:solidFill>
            <a:srgbClr val="F1F5F9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p>
            <a:pPr algn="ctr"/>
            <a:r>
              <a:rPr lang="en-US" altLang="zh-CN" sz="1350" b="1">
                <a:solidFill>
                  <a:srgbClr val="111827"/>
                </a:solidFill>
              </a:rPr>
              <a:t>coverage</a:t>
            </a:r>
            <a:endParaRPr lang="en-US" altLang="zh-CN" sz="1350" b="1">
              <a:solidFill>
                <a:srgbClr val="111827"/>
              </a:solidFill>
            </a:endParaRPr>
          </a:p>
        </p:txBody>
      </p:sp>
      <p:sp>
        <p:nvSpPr>
          <p:cNvPr id="43" name="Shape 43"/>
          <p:cNvSpPr/>
          <p:nvPr/>
        </p:nvSpPr>
        <p:spPr>
          <a:xfrm>
            <a:off x="3150000" y="3660000"/>
            <a:ext cx="3450000" cy="430000"/>
          </a:xfrm>
          <a:prstGeom prst="roundRect">
            <a:avLst/>
          </a:prstGeom>
          <a:solidFill>
            <a:srgbClr val="F1F5F9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p>
            <a:pPr algn="ctr"/>
            <a:r>
              <a:rPr lang="en-US" altLang="zh-CN" sz="1300">
                <a:solidFill>
                  <a:srgbClr val="111827"/>
                </a:solidFill>
              </a:rPr>
              <a:t> |A ∩ B| / |A|</a:t>
            </a:r>
            <a:r>
              <a:rPr lang="en-US" altLang="zh-CN" sz="1300">
                <a:solidFill>
                  <a:srgbClr val="111827"/>
                </a:solidFill>
                <a:sym typeface="+mn-ea"/>
              </a:rPr>
              <a:t>WBM </a:t>
            </a:r>
            <a:r>
              <a:rPr lang="zh-CN" altLang="en-US" sz="1300">
                <a:solidFill>
                  <a:srgbClr val="111827"/>
                </a:solidFill>
                <a:sym typeface="+mn-ea"/>
              </a:rPr>
              <a:t>缺陷被</a:t>
            </a:r>
            <a:r>
              <a:rPr lang="en-US" altLang="zh-CN" sz="1300">
                <a:solidFill>
                  <a:srgbClr val="111827"/>
                </a:solidFill>
                <a:sym typeface="+mn-ea"/>
              </a:rPr>
              <a:t> WDM </a:t>
            </a:r>
            <a:r>
              <a:rPr lang="zh-CN" altLang="en-US" sz="1300">
                <a:solidFill>
                  <a:srgbClr val="111827"/>
                </a:solidFill>
                <a:sym typeface="+mn-ea"/>
              </a:rPr>
              <a:t>覆盖的比例</a:t>
            </a:r>
            <a:endParaRPr lang="en-US" altLang="zh-CN" sz="1300">
              <a:solidFill>
                <a:srgbClr val="111827"/>
              </a:solidFill>
            </a:endParaRPr>
          </a:p>
        </p:txBody>
      </p:sp>
      <p:sp>
        <p:nvSpPr>
          <p:cNvPr id="63" name="Shape 63"/>
          <p:cNvSpPr/>
          <p:nvPr/>
        </p:nvSpPr>
        <p:spPr>
          <a:xfrm>
            <a:off x="6600000" y="3660000"/>
            <a:ext cx="4700000" cy="430000"/>
          </a:xfrm>
          <a:prstGeom prst="roundRect">
            <a:avLst/>
          </a:prstGeom>
          <a:solidFill>
            <a:srgbClr val="F1F5F9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p>
            <a:pPr algn="ctr"/>
            <a:r>
              <a:rPr lang="zh-CN" altLang="en-US" sz="1300">
                <a:solidFill>
                  <a:srgbClr val="111827"/>
                </a:solidFill>
              </a:rPr>
              <a:t>核心正向指标</a:t>
            </a:r>
            <a:r>
              <a:rPr lang="en-US" altLang="zh-CN" sz="1300">
                <a:solidFill>
                  <a:srgbClr val="111827"/>
                </a:solidFill>
              </a:rPr>
              <a:t>：</a:t>
            </a:r>
            <a:r>
              <a:rPr lang="zh-CN" altLang="en-US" sz="1300">
                <a:solidFill>
                  <a:srgbClr val="111827"/>
                </a:solidFill>
              </a:rPr>
              <a:t>只看</a:t>
            </a:r>
            <a:r>
              <a:rPr lang="en-US" altLang="zh-CN" sz="1300">
                <a:solidFill>
                  <a:srgbClr val="111827"/>
                </a:solidFill>
              </a:rPr>
              <a:t> reference </a:t>
            </a:r>
            <a:r>
              <a:rPr lang="zh-CN" altLang="en-US" sz="1300">
                <a:solidFill>
                  <a:srgbClr val="111827"/>
                </a:solidFill>
              </a:rPr>
              <a:t>被覆盖了多少，不关心</a:t>
            </a:r>
            <a:r>
              <a:rPr lang="en-US" altLang="zh-CN" sz="1300">
                <a:solidFill>
                  <a:srgbClr val="111827"/>
                </a:solidFill>
              </a:rPr>
              <a:t> candidate </a:t>
            </a:r>
            <a:r>
              <a:rPr lang="zh-CN" altLang="en-US" sz="1300">
                <a:solidFill>
                  <a:srgbClr val="111827"/>
                </a:solidFill>
              </a:rPr>
              <a:t>多出来的部分</a:t>
            </a:r>
            <a:endParaRPr lang="zh-CN" altLang="en-US" sz="1300">
              <a:solidFill>
                <a:srgbClr val="111827"/>
              </a:solidFill>
            </a:endParaRPr>
          </a:p>
        </p:txBody>
      </p:sp>
      <p:sp>
        <p:nvSpPr>
          <p:cNvPr id="24" name="Shape 24"/>
          <p:cNvSpPr/>
          <p:nvPr/>
        </p:nvSpPr>
        <p:spPr>
          <a:xfrm>
            <a:off x="900000" y="4220000"/>
            <a:ext cx="2200000" cy="430000"/>
          </a:xfrm>
          <a:prstGeom prst="roundRect">
            <a:avLst/>
          </a:prstGeom>
          <a:solidFill>
            <a:srgbClr val="FFFFFF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p>
            <a:pPr algn="ctr"/>
            <a:r>
              <a:rPr lang="en-US" altLang="zh-CN" sz="1350" b="1">
                <a:solidFill>
                  <a:srgbClr val="111827"/>
                </a:solidFill>
              </a:rPr>
              <a:t>leakage</a:t>
            </a:r>
            <a:endParaRPr lang="en-US" altLang="zh-CN" sz="1350" b="1">
              <a:solidFill>
                <a:srgbClr val="111827"/>
              </a:solidFill>
            </a:endParaRPr>
          </a:p>
        </p:txBody>
      </p:sp>
      <p:sp>
        <p:nvSpPr>
          <p:cNvPr id="44" name="Shape 44"/>
          <p:cNvSpPr/>
          <p:nvPr/>
        </p:nvSpPr>
        <p:spPr>
          <a:xfrm>
            <a:off x="3150000" y="4220000"/>
            <a:ext cx="3450000" cy="430000"/>
          </a:xfrm>
          <a:prstGeom prst="roundRect">
            <a:avLst/>
          </a:prstGeom>
          <a:solidFill>
            <a:srgbClr val="FFFFFF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p>
            <a:pPr algn="ctr"/>
            <a:r>
              <a:rPr lang="en-US" altLang="zh-CN" sz="1300">
                <a:solidFill>
                  <a:srgbClr val="111827"/>
                </a:solidFill>
              </a:rPr>
              <a:t> (|B| - |A ∩ B|) / |B|</a:t>
            </a:r>
            <a:r>
              <a:rPr lang="en-US" altLang="zh-CN" sz="1300">
                <a:solidFill>
                  <a:srgbClr val="111827"/>
                </a:solidFill>
                <a:sym typeface="+mn-ea"/>
              </a:rPr>
              <a:t>WDM </a:t>
            </a:r>
            <a:r>
              <a:rPr lang="zh-CN" altLang="en-US" sz="1300">
                <a:solidFill>
                  <a:srgbClr val="111827"/>
                </a:solidFill>
                <a:sym typeface="+mn-ea"/>
              </a:rPr>
              <a:t>缺陷在</a:t>
            </a:r>
            <a:r>
              <a:rPr lang="en-US" altLang="zh-CN" sz="1300">
                <a:solidFill>
                  <a:srgbClr val="111827"/>
                </a:solidFill>
                <a:sym typeface="+mn-ea"/>
              </a:rPr>
              <a:t> WBM </a:t>
            </a:r>
            <a:r>
              <a:rPr lang="zh-CN" altLang="en-US" sz="1300">
                <a:solidFill>
                  <a:srgbClr val="111827"/>
                </a:solidFill>
                <a:sym typeface="+mn-ea"/>
              </a:rPr>
              <a:t>无缺陷区的比例</a:t>
            </a:r>
            <a:r>
              <a:rPr lang="en-US" altLang="zh-CN" sz="1300">
                <a:solidFill>
                  <a:srgbClr val="111827"/>
                </a:solidFill>
              </a:rPr>
              <a:t> </a:t>
            </a:r>
            <a:endParaRPr lang="en-US" altLang="zh-CN" sz="1300">
              <a:solidFill>
                <a:srgbClr val="111827"/>
              </a:solidFill>
            </a:endParaRPr>
          </a:p>
        </p:txBody>
      </p:sp>
      <p:sp>
        <p:nvSpPr>
          <p:cNvPr id="64" name="Shape 64"/>
          <p:cNvSpPr/>
          <p:nvPr/>
        </p:nvSpPr>
        <p:spPr>
          <a:xfrm>
            <a:off x="6600000" y="4220000"/>
            <a:ext cx="4700000" cy="430000"/>
          </a:xfrm>
          <a:prstGeom prst="roundRect">
            <a:avLst/>
          </a:prstGeom>
          <a:solidFill>
            <a:srgbClr val="FFFFFF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p>
            <a:pPr algn="ctr"/>
            <a:r>
              <a:rPr lang="zh-CN" altLang="en-US" sz="1300">
                <a:solidFill>
                  <a:srgbClr val="111827"/>
                </a:solidFill>
              </a:rPr>
              <a:t>核心负向指标</a:t>
            </a:r>
            <a:r>
              <a:rPr lang="en-US" altLang="zh-CN" sz="1300">
                <a:solidFill>
                  <a:srgbClr val="111827"/>
                </a:solidFill>
              </a:rPr>
              <a:t>：</a:t>
            </a:r>
            <a:r>
              <a:rPr lang="zh-CN" altLang="en-US" sz="1300">
                <a:solidFill>
                  <a:srgbClr val="111827"/>
                </a:solidFill>
              </a:rPr>
              <a:t>只看</a:t>
            </a:r>
            <a:r>
              <a:rPr lang="en-US" altLang="zh-CN" sz="1300">
                <a:solidFill>
                  <a:srgbClr val="111827"/>
                </a:solidFill>
              </a:rPr>
              <a:t> candidate </a:t>
            </a:r>
            <a:r>
              <a:rPr lang="zh-CN" altLang="en-US" sz="1300">
                <a:solidFill>
                  <a:srgbClr val="111827"/>
                </a:solidFill>
              </a:rPr>
              <a:t>多报了多少，不关心</a:t>
            </a:r>
            <a:r>
              <a:rPr lang="en-US" altLang="zh-CN" sz="1300">
                <a:solidFill>
                  <a:srgbClr val="111827"/>
                </a:solidFill>
              </a:rPr>
              <a:t> reference </a:t>
            </a:r>
            <a:r>
              <a:rPr lang="zh-CN" altLang="en-US" sz="1300">
                <a:solidFill>
                  <a:srgbClr val="111827"/>
                </a:solidFill>
              </a:rPr>
              <a:t>是否被覆盖</a:t>
            </a:r>
            <a:endParaRPr lang="zh-CN" altLang="en-US" sz="1300">
              <a:solidFill>
                <a:srgbClr val="111827"/>
              </a:solidFill>
            </a:endParaRPr>
          </a:p>
        </p:txBody>
      </p:sp>
      <p:sp>
        <p:nvSpPr>
          <p:cNvPr id="25" name="Shape 25"/>
          <p:cNvSpPr/>
          <p:nvPr/>
        </p:nvSpPr>
        <p:spPr>
          <a:xfrm>
            <a:off x="900000" y="4780000"/>
            <a:ext cx="2200000" cy="430000"/>
          </a:xfrm>
          <a:prstGeom prst="roundRect">
            <a:avLst/>
          </a:prstGeom>
          <a:solidFill>
            <a:srgbClr val="F1F5F9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p>
            <a:pPr algn="ctr"/>
            <a:r>
              <a:rPr lang="en-US" altLang="zh-CN" sz="1350" b="1">
                <a:solidFill>
                  <a:srgbClr val="111827"/>
                </a:solidFill>
              </a:rPr>
              <a:t>chamfer</a:t>
            </a:r>
            <a:endParaRPr lang="en-US" altLang="zh-CN" sz="1350" b="1">
              <a:solidFill>
                <a:srgbClr val="111827"/>
              </a:solidFill>
            </a:endParaRPr>
          </a:p>
        </p:txBody>
      </p:sp>
      <p:sp>
        <p:nvSpPr>
          <p:cNvPr id="45" name="Shape 45"/>
          <p:cNvSpPr/>
          <p:nvPr/>
        </p:nvSpPr>
        <p:spPr>
          <a:xfrm>
            <a:off x="3150000" y="4780000"/>
            <a:ext cx="3450000" cy="430000"/>
          </a:xfrm>
          <a:prstGeom prst="roundRect">
            <a:avLst/>
          </a:prstGeom>
          <a:solidFill>
            <a:srgbClr val="F1F5F9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p>
            <a:pPr algn="ctr"/>
            <a:r>
              <a:rPr lang="zh-CN" altLang="en-US" sz="1300">
                <a:solidFill>
                  <a:srgbClr val="111827"/>
                </a:solidFill>
              </a:rPr>
              <a:t>点集倒角距离</a:t>
            </a:r>
            <a:endParaRPr lang="zh-CN" altLang="en-US" sz="1300">
              <a:solidFill>
                <a:srgbClr val="111827"/>
              </a:solidFill>
            </a:endParaRPr>
          </a:p>
        </p:txBody>
      </p:sp>
      <p:sp>
        <p:nvSpPr>
          <p:cNvPr id="65" name="Shape 65"/>
          <p:cNvSpPr/>
          <p:nvPr/>
        </p:nvSpPr>
        <p:spPr>
          <a:xfrm>
            <a:off x="6600000" y="4780000"/>
            <a:ext cx="4700000" cy="430000"/>
          </a:xfrm>
          <a:prstGeom prst="roundRect">
            <a:avLst/>
          </a:prstGeom>
          <a:solidFill>
            <a:srgbClr val="F1F5F9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p>
            <a:pPr algn="ctr"/>
            <a:r>
              <a:rPr lang="zh-CN" altLang="en-US" sz="1300">
                <a:solidFill>
                  <a:srgbClr val="111827"/>
                </a:solidFill>
              </a:rPr>
              <a:t>距离越近</a:t>
            </a:r>
            <a:r>
              <a:rPr lang="en-US" altLang="zh-CN" sz="1300">
                <a:solidFill>
                  <a:srgbClr val="111827"/>
                </a:solidFill>
              </a:rPr>
              <a:t>≈</a:t>
            </a:r>
            <a:r>
              <a:rPr lang="zh-CN" altLang="en-US" sz="1300">
                <a:solidFill>
                  <a:srgbClr val="111827"/>
                </a:solidFill>
              </a:rPr>
              <a:t>匹配越好</a:t>
            </a:r>
            <a:r>
              <a:rPr lang="en-US" altLang="zh-CN" sz="1300">
                <a:solidFill>
                  <a:srgbClr val="111827"/>
                </a:solidFill>
              </a:rPr>
              <a:t>；</a:t>
            </a:r>
            <a:r>
              <a:rPr lang="zh-CN" altLang="en-US" sz="1300">
                <a:solidFill>
                  <a:srgbClr val="111827"/>
                </a:solidFill>
              </a:rPr>
              <a:t>基于几何距离而非像素重叠，因此对小幅平移有一定的鲁棒性</a:t>
            </a:r>
            <a:endParaRPr lang="zh-CN" altLang="en-US" sz="1300">
              <a:solidFill>
                <a:srgbClr val="111827"/>
              </a:solidFill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620000" y="300000"/>
            <a:ext cx="9200000" cy="5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p>
            <a:pPr algn="l"/>
            <a:r>
              <a:rPr lang="en-US" altLang="zh-CN" sz="3000" b="1">
                <a:solidFill>
                  <a:srgbClr val="111827"/>
                </a:solidFill>
              </a:rPr>
              <a:t>6</a:t>
            </a:r>
            <a:r>
              <a:rPr lang="zh-CN" sz="3000" b="1">
                <a:solidFill>
                  <a:srgbClr val="111827"/>
                </a:solidFill>
              </a:rPr>
              <a:t>. Similarity 分数：</a:t>
            </a:r>
            <a:endParaRPr lang="zh-CN" sz="3000" b="1">
              <a:solidFill>
                <a:srgbClr val="111827"/>
              </a:solidFill>
            </a:endParaRPr>
          </a:p>
        </p:txBody>
      </p:sp>
      <p:sp>
        <p:nvSpPr>
          <p:cNvPr id="5" name="Shape 24"/>
          <p:cNvSpPr/>
          <p:nvPr/>
        </p:nvSpPr>
        <p:spPr>
          <a:xfrm>
            <a:off x="900000" y="5300770"/>
            <a:ext cx="2200000" cy="430000"/>
          </a:xfrm>
          <a:prstGeom prst="roundRect">
            <a:avLst/>
          </a:prstGeom>
          <a:solidFill>
            <a:srgbClr val="FFFFFF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p>
            <a:pPr algn="ctr"/>
            <a:r>
              <a:rPr lang="en-US" altLang="zh-CN" sz="1350" b="1">
                <a:solidFill>
                  <a:srgbClr val="111827"/>
                </a:solidFill>
              </a:rPr>
              <a:t>ncc</a:t>
            </a:r>
            <a:endParaRPr lang="en-US" altLang="zh-CN" sz="1350" b="1">
              <a:solidFill>
                <a:srgbClr val="111827"/>
              </a:solidFill>
            </a:endParaRPr>
          </a:p>
        </p:txBody>
      </p:sp>
      <p:sp>
        <p:nvSpPr>
          <p:cNvPr id="6" name="Shape 44"/>
          <p:cNvSpPr/>
          <p:nvPr/>
        </p:nvSpPr>
        <p:spPr>
          <a:xfrm>
            <a:off x="3150000" y="5300770"/>
            <a:ext cx="3450000" cy="430000"/>
          </a:xfrm>
          <a:prstGeom prst="roundRect">
            <a:avLst/>
          </a:prstGeom>
          <a:solidFill>
            <a:srgbClr val="FFFFFF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p>
            <a:pPr algn="ctr"/>
            <a:r>
              <a:rPr lang="zh-CN" altLang="en-US" sz="1300">
                <a:solidFill>
                  <a:srgbClr val="111827"/>
                </a:solidFill>
              </a:rPr>
              <a:t>减去各自均值后计算余弦相似度</a:t>
            </a:r>
            <a:endParaRPr lang="zh-CN" altLang="en-US" sz="1300">
              <a:solidFill>
                <a:srgbClr val="111827"/>
              </a:solidFill>
            </a:endParaRPr>
          </a:p>
        </p:txBody>
      </p:sp>
      <p:sp>
        <p:nvSpPr>
          <p:cNvPr id="7" name="Shape 64"/>
          <p:cNvSpPr/>
          <p:nvPr/>
        </p:nvSpPr>
        <p:spPr>
          <a:xfrm>
            <a:off x="6600000" y="5300770"/>
            <a:ext cx="4700000" cy="430000"/>
          </a:xfrm>
          <a:prstGeom prst="roundRect">
            <a:avLst/>
          </a:prstGeom>
          <a:solidFill>
            <a:srgbClr val="FFFFFF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p>
            <a:pPr algn="ctr"/>
            <a:r>
              <a:rPr lang="zh-CN" altLang="en-US" sz="1300">
                <a:solidFill>
                  <a:srgbClr val="111827"/>
                </a:solidFill>
              </a:rPr>
              <a:t>衡量的是</a:t>
            </a:r>
            <a:r>
              <a:rPr lang="en-US" altLang="zh-CN" sz="1300">
                <a:solidFill>
                  <a:srgbClr val="111827"/>
                </a:solidFill>
              </a:rPr>
              <a:t>"</a:t>
            </a:r>
            <a:r>
              <a:rPr lang="zh-CN" altLang="en-US" sz="1300">
                <a:solidFill>
                  <a:srgbClr val="111827"/>
                </a:solidFill>
              </a:rPr>
              <a:t>缺陷分布模式</a:t>
            </a:r>
            <a:r>
              <a:rPr lang="en-US" altLang="zh-CN" sz="1300">
                <a:solidFill>
                  <a:srgbClr val="111827"/>
                </a:solidFill>
              </a:rPr>
              <a:t>"</a:t>
            </a:r>
            <a:r>
              <a:rPr lang="zh-CN" altLang="en-US" sz="1300">
                <a:solidFill>
                  <a:srgbClr val="111827"/>
                </a:solidFill>
              </a:rPr>
              <a:t>的线性相关性，而非像素级重叠</a:t>
            </a:r>
            <a:endParaRPr lang="zh-CN" altLang="en-US" sz="1300">
              <a:solidFill>
                <a:srgbClr val="111827"/>
              </a:solidFill>
            </a:endParaRPr>
          </a:p>
        </p:txBody>
      </p:sp>
      <p:sp>
        <p:nvSpPr>
          <p:cNvPr id="8" name="Shape 25"/>
          <p:cNvSpPr/>
          <p:nvPr/>
        </p:nvSpPr>
        <p:spPr>
          <a:xfrm>
            <a:off x="900000" y="5821400"/>
            <a:ext cx="2200000" cy="430000"/>
          </a:xfrm>
          <a:prstGeom prst="roundRect">
            <a:avLst/>
          </a:prstGeom>
          <a:solidFill>
            <a:srgbClr val="F1F5F9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p>
            <a:pPr algn="ctr"/>
            <a:r>
              <a:rPr lang="en-US" altLang="zh-CN" sz="1350" b="1">
                <a:solidFill>
                  <a:srgbClr val="111827"/>
                </a:solidFill>
              </a:rPr>
              <a:t>Coverage-Leakage</a:t>
            </a:r>
            <a:endParaRPr lang="en-US" altLang="zh-CN" sz="1350" b="1">
              <a:solidFill>
                <a:srgbClr val="111827"/>
              </a:solidFill>
            </a:endParaRPr>
          </a:p>
        </p:txBody>
      </p:sp>
      <p:sp>
        <p:nvSpPr>
          <p:cNvPr id="9" name="Shape 45"/>
          <p:cNvSpPr/>
          <p:nvPr/>
        </p:nvSpPr>
        <p:spPr>
          <a:xfrm>
            <a:off x="3150000" y="5821400"/>
            <a:ext cx="3450000" cy="430000"/>
          </a:xfrm>
          <a:prstGeom prst="roundRect">
            <a:avLst/>
          </a:prstGeom>
          <a:solidFill>
            <a:srgbClr val="F1F5F9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p>
            <a:pPr algn="ctr"/>
            <a:r>
              <a:rPr lang="en-US" altLang="zh-CN" sz="1300">
                <a:solidFill>
                  <a:srgbClr val="111827"/>
                </a:solidFill>
              </a:rPr>
              <a:t> score = Coverage - beta * Leakage</a:t>
            </a:r>
            <a:endParaRPr lang="en-US" altLang="zh-CN" sz="1300">
              <a:solidFill>
                <a:srgbClr val="111827"/>
              </a:solidFill>
            </a:endParaRPr>
          </a:p>
        </p:txBody>
      </p:sp>
      <p:sp>
        <p:nvSpPr>
          <p:cNvPr id="11" name="Shape 65"/>
          <p:cNvSpPr/>
          <p:nvPr/>
        </p:nvSpPr>
        <p:spPr>
          <a:xfrm>
            <a:off x="6600000" y="5821400"/>
            <a:ext cx="4700000" cy="430000"/>
          </a:xfrm>
          <a:prstGeom prst="roundRect">
            <a:avLst/>
          </a:prstGeom>
          <a:solidFill>
            <a:srgbClr val="F1F5F9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p>
            <a:pPr algn="ctr"/>
            <a:r>
              <a:rPr lang="en-US" altLang="zh-CN" sz="1300">
                <a:solidFill>
                  <a:srgbClr val="111827"/>
                </a:solidFill>
              </a:rPr>
              <a:t> </a:t>
            </a:r>
            <a:r>
              <a:rPr lang="zh-CN" altLang="en-US" sz="1300">
                <a:solidFill>
                  <a:srgbClr val="111827"/>
                </a:solidFill>
              </a:rPr>
              <a:t>将</a:t>
            </a:r>
            <a:r>
              <a:rPr lang="en-US" altLang="zh-CN" sz="1300">
                <a:solidFill>
                  <a:srgbClr val="111827"/>
                </a:solidFill>
              </a:rPr>
              <a:t>"</a:t>
            </a:r>
            <a:r>
              <a:rPr lang="zh-CN" altLang="en-US" sz="1300">
                <a:solidFill>
                  <a:srgbClr val="111827"/>
                </a:solidFill>
              </a:rPr>
              <a:t>找回真实缺陷</a:t>
            </a:r>
            <a:r>
              <a:rPr lang="en-US" altLang="zh-CN" sz="1300">
                <a:solidFill>
                  <a:srgbClr val="111827"/>
                </a:solidFill>
              </a:rPr>
              <a:t>"</a:t>
            </a:r>
            <a:r>
              <a:rPr lang="zh-CN" altLang="en-US" sz="1300">
                <a:solidFill>
                  <a:srgbClr val="111827"/>
                </a:solidFill>
              </a:rPr>
              <a:t>与</a:t>
            </a:r>
            <a:r>
              <a:rPr lang="en-US" altLang="zh-CN" sz="1300">
                <a:solidFill>
                  <a:srgbClr val="111827"/>
                </a:solidFill>
              </a:rPr>
              <a:t>"</a:t>
            </a:r>
            <a:r>
              <a:rPr lang="zh-CN" altLang="en-US" sz="1300">
                <a:solidFill>
                  <a:srgbClr val="111827"/>
                </a:solidFill>
              </a:rPr>
              <a:t>惩罚多报缺陷</a:t>
            </a:r>
            <a:r>
              <a:rPr lang="en-US" altLang="zh-CN" sz="1300">
                <a:solidFill>
                  <a:srgbClr val="111827"/>
                </a:solidFill>
              </a:rPr>
              <a:t>"</a:t>
            </a:r>
            <a:r>
              <a:rPr lang="zh-CN" altLang="en-US" sz="1300">
                <a:solidFill>
                  <a:srgbClr val="111827"/>
                </a:solidFill>
              </a:rPr>
              <a:t>合成单一分数</a:t>
            </a:r>
            <a:endParaRPr lang="zh-CN" altLang="en-US" sz="13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111827"/>
      </a:dk1>
      <a:lt1>
        <a:srgbClr val="FFFFFF"/>
      </a:lt1>
      <a:dk2>
        <a:srgbClr val="334155"/>
      </a:dk2>
      <a:lt2>
        <a:srgbClr val="F8FAFC"/>
      </a:lt2>
      <a:accent1>
        <a:srgbClr val="2563EB"/>
      </a:accent1>
      <a:accent2>
        <a:srgbClr val="059669"/>
      </a:accent2>
      <a:accent3>
        <a:srgbClr val="EA580C"/>
      </a:accent3>
      <a:accent4>
        <a:srgbClr val="7C3AED"/>
      </a:accent4>
      <a:accent5>
        <a:srgbClr val="DC2626"/>
      </a:accent5>
      <a:accent6>
        <a:srgbClr val="0891B2"/>
      </a:accent6>
      <a:hlink>
        <a:srgbClr val="2563EB"/>
      </a:hlink>
      <a:folHlink>
        <a:srgbClr val="FFFFFF"/>
      </a:folHlink>
    </a:clrScheme>
    <a:fontScheme name="Office">
      <a:majorFont>
        <a:latin typeface="Arial"/>
        <a:ea typeface="Microsoft YaHei"/>
        <a:cs typeface="Arial"/>
      </a:majorFont>
      <a:minorFont>
        <a:latin typeface="Arial"/>
        <a:ea typeface="Microsoft YaHei"/>
        <a:cs typeface="Arial"/>
      </a:minorFont>
    </a:fontScheme>
    <a:fmtScheme name="Office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  <a:ln/>
        <a:ln/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2101</Words>
  <Application>WPS 演示</Application>
  <PresentationFormat>On-screen Show (16:9)</PresentationFormat>
  <Paragraphs>273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21" baseType="lpstr">
      <vt:lpstr>Arial</vt:lpstr>
      <vt:lpstr>宋体</vt:lpstr>
      <vt:lpstr>Wingdings</vt:lpstr>
      <vt:lpstr>微软雅黑</vt:lpstr>
      <vt:lpstr>汉仪旗黑</vt:lpstr>
      <vt:lpstr>微软雅黑</vt:lpstr>
      <vt:lpstr>宋体</vt:lpstr>
      <vt:lpstr>Arial Unicode MS</vt:lpstr>
      <vt:lpstr>Calibri</vt:lpstr>
      <vt:lpstr>Helvetica Neue</vt:lpstr>
      <vt:lpstr>汉仪书宋二KW</vt:lpstr>
      <vt:lpstr>微软雅黑</vt:lpstr>
      <vt:lpstr>宋体-简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WBM-WDM Matching Method</dc:title>
  <dc:creator>OpenCode</dc:creator>
  <cp:lastModifiedBy>Kay</cp:lastModifiedBy>
  <cp:revision>14</cp:revision>
  <dcterms:created xsi:type="dcterms:W3CDTF">2026-06-16T15:16:46Z</dcterms:created>
  <dcterms:modified xsi:type="dcterms:W3CDTF">2026-06-16T15:16:46Z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ACDA4BB7E807E7CAFEB32F6AB163F381_42</vt:lpwstr>
  </property>
  <property fmtid="{D5CDD505-2E9C-101B-9397-08002B2CF9AE}" pid="3" name="KSOProductBuildVer">
    <vt:lpwstr>2052-7.2.2.8955</vt:lpwstr>
  </property>
</Properties>
</file>